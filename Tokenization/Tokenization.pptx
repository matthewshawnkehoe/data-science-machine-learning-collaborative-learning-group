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92" r:id="rId3"/>
    <p:sldId id="294" r:id="rId4"/>
    <p:sldId id="300" r:id="rId5"/>
    <p:sldId id="295" r:id="rId6"/>
    <p:sldId id="296" r:id="rId7"/>
    <p:sldId id="291" r:id="rId8"/>
    <p:sldId id="262" r:id="rId9"/>
    <p:sldId id="259" r:id="rId10"/>
    <p:sldId id="260" r:id="rId11"/>
    <p:sldId id="264" r:id="rId12"/>
    <p:sldId id="265" r:id="rId13"/>
    <p:sldId id="266" r:id="rId14"/>
    <p:sldId id="267" r:id="rId15"/>
    <p:sldId id="268" r:id="rId16"/>
    <p:sldId id="269" r:id="rId17"/>
    <p:sldId id="270" r:id="rId18"/>
    <p:sldId id="271" r:id="rId19"/>
    <p:sldId id="272" r:id="rId20"/>
    <p:sldId id="273" r:id="rId21"/>
    <p:sldId id="274" r:id="rId22"/>
    <p:sldId id="301" r:id="rId23"/>
    <p:sldId id="290" r:id="rId24"/>
    <p:sldId id="275" r:id="rId25"/>
    <p:sldId id="283" r:id="rId26"/>
    <p:sldId id="297" r:id="rId27"/>
    <p:sldId id="298" r:id="rId28"/>
    <p:sldId id="299" r:id="rId29"/>
    <p:sldId id="287" r:id="rId30"/>
    <p:sldId id="288" r:id="rId31"/>
    <p:sldId id="289" r:id="rId32"/>
    <p:sldId id="302" r:id="rId33"/>
    <p:sldId id="279" r:id="rId34"/>
  </p:sldIdLst>
  <p:sldSz cx="10058400" cy="7772400"/>
  <p:notesSz cx="10058400" cy="77724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818D049-C708-88EE-13F7-875EC59EA4F4}" v="664" dt="2026-04-24T04:25:07.726"/>
    <p1510:client id="{835F4739-20F2-42BC-8F23-507AD5BE01A2}" v="264" dt="2026-04-23T21:32:46.934"/>
    <p1510:client id="{9EC88A69-AE64-49CF-AA75-8CE9EFCDD712}" v="1589" dt="2026-04-23T02:47:49.659"/>
  </p1510:revLst>
</p1510:revInfo>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2880"/>
        <p:guide pos="2160"/>
      </p:guideLst>
    </p:cSldViewPr>
  </p:slide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microsoft.com/office/2016/11/relationships/changesInfo" Target="changesInfos/changesInfo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40"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tthew Kehoe" userId="55089ead05f38090" providerId="Windows Live" clId="Web-{0818D049-C708-88EE-13F7-875EC59EA4F4}"/>
    <pc:docChg chg="modSld sldOrd">
      <pc:chgData name="Matthew Kehoe" userId="55089ead05f38090" providerId="Windows Live" clId="Web-{0818D049-C708-88EE-13F7-875EC59EA4F4}" dt="2026-04-24T04:25:06.648" v="355" actId="20577"/>
      <pc:docMkLst>
        <pc:docMk/>
      </pc:docMkLst>
      <pc:sldChg chg="modSp">
        <pc:chgData name="Matthew Kehoe" userId="55089ead05f38090" providerId="Windows Live" clId="Web-{0818D049-C708-88EE-13F7-875EC59EA4F4}" dt="2026-04-24T02:37:26.463" v="155" actId="20577"/>
        <pc:sldMkLst>
          <pc:docMk/>
          <pc:sldMk cId="0" sldId="259"/>
        </pc:sldMkLst>
        <pc:spChg chg="mod">
          <ac:chgData name="Matthew Kehoe" userId="55089ead05f38090" providerId="Windows Live" clId="Web-{0818D049-C708-88EE-13F7-875EC59EA4F4}" dt="2026-04-24T02:37:26.463" v="155" actId="20577"/>
          <ac:spMkLst>
            <pc:docMk/>
            <pc:sldMk cId="0" sldId="259"/>
            <ac:spMk id="2" creationId="{00000000-0000-0000-0000-000000000000}"/>
          </ac:spMkLst>
        </pc:spChg>
      </pc:sldChg>
      <pc:sldChg chg="modSp">
        <pc:chgData name="Matthew Kehoe" userId="55089ead05f38090" providerId="Windows Live" clId="Web-{0818D049-C708-88EE-13F7-875EC59EA4F4}" dt="2026-04-24T02:35:07.009" v="152" actId="20577"/>
        <pc:sldMkLst>
          <pc:docMk/>
          <pc:sldMk cId="0" sldId="260"/>
        </pc:sldMkLst>
        <pc:spChg chg="mod">
          <ac:chgData name="Matthew Kehoe" userId="55089ead05f38090" providerId="Windows Live" clId="Web-{0818D049-C708-88EE-13F7-875EC59EA4F4}" dt="2026-04-24T02:35:07.009" v="152" actId="20577"/>
          <ac:spMkLst>
            <pc:docMk/>
            <pc:sldMk cId="0" sldId="260"/>
            <ac:spMk id="3" creationId="{00000000-0000-0000-0000-000000000000}"/>
          </ac:spMkLst>
        </pc:spChg>
      </pc:sldChg>
      <pc:sldChg chg="modSp">
        <pc:chgData name="Matthew Kehoe" userId="55089ead05f38090" providerId="Windows Live" clId="Web-{0818D049-C708-88EE-13F7-875EC59EA4F4}" dt="2026-04-24T02:30:04.102" v="122" actId="20577"/>
        <pc:sldMkLst>
          <pc:docMk/>
          <pc:sldMk cId="0" sldId="262"/>
        </pc:sldMkLst>
        <pc:spChg chg="mod">
          <ac:chgData name="Matthew Kehoe" userId="55089ead05f38090" providerId="Windows Live" clId="Web-{0818D049-C708-88EE-13F7-875EC59EA4F4}" dt="2026-04-24T02:30:04.102" v="122" actId="20577"/>
          <ac:spMkLst>
            <pc:docMk/>
            <pc:sldMk cId="0" sldId="262"/>
            <ac:spMk id="2" creationId="{00000000-0000-0000-0000-000000000000}"/>
          </ac:spMkLst>
        </pc:spChg>
      </pc:sldChg>
      <pc:sldChg chg="modSp">
        <pc:chgData name="Matthew Kehoe" userId="55089ead05f38090" providerId="Windows Live" clId="Web-{0818D049-C708-88EE-13F7-875EC59EA4F4}" dt="2026-04-24T02:39:38.151" v="163" actId="20577"/>
        <pc:sldMkLst>
          <pc:docMk/>
          <pc:sldMk cId="0" sldId="264"/>
        </pc:sldMkLst>
        <pc:spChg chg="mod">
          <ac:chgData name="Matthew Kehoe" userId="55089ead05f38090" providerId="Windows Live" clId="Web-{0818D049-C708-88EE-13F7-875EC59EA4F4}" dt="2026-04-24T02:39:38.151" v="163" actId="20577"/>
          <ac:spMkLst>
            <pc:docMk/>
            <pc:sldMk cId="0" sldId="264"/>
            <ac:spMk id="2" creationId="{00000000-0000-0000-0000-000000000000}"/>
          </ac:spMkLst>
        </pc:spChg>
      </pc:sldChg>
      <pc:sldChg chg="modSp">
        <pc:chgData name="Matthew Kehoe" userId="55089ead05f38090" providerId="Windows Live" clId="Web-{0818D049-C708-88EE-13F7-875EC59EA4F4}" dt="2026-04-24T02:47:04.861" v="168" actId="20577"/>
        <pc:sldMkLst>
          <pc:docMk/>
          <pc:sldMk cId="0" sldId="275"/>
        </pc:sldMkLst>
        <pc:spChg chg="mod">
          <ac:chgData name="Matthew Kehoe" userId="55089ead05f38090" providerId="Windows Live" clId="Web-{0818D049-C708-88EE-13F7-875EC59EA4F4}" dt="2026-04-24T02:47:04.861" v="168" actId="20577"/>
          <ac:spMkLst>
            <pc:docMk/>
            <pc:sldMk cId="0" sldId="275"/>
            <ac:spMk id="7" creationId="{E5B4B668-F8CE-9E76-345E-4D9392157523}"/>
          </ac:spMkLst>
        </pc:spChg>
      </pc:sldChg>
      <pc:sldChg chg="modSp">
        <pc:chgData name="Matthew Kehoe" userId="55089ead05f38090" providerId="Windows Live" clId="Web-{0818D049-C708-88EE-13F7-875EC59EA4F4}" dt="2026-04-24T04:25:06.648" v="355" actId="20577"/>
        <pc:sldMkLst>
          <pc:docMk/>
          <pc:sldMk cId="0" sldId="279"/>
        </pc:sldMkLst>
        <pc:spChg chg="mod">
          <ac:chgData name="Matthew Kehoe" userId="55089ead05f38090" providerId="Windows Live" clId="Web-{0818D049-C708-88EE-13F7-875EC59EA4F4}" dt="2026-04-24T04:25:06.648" v="355" actId="20577"/>
          <ac:spMkLst>
            <pc:docMk/>
            <pc:sldMk cId="0" sldId="279"/>
            <ac:spMk id="2" creationId="{00000000-0000-0000-0000-000000000000}"/>
          </ac:spMkLst>
        </pc:spChg>
        <pc:spChg chg="mod">
          <ac:chgData name="Matthew Kehoe" userId="55089ead05f38090" providerId="Windows Live" clId="Web-{0818D049-C708-88EE-13F7-875EC59EA4F4}" dt="2026-04-24T04:18:41.125" v="171" actId="20577"/>
          <ac:spMkLst>
            <pc:docMk/>
            <pc:sldMk cId="0" sldId="279"/>
            <ac:spMk id="3" creationId="{00000000-0000-0000-0000-000000000000}"/>
          </ac:spMkLst>
        </pc:spChg>
      </pc:sldChg>
      <pc:sldChg chg="modSp">
        <pc:chgData name="Matthew Kehoe" userId="55089ead05f38090" providerId="Windows Live" clId="Web-{0818D049-C708-88EE-13F7-875EC59EA4F4}" dt="2026-04-24T02:28:16.273" v="102" actId="20577"/>
        <pc:sldMkLst>
          <pc:docMk/>
          <pc:sldMk cId="0" sldId="291"/>
        </pc:sldMkLst>
        <pc:spChg chg="mod">
          <ac:chgData name="Matthew Kehoe" userId="55089ead05f38090" providerId="Windows Live" clId="Web-{0818D049-C708-88EE-13F7-875EC59EA4F4}" dt="2026-04-24T02:27:30.163" v="98" actId="20577"/>
          <ac:spMkLst>
            <pc:docMk/>
            <pc:sldMk cId="0" sldId="291"/>
            <ac:spMk id="24" creationId="{00000000-0000-0000-0000-000000000000}"/>
          </ac:spMkLst>
        </pc:spChg>
        <pc:spChg chg="mod">
          <ac:chgData name="Matthew Kehoe" userId="55089ead05f38090" providerId="Windows Live" clId="Web-{0818D049-C708-88EE-13F7-875EC59EA4F4}" dt="2026-04-24T02:27:56.975" v="100" actId="20577"/>
          <ac:spMkLst>
            <pc:docMk/>
            <pc:sldMk cId="0" sldId="291"/>
            <ac:spMk id="25" creationId="{00000000-0000-0000-0000-000000000000}"/>
          </ac:spMkLst>
        </pc:spChg>
        <pc:spChg chg="mod">
          <ac:chgData name="Matthew Kehoe" userId="55089ead05f38090" providerId="Windows Live" clId="Web-{0818D049-C708-88EE-13F7-875EC59EA4F4}" dt="2026-04-24T02:28:16.273" v="102" actId="20577"/>
          <ac:spMkLst>
            <pc:docMk/>
            <pc:sldMk cId="0" sldId="291"/>
            <ac:spMk id="26" creationId="{00000000-0000-0000-0000-000000000000}"/>
          </ac:spMkLst>
        </pc:spChg>
      </pc:sldChg>
      <pc:sldChg chg="modSp">
        <pc:chgData name="Matthew Kehoe" userId="55089ead05f38090" providerId="Windows Live" clId="Web-{0818D049-C708-88EE-13F7-875EC59EA4F4}" dt="2026-04-24T02:18:45.297" v="51" actId="20577"/>
        <pc:sldMkLst>
          <pc:docMk/>
          <pc:sldMk cId="955012614" sldId="292"/>
        </pc:sldMkLst>
        <pc:spChg chg="mod">
          <ac:chgData name="Matthew Kehoe" userId="55089ead05f38090" providerId="Windows Live" clId="Web-{0818D049-C708-88EE-13F7-875EC59EA4F4}" dt="2026-04-24T02:18:45.297" v="51" actId="20577"/>
          <ac:spMkLst>
            <pc:docMk/>
            <pc:sldMk cId="955012614" sldId="292"/>
            <ac:spMk id="8" creationId="{B02E0451-10DB-B909-B4F9-79BADA6E606D}"/>
          </ac:spMkLst>
        </pc:spChg>
      </pc:sldChg>
      <pc:sldChg chg="modSp">
        <pc:chgData name="Matthew Kehoe" userId="55089ead05f38090" providerId="Windows Live" clId="Web-{0818D049-C708-88EE-13F7-875EC59EA4F4}" dt="2026-04-24T02:19:16.500" v="55" actId="20577"/>
        <pc:sldMkLst>
          <pc:docMk/>
          <pc:sldMk cId="2844135272" sldId="295"/>
        </pc:sldMkLst>
        <pc:spChg chg="mod">
          <ac:chgData name="Matthew Kehoe" userId="55089ead05f38090" providerId="Windows Live" clId="Web-{0818D049-C708-88EE-13F7-875EC59EA4F4}" dt="2026-04-24T02:19:16.500" v="55" actId="20577"/>
          <ac:spMkLst>
            <pc:docMk/>
            <pc:sldMk cId="2844135272" sldId="295"/>
            <ac:spMk id="2" creationId="{B0D5C221-107F-D236-FBD5-CC234E08D3E4}"/>
          </ac:spMkLst>
        </pc:spChg>
      </pc:sldChg>
      <pc:sldChg chg="modSp">
        <pc:chgData name="Matthew Kehoe" userId="55089ead05f38090" providerId="Windows Live" clId="Web-{0818D049-C708-88EE-13F7-875EC59EA4F4}" dt="2026-04-24T02:26:01.302" v="94" actId="20577"/>
        <pc:sldMkLst>
          <pc:docMk/>
          <pc:sldMk cId="3811428020" sldId="296"/>
        </pc:sldMkLst>
        <pc:spChg chg="mod">
          <ac:chgData name="Matthew Kehoe" userId="55089ead05f38090" providerId="Windows Live" clId="Web-{0818D049-C708-88EE-13F7-875EC59EA4F4}" dt="2026-04-24T02:26:01.302" v="94" actId="20577"/>
          <ac:spMkLst>
            <pc:docMk/>
            <pc:sldMk cId="3811428020" sldId="296"/>
            <ac:spMk id="2" creationId="{0347BA1F-5C46-54C2-9742-73473B504801}"/>
          </ac:spMkLst>
        </pc:spChg>
      </pc:sldChg>
      <pc:sldChg chg="ord">
        <pc:chgData name="Matthew Kehoe" userId="55089ead05f38090" providerId="Windows Live" clId="Web-{0818D049-C708-88EE-13F7-875EC59EA4F4}" dt="2026-04-24T04:18:24.390" v="169"/>
        <pc:sldMkLst>
          <pc:docMk/>
          <pc:sldMk cId="1513341387" sldId="301"/>
        </pc:sldMkLst>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754380" y="2409444"/>
            <a:ext cx="8549640" cy="1632204"/>
          </a:xfrm>
          <a:prstGeom prst="rect">
            <a:avLst/>
          </a:prstGeom>
        </p:spPr>
        <p:txBody>
          <a:bodyPr wrap="square" lIns="0" tIns="0" rIns="0" bIns="0">
            <a:spAutoFit/>
          </a:bodyPr>
          <a:lstStyle>
            <a:lvl1pPr>
              <a:defRPr sz="4600" b="1" i="0">
                <a:solidFill>
                  <a:schemeClr val="tx1"/>
                </a:solidFill>
                <a:latin typeface="Arial"/>
                <a:cs typeface="Arial"/>
              </a:defRPr>
            </a:lvl1pPr>
          </a:lstStyle>
          <a:p>
            <a:endParaRPr/>
          </a:p>
        </p:txBody>
      </p:sp>
      <p:sp>
        <p:nvSpPr>
          <p:cNvPr id="3" name="Holder 3"/>
          <p:cNvSpPr>
            <a:spLocks noGrp="1"/>
          </p:cNvSpPr>
          <p:nvPr>
            <p:ph type="subTitle" idx="4"/>
          </p:nvPr>
        </p:nvSpPr>
        <p:spPr>
          <a:xfrm>
            <a:off x="1508760" y="4352544"/>
            <a:ext cx="7040880" cy="1943100"/>
          </a:xfrm>
          <a:prstGeom prst="rect">
            <a:avLst/>
          </a:prstGeom>
        </p:spPr>
        <p:txBody>
          <a:bodyPr wrap="square" lIns="0" tIns="0" rIns="0" bIns="0">
            <a:spAutoFit/>
          </a:bodyPr>
          <a:lstStyle>
            <a:lvl1pPr>
              <a:defRPr sz="1750" b="0" i="0">
                <a:solidFill>
                  <a:schemeClr val="tx1"/>
                </a:solidFill>
                <a:latin typeface="Arial"/>
                <a:cs typeface="Aria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4/23/2026</a:t>
            </a:fld>
            <a:endParaRPr lang="en-US"/>
          </a:p>
        </p:txBody>
      </p:sp>
      <p:sp>
        <p:nvSpPr>
          <p:cNvPr id="6" name="Holder 6"/>
          <p:cNvSpPr>
            <a:spLocks noGrp="1"/>
          </p:cNvSpPr>
          <p:nvPr>
            <p:ph type="sldNum" sz="quarter" idx="7"/>
          </p:nvPr>
        </p:nvSpPr>
        <p:spPr/>
        <p:txBody>
          <a:bodyPr lIns="0" tIns="0" rIns="0" bIns="0"/>
          <a:lstStyle>
            <a:lvl1pPr>
              <a:defRPr sz="1000" b="0" i="0">
                <a:solidFill>
                  <a:schemeClr val="tx1"/>
                </a:solidFill>
                <a:latin typeface="Arial"/>
                <a:cs typeface="Arial"/>
              </a:defRPr>
            </a:lvl1pPr>
          </a:lstStyle>
          <a:p>
            <a:pPr marL="76200">
              <a:lnSpc>
                <a:spcPct val="100000"/>
              </a:lnSpc>
              <a:spcBef>
                <a:spcPts val="55"/>
              </a:spcBef>
            </a:pPr>
            <a:fld id="{81D60167-4931-47E6-BA6A-407CBD079E47}" type="slidenum">
              <a:rPr spc="-50" dirty="0"/>
              <a:t>‹#›</a:t>
            </a:fld>
            <a:endParaRPr spc="-5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600" b="1" i="0">
                <a:solidFill>
                  <a:schemeClr val="tx1"/>
                </a:solidFill>
                <a:latin typeface="Arial"/>
                <a:cs typeface="Arial"/>
              </a:defRPr>
            </a:lvl1pPr>
          </a:lstStyle>
          <a:p>
            <a:endParaRPr/>
          </a:p>
        </p:txBody>
      </p:sp>
      <p:sp>
        <p:nvSpPr>
          <p:cNvPr id="3" name="Holder 3"/>
          <p:cNvSpPr>
            <a:spLocks noGrp="1"/>
          </p:cNvSpPr>
          <p:nvPr>
            <p:ph type="body" idx="1"/>
          </p:nvPr>
        </p:nvSpPr>
        <p:spPr/>
        <p:txBody>
          <a:bodyPr lIns="0" tIns="0" rIns="0" bIns="0"/>
          <a:lstStyle>
            <a:lvl1pPr>
              <a:defRPr sz="1750" b="0" i="0">
                <a:solidFill>
                  <a:schemeClr val="tx1"/>
                </a:solidFill>
                <a:latin typeface="Arial"/>
                <a:cs typeface="Aria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4/23/2026</a:t>
            </a:fld>
            <a:endParaRPr lang="en-US"/>
          </a:p>
        </p:txBody>
      </p:sp>
      <p:sp>
        <p:nvSpPr>
          <p:cNvPr id="6" name="Holder 6"/>
          <p:cNvSpPr>
            <a:spLocks noGrp="1"/>
          </p:cNvSpPr>
          <p:nvPr>
            <p:ph type="sldNum" sz="quarter" idx="7"/>
          </p:nvPr>
        </p:nvSpPr>
        <p:spPr/>
        <p:txBody>
          <a:bodyPr lIns="0" tIns="0" rIns="0" bIns="0"/>
          <a:lstStyle>
            <a:lvl1pPr>
              <a:defRPr sz="1000" b="0" i="0">
                <a:solidFill>
                  <a:schemeClr val="tx1"/>
                </a:solidFill>
                <a:latin typeface="Arial"/>
                <a:cs typeface="Arial"/>
              </a:defRPr>
            </a:lvl1pPr>
          </a:lstStyle>
          <a:p>
            <a:pPr marL="76200">
              <a:lnSpc>
                <a:spcPct val="100000"/>
              </a:lnSpc>
              <a:spcBef>
                <a:spcPts val="55"/>
              </a:spcBef>
            </a:pPr>
            <a:fld id="{81D60167-4931-47E6-BA6A-407CBD079E47}" type="slidenum">
              <a:rPr spc="-50" dirty="0"/>
              <a:t>‹#›</a:t>
            </a:fld>
            <a:endParaRPr spc="-5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600" b="1" i="0">
                <a:solidFill>
                  <a:schemeClr val="tx1"/>
                </a:solidFill>
                <a:latin typeface="Arial"/>
                <a:cs typeface="Arial"/>
              </a:defRPr>
            </a:lvl1pPr>
          </a:lstStyle>
          <a:p>
            <a:endParaRPr/>
          </a:p>
        </p:txBody>
      </p:sp>
      <p:sp>
        <p:nvSpPr>
          <p:cNvPr id="3" name="Holder 3"/>
          <p:cNvSpPr>
            <a:spLocks noGrp="1"/>
          </p:cNvSpPr>
          <p:nvPr>
            <p:ph sz="half" idx="2"/>
          </p:nvPr>
        </p:nvSpPr>
        <p:spPr>
          <a:xfrm>
            <a:off x="566836" y="2416754"/>
            <a:ext cx="4409440" cy="4070350"/>
          </a:xfrm>
          <a:prstGeom prst="rect">
            <a:avLst/>
          </a:prstGeom>
        </p:spPr>
        <p:txBody>
          <a:bodyPr wrap="square" lIns="0" tIns="0" rIns="0" bIns="0">
            <a:spAutoFit/>
          </a:bodyPr>
          <a:lstStyle>
            <a:lvl1pPr>
              <a:defRPr sz="1750" b="0" i="0">
                <a:solidFill>
                  <a:schemeClr val="tx1"/>
                </a:solidFill>
                <a:latin typeface="Arial"/>
                <a:cs typeface="Arial"/>
              </a:defRPr>
            </a:lvl1pPr>
          </a:lstStyle>
          <a:p>
            <a:endParaRPr/>
          </a:p>
        </p:txBody>
      </p:sp>
      <p:sp>
        <p:nvSpPr>
          <p:cNvPr id="4" name="Holder 4"/>
          <p:cNvSpPr>
            <a:spLocks noGrp="1"/>
          </p:cNvSpPr>
          <p:nvPr>
            <p:ph sz="half" idx="3"/>
          </p:nvPr>
        </p:nvSpPr>
        <p:spPr>
          <a:xfrm>
            <a:off x="5180076" y="1787652"/>
            <a:ext cx="4375404" cy="5129784"/>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4/23/2026</a:t>
            </a:fld>
            <a:endParaRPr lang="en-US"/>
          </a:p>
        </p:txBody>
      </p:sp>
      <p:sp>
        <p:nvSpPr>
          <p:cNvPr id="7" name="Holder 7"/>
          <p:cNvSpPr>
            <a:spLocks noGrp="1"/>
          </p:cNvSpPr>
          <p:nvPr>
            <p:ph type="sldNum" sz="quarter" idx="7"/>
          </p:nvPr>
        </p:nvSpPr>
        <p:spPr/>
        <p:txBody>
          <a:bodyPr lIns="0" tIns="0" rIns="0" bIns="0"/>
          <a:lstStyle>
            <a:lvl1pPr>
              <a:defRPr sz="1000" b="0" i="0">
                <a:solidFill>
                  <a:schemeClr val="tx1"/>
                </a:solidFill>
                <a:latin typeface="Arial"/>
                <a:cs typeface="Arial"/>
              </a:defRPr>
            </a:lvl1pPr>
          </a:lstStyle>
          <a:p>
            <a:pPr marL="76200">
              <a:lnSpc>
                <a:spcPct val="100000"/>
              </a:lnSpc>
              <a:spcBef>
                <a:spcPts val="55"/>
              </a:spcBef>
            </a:pPr>
            <a:fld id="{81D60167-4931-47E6-BA6A-407CBD079E47}" type="slidenum">
              <a:rPr spc="-50" dirty="0"/>
              <a:t>‹#›</a:t>
            </a:fld>
            <a:endParaRPr spc="-5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600" b="1" i="0">
                <a:solidFill>
                  <a:schemeClr val="tx1"/>
                </a:solidFill>
                <a:latin typeface="Arial"/>
                <a:cs typeface="Arial"/>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4/23/2026</a:t>
            </a:fld>
            <a:endParaRPr lang="en-US"/>
          </a:p>
        </p:txBody>
      </p:sp>
      <p:sp>
        <p:nvSpPr>
          <p:cNvPr id="5" name="Holder 5"/>
          <p:cNvSpPr>
            <a:spLocks noGrp="1"/>
          </p:cNvSpPr>
          <p:nvPr>
            <p:ph type="sldNum" sz="quarter" idx="7"/>
          </p:nvPr>
        </p:nvSpPr>
        <p:spPr/>
        <p:txBody>
          <a:bodyPr lIns="0" tIns="0" rIns="0" bIns="0"/>
          <a:lstStyle>
            <a:lvl1pPr>
              <a:defRPr sz="1000" b="0" i="0">
                <a:solidFill>
                  <a:schemeClr val="tx1"/>
                </a:solidFill>
                <a:latin typeface="Arial"/>
                <a:cs typeface="Arial"/>
              </a:defRPr>
            </a:lvl1pPr>
          </a:lstStyle>
          <a:p>
            <a:pPr marL="76200">
              <a:lnSpc>
                <a:spcPct val="100000"/>
              </a:lnSpc>
              <a:spcBef>
                <a:spcPts val="55"/>
              </a:spcBef>
            </a:pPr>
            <a:fld id="{81D60167-4931-47E6-BA6A-407CBD079E47}" type="slidenum">
              <a:rPr spc="-50" dirty="0"/>
              <a:t>‹#›</a:t>
            </a:fld>
            <a:endParaRPr spc="-5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4/23/2026</a:t>
            </a:fld>
            <a:endParaRPr lang="en-US"/>
          </a:p>
        </p:txBody>
      </p:sp>
      <p:sp>
        <p:nvSpPr>
          <p:cNvPr id="4" name="Holder 4"/>
          <p:cNvSpPr>
            <a:spLocks noGrp="1"/>
          </p:cNvSpPr>
          <p:nvPr>
            <p:ph type="sldNum" sz="quarter" idx="7"/>
          </p:nvPr>
        </p:nvSpPr>
        <p:spPr/>
        <p:txBody>
          <a:bodyPr lIns="0" tIns="0" rIns="0" bIns="0"/>
          <a:lstStyle>
            <a:lvl1pPr>
              <a:defRPr sz="1000" b="0" i="0">
                <a:solidFill>
                  <a:schemeClr val="tx1"/>
                </a:solidFill>
                <a:latin typeface="Arial"/>
                <a:cs typeface="Arial"/>
              </a:defRPr>
            </a:lvl1pPr>
          </a:lstStyle>
          <a:p>
            <a:pPr marL="76200">
              <a:lnSpc>
                <a:spcPct val="100000"/>
              </a:lnSpc>
              <a:spcBef>
                <a:spcPts val="55"/>
              </a:spcBef>
            </a:pPr>
            <a:fld id="{81D60167-4931-47E6-BA6A-407CBD079E47}" type="slidenum">
              <a:rPr spc="-50" dirty="0"/>
              <a:t>‹#›</a:t>
            </a:fld>
            <a:endParaRPr spc="-5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566836" y="395062"/>
            <a:ext cx="8842375" cy="1299210"/>
          </a:xfrm>
          <a:prstGeom prst="rect">
            <a:avLst/>
          </a:prstGeom>
        </p:spPr>
        <p:txBody>
          <a:bodyPr wrap="square" lIns="0" tIns="0" rIns="0" bIns="0">
            <a:spAutoFit/>
          </a:bodyPr>
          <a:lstStyle>
            <a:lvl1pPr>
              <a:defRPr sz="4600" b="1" i="0">
                <a:solidFill>
                  <a:schemeClr val="tx1"/>
                </a:solidFill>
                <a:latin typeface="Arial"/>
                <a:cs typeface="Arial"/>
              </a:defRPr>
            </a:lvl1pPr>
          </a:lstStyle>
          <a:p>
            <a:endParaRPr/>
          </a:p>
        </p:txBody>
      </p:sp>
      <p:sp>
        <p:nvSpPr>
          <p:cNvPr id="3" name="Holder 3"/>
          <p:cNvSpPr>
            <a:spLocks noGrp="1"/>
          </p:cNvSpPr>
          <p:nvPr>
            <p:ph type="body" idx="1"/>
          </p:nvPr>
        </p:nvSpPr>
        <p:spPr>
          <a:xfrm>
            <a:off x="566836" y="2416754"/>
            <a:ext cx="4156075" cy="1825625"/>
          </a:xfrm>
          <a:prstGeom prst="rect">
            <a:avLst/>
          </a:prstGeom>
        </p:spPr>
        <p:txBody>
          <a:bodyPr wrap="square" lIns="0" tIns="0" rIns="0" bIns="0">
            <a:spAutoFit/>
          </a:bodyPr>
          <a:lstStyle>
            <a:lvl1pPr>
              <a:defRPr sz="1750" b="0" i="0">
                <a:solidFill>
                  <a:schemeClr val="tx1"/>
                </a:solidFill>
                <a:latin typeface="Arial"/>
                <a:cs typeface="Arial"/>
              </a:defRPr>
            </a:lvl1pPr>
          </a:lstStyle>
          <a:p>
            <a:endParaRPr/>
          </a:p>
        </p:txBody>
      </p:sp>
      <p:sp>
        <p:nvSpPr>
          <p:cNvPr id="4" name="Holder 4"/>
          <p:cNvSpPr>
            <a:spLocks noGrp="1"/>
          </p:cNvSpPr>
          <p:nvPr>
            <p:ph type="ftr" sz="quarter" idx="5"/>
          </p:nvPr>
        </p:nvSpPr>
        <p:spPr>
          <a:xfrm>
            <a:off x="3419856" y="7228332"/>
            <a:ext cx="3218688" cy="38862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502920" y="7228332"/>
            <a:ext cx="2313432" cy="38862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4/23/2026</a:t>
            </a:fld>
            <a:endParaRPr lang="en-US"/>
          </a:p>
        </p:txBody>
      </p:sp>
      <p:sp>
        <p:nvSpPr>
          <p:cNvPr id="6" name="Holder 6"/>
          <p:cNvSpPr>
            <a:spLocks noGrp="1"/>
          </p:cNvSpPr>
          <p:nvPr>
            <p:ph type="sldNum" sz="quarter" idx="7"/>
          </p:nvPr>
        </p:nvSpPr>
        <p:spPr>
          <a:xfrm>
            <a:off x="4917482" y="7267139"/>
            <a:ext cx="231139" cy="174625"/>
          </a:xfrm>
          <a:prstGeom prst="rect">
            <a:avLst/>
          </a:prstGeom>
        </p:spPr>
        <p:txBody>
          <a:bodyPr wrap="square" lIns="0" tIns="0" rIns="0" bIns="0">
            <a:spAutoFit/>
          </a:bodyPr>
          <a:lstStyle>
            <a:lvl1pPr>
              <a:defRPr sz="1000" b="0" i="0">
                <a:solidFill>
                  <a:schemeClr val="tx1"/>
                </a:solidFill>
                <a:latin typeface="Arial"/>
                <a:cs typeface="Arial"/>
              </a:defRPr>
            </a:lvl1pPr>
          </a:lstStyle>
          <a:p>
            <a:pPr marL="76200">
              <a:lnSpc>
                <a:spcPct val="100000"/>
              </a:lnSpc>
              <a:spcBef>
                <a:spcPts val="55"/>
              </a:spcBef>
            </a:pPr>
            <a:fld id="{81D60167-4931-47E6-BA6A-407CBD079E47}" type="slidenum">
              <a:rPr spc="-50" dirty="0"/>
              <a:t>‹#›</a:t>
            </a:fld>
            <a:endParaRPr spc="-5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hyperlink" Target="mailto:bhaddow@inf.ed.ac.uk" TargetMode="External"/><Relationship Id="rId1" Type="http://schemas.openxmlformats.org/officeDocument/2006/relationships/slideLayout" Target="../slideLayouts/slideLayout3.xml"/><Relationship Id="rId4" Type="http://schemas.openxmlformats.org/officeDocument/2006/relationships/image" Target="../media/image4.png"/></Relationships>
</file>

<file path=ppt/slides/_rels/slide13.xml.rels><?xml version="1.0" encoding="UTF-8" standalone="yes"?>
<Relationships xmlns="http://schemas.openxmlformats.org/package/2006/relationships"><Relationship Id="rId2" Type="http://schemas.openxmlformats.org/officeDocument/2006/relationships/hyperlink" Target="https://huggingface.co/docs/transformers/tokenizer_summary" TargetMode="Externa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hyperlink" Target="https://huggingface.co/docs/transformers/tokenizer_summary" TargetMode="Externa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hyperlink" Target="https://huggingface.co/docs/transformers/tokenizer_summary" TargetMode="Externa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hyperlink" Target="https://huggingface.co/docs/transformers/tokenizer_summary" TargetMode="Externa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hyperlink" Target="https://huggingface.co/docs/transformers/tokenizer_summary" TargetMode="Externa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hyperlink" Target="https://huggingface.co/docs/transformers/tokenizer_summary" TargetMode="Externa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hyperlink" Target="https://huggingface.co/docs/transformers/tokenizer_summary" TargetMode="Externa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hyperlink" Target="https://huggingface.co/docs/transformers/tokenizer_summary" TargetMode="Externa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hyperlink" Target="https://huggingface.co/docs/transformers/tokenizer_summary" TargetMode="Externa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hyperlink" Target="https://huggingface.co/docs/transformers/tokenizer_summary" TargetMode="Externa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hyperlink" Target="https://huggingface.co/docs" TargetMode="External"/><Relationship Id="rId2" Type="http://schemas.openxmlformats.org/officeDocument/2006/relationships/hyperlink" Target="https://huggingface.co/" TargetMode="External"/><Relationship Id="rId1" Type="http://schemas.openxmlformats.org/officeDocument/2006/relationships/slideLayout" Target="../slideLayouts/slideLayout2.xml"/><Relationship Id="rId4" Type="http://schemas.openxmlformats.org/officeDocument/2006/relationships/hyperlink" Target="https://platform.openai.com/tokenizer" TargetMode="Externa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566836" y="6548676"/>
            <a:ext cx="6611170" cy="580865"/>
          </a:xfrm>
          <a:prstGeom prst="rect">
            <a:avLst/>
          </a:prstGeom>
        </p:spPr>
        <p:txBody>
          <a:bodyPr vert="horz" wrap="square" lIns="0" tIns="10795" rIns="0" bIns="0" rtlCol="0" anchor="t">
            <a:spAutoFit/>
          </a:bodyPr>
          <a:lstStyle/>
          <a:p>
            <a:pPr marL="12700" marR="5080">
              <a:lnSpc>
                <a:spcPct val="101000"/>
              </a:lnSpc>
              <a:spcBef>
                <a:spcPts val="85"/>
              </a:spcBef>
            </a:pPr>
            <a:r>
              <a:rPr lang="en-US" sz="1850" b="1">
                <a:latin typeface="Arial"/>
                <a:cs typeface="Arial"/>
              </a:rPr>
              <a:t>From Text to Tokens: How Language Models Read</a:t>
            </a:r>
            <a:endParaRPr lang="en-US" sz="1850" b="1">
              <a:solidFill>
                <a:srgbClr val="000000"/>
              </a:solidFill>
              <a:latin typeface="Arial"/>
              <a:cs typeface="Arial"/>
            </a:endParaRPr>
          </a:p>
          <a:p>
            <a:pPr marL="12700" marR="5080">
              <a:lnSpc>
                <a:spcPct val="101000"/>
              </a:lnSpc>
              <a:spcBef>
                <a:spcPts val="85"/>
              </a:spcBef>
            </a:pPr>
            <a:r>
              <a:rPr lang="en-US" sz="1850" b="1" spc="-35">
                <a:latin typeface="Arial"/>
                <a:cs typeface="Arial"/>
              </a:rPr>
              <a:t>Matthew Kehoe, April 2026 </a:t>
            </a:r>
            <a:endParaRPr sz="1850" b="1" spc="-20">
              <a:latin typeface="Arial"/>
              <a:cs typeface="Arial"/>
            </a:endParaRPr>
          </a:p>
        </p:txBody>
      </p:sp>
      <p:sp>
        <p:nvSpPr>
          <p:cNvPr id="3" name="object 3" descr="$PPTXTitle"/>
          <p:cNvSpPr txBox="1">
            <a:spLocks noGrp="1"/>
          </p:cNvSpPr>
          <p:nvPr>
            <p:ph type="title"/>
          </p:nvPr>
        </p:nvSpPr>
        <p:spPr>
          <a:xfrm>
            <a:off x="566836" y="2972575"/>
            <a:ext cx="6249645" cy="1083630"/>
          </a:xfrm>
          <a:prstGeom prst="rect">
            <a:avLst/>
          </a:prstGeom>
        </p:spPr>
        <p:txBody>
          <a:bodyPr vert="horz" wrap="square" lIns="0" tIns="105410" rIns="0" bIns="0" rtlCol="0" anchor="t">
            <a:spAutoFit/>
          </a:bodyPr>
          <a:lstStyle/>
          <a:p>
            <a:pPr marL="12700">
              <a:lnSpc>
                <a:spcPct val="100000"/>
              </a:lnSpc>
              <a:spcBef>
                <a:spcPts val="830"/>
              </a:spcBef>
            </a:pPr>
            <a:r>
              <a:rPr lang="en-US" sz="6350"/>
              <a:t>Tokenization</a:t>
            </a:r>
          </a:p>
        </p:txBody>
      </p:sp>
      <p:sp>
        <p:nvSpPr>
          <p:cNvPr id="4" name="object 4"/>
          <p:cNvSpPr txBox="1">
            <a:spLocks noGrp="1"/>
          </p:cNvSpPr>
          <p:nvPr>
            <p:ph type="sldNum" sz="quarter" idx="7"/>
          </p:nvPr>
        </p:nvSpPr>
        <p:spPr>
          <a:prstGeom prst="rect">
            <a:avLst/>
          </a:prstGeom>
        </p:spPr>
        <p:txBody>
          <a:bodyPr vert="horz" wrap="square" lIns="0" tIns="6985" rIns="0" bIns="0" rtlCol="0">
            <a:spAutoFit/>
          </a:bodyPr>
          <a:lstStyle/>
          <a:p>
            <a:pPr marL="76200">
              <a:lnSpc>
                <a:spcPct val="100000"/>
              </a:lnSpc>
              <a:spcBef>
                <a:spcPts val="55"/>
              </a:spcBef>
            </a:pPr>
            <a:fld id="{81D60167-4931-47E6-BA6A-407CBD079E47}" type="slidenum">
              <a:rPr spc="-50" dirty="0"/>
              <a:t>1</a:t>
            </a:fld>
            <a:endParaRPr spc="-5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txBox="1">
            <a:spLocks noGrp="1"/>
          </p:cNvSpPr>
          <p:nvPr>
            <p:ph type="sldNum" sz="quarter" idx="7"/>
          </p:nvPr>
        </p:nvSpPr>
        <p:spPr>
          <a:prstGeom prst="rect">
            <a:avLst/>
          </a:prstGeom>
        </p:spPr>
        <p:txBody>
          <a:bodyPr vert="horz" wrap="square" lIns="0" tIns="6985" rIns="0" bIns="0" rtlCol="0">
            <a:spAutoFit/>
          </a:bodyPr>
          <a:lstStyle/>
          <a:p>
            <a:pPr marL="76200">
              <a:lnSpc>
                <a:spcPct val="100000"/>
              </a:lnSpc>
              <a:spcBef>
                <a:spcPts val="55"/>
              </a:spcBef>
            </a:pPr>
            <a:fld id="{81D60167-4931-47E6-BA6A-407CBD079E47}" type="slidenum">
              <a:rPr spc="-50" dirty="0"/>
              <a:t>2</a:t>
            </a:fld>
            <a:endParaRPr spc="-50"/>
          </a:p>
        </p:txBody>
      </p:sp>
      <p:sp>
        <p:nvSpPr>
          <p:cNvPr id="3" name="object 3" descr="$PPTXTitle"/>
          <p:cNvSpPr txBox="1">
            <a:spLocks noGrp="1"/>
          </p:cNvSpPr>
          <p:nvPr>
            <p:ph type="title"/>
          </p:nvPr>
        </p:nvSpPr>
        <p:spPr>
          <a:xfrm>
            <a:off x="566836" y="395062"/>
            <a:ext cx="8842375" cy="1505102"/>
          </a:xfrm>
          <a:prstGeom prst="rect">
            <a:avLst/>
          </a:prstGeom>
        </p:spPr>
        <p:txBody>
          <a:bodyPr vert="horz" wrap="square" lIns="0" tIns="88466" rIns="0" bIns="0" rtlCol="0" anchor="t">
            <a:spAutoFit/>
          </a:bodyPr>
          <a:lstStyle/>
          <a:p>
            <a:pPr marL="12700">
              <a:spcBef>
                <a:spcPts val="95"/>
              </a:spcBef>
            </a:pPr>
            <a:r>
              <a:rPr spc="-610"/>
              <a:t>T</a:t>
            </a:r>
            <a:r>
              <a:rPr spc="-95"/>
              <a:t>o</a:t>
            </a:r>
            <a:r>
              <a:rPr spc="-90"/>
              <a:t>ke</a:t>
            </a:r>
            <a:r>
              <a:rPr spc="-95"/>
              <a:t>n</a:t>
            </a:r>
            <a:r>
              <a:rPr spc="-100"/>
              <a:t>i</a:t>
            </a:r>
            <a:r>
              <a:rPr spc="-90"/>
              <a:t>zat</a:t>
            </a:r>
            <a:r>
              <a:rPr spc="-100"/>
              <a:t>i</a:t>
            </a:r>
            <a:r>
              <a:rPr spc="-95"/>
              <a:t>o</a:t>
            </a:r>
            <a:r>
              <a:rPr spc="5"/>
              <a:t>n</a:t>
            </a:r>
            <a:r>
              <a:rPr lang="en-US" spc="5"/>
              <a:t>: From Words to Context</a:t>
            </a:r>
            <a:endParaRPr spc="5"/>
          </a:p>
        </p:txBody>
      </p:sp>
      <p:pic>
        <p:nvPicPr>
          <p:cNvPr id="6" name="Picture 5" descr="A group of words on a white background&#10;&#10;AI-generated content may be incorrect.">
            <a:extLst>
              <a:ext uri="{FF2B5EF4-FFF2-40B4-BE49-F238E27FC236}">
                <a16:creationId xmlns:a16="http://schemas.microsoft.com/office/drawing/2014/main" id="{05A9A855-0ED3-7834-F7B3-B567A8894816}"/>
              </a:ext>
            </a:extLst>
          </p:cNvPr>
          <p:cNvPicPr>
            <a:picLocks noChangeAspect="1"/>
          </p:cNvPicPr>
          <p:nvPr/>
        </p:nvPicPr>
        <p:blipFill>
          <a:blip r:embed="rId2"/>
          <a:stretch>
            <a:fillRect/>
          </a:stretch>
        </p:blipFill>
        <p:spPr>
          <a:xfrm>
            <a:off x="238201" y="2374116"/>
            <a:ext cx="9585197" cy="2524125"/>
          </a:xfrm>
          <a:prstGeom prst="rect">
            <a:avLst/>
          </a:prstGeom>
        </p:spPr>
      </p:pic>
      <p:sp>
        <p:nvSpPr>
          <p:cNvPr id="8" name="object 2">
            <a:extLst>
              <a:ext uri="{FF2B5EF4-FFF2-40B4-BE49-F238E27FC236}">
                <a16:creationId xmlns:a16="http://schemas.microsoft.com/office/drawing/2014/main" id="{B02E0451-10DB-B909-B4F9-79BADA6E606D}"/>
              </a:ext>
            </a:extLst>
          </p:cNvPr>
          <p:cNvSpPr txBox="1"/>
          <p:nvPr/>
        </p:nvSpPr>
        <p:spPr>
          <a:xfrm>
            <a:off x="414601" y="5287924"/>
            <a:ext cx="8836720" cy="2014653"/>
          </a:xfrm>
          <a:prstGeom prst="rect">
            <a:avLst/>
          </a:prstGeom>
        </p:spPr>
        <p:txBody>
          <a:bodyPr vert="horz" wrap="square" lIns="0" tIns="52069" rIns="0" bIns="0" rtlCol="0" anchor="t">
            <a:spAutoFit/>
          </a:bodyPr>
          <a:lstStyle/>
          <a:p>
            <a:pPr marL="354965" marR="479425" indent="-342900">
              <a:lnSpc>
                <a:spcPts val="2510"/>
              </a:lnSpc>
              <a:spcBef>
                <a:spcPts val="409"/>
              </a:spcBef>
              <a:buSzPct val="123913"/>
              <a:buFont typeface="Arial"/>
              <a:buChar char="•"/>
              <a:tabLst>
                <a:tab pos="306705" algn="l"/>
              </a:tabLst>
            </a:pPr>
            <a:r>
              <a:rPr lang="en-US" sz="2300" spc="-114"/>
              <a:t>For most LLMs processing English text, 1 token ≈ 4 characters on average</a:t>
            </a:r>
            <a:endParaRPr lang="en-US" sz="2300" spc="-114">
              <a:latin typeface="Calibri"/>
              <a:ea typeface="Calibri"/>
              <a:cs typeface="Calibri"/>
            </a:endParaRPr>
          </a:p>
          <a:p>
            <a:pPr marL="354965" marR="479425" indent="-342900">
              <a:lnSpc>
                <a:spcPts val="2510"/>
              </a:lnSpc>
              <a:spcBef>
                <a:spcPts val="409"/>
              </a:spcBef>
              <a:buFont typeface="Arial"/>
              <a:buChar char="•"/>
              <a:tabLst>
                <a:tab pos="306705" algn="l"/>
              </a:tabLst>
            </a:pPr>
            <a:r>
              <a:rPr lang="en-US" sz="2300">
                <a:latin typeface="Calibri"/>
                <a:ea typeface="Calibri"/>
                <a:cs typeface="Calibri"/>
              </a:rPr>
              <a:t>The context window defines the maximum total tokens the model can process in a single interaction</a:t>
            </a:r>
            <a:endParaRPr lang="en-US" sz="2300" spc="-114">
              <a:latin typeface="Calibri"/>
              <a:ea typeface="Calibri"/>
              <a:cs typeface="Calibri"/>
            </a:endParaRPr>
          </a:p>
          <a:p>
            <a:pPr marL="307340" marR="5080" indent="-295275">
              <a:lnSpc>
                <a:spcPts val="2510"/>
              </a:lnSpc>
              <a:spcBef>
                <a:spcPts val="2410"/>
              </a:spcBef>
              <a:buSzPct val="123913"/>
              <a:buFont typeface="Arial"/>
              <a:buChar char="•"/>
              <a:tabLst>
                <a:tab pos="307340" algn="l"/>
              </a:tabLst>
            </a:pPr>
            <a:endParaRPr lang="en-US" sz="2300" spc="-10">
              <a:latin typeface="Arial"/>
              <a:cs typeface="Arial"/>
            </a:endParaRPr>
          </a:p>
        </p:txBody>
      </p:sp>
    </p:spTree>
    <p:extLst>
      <p:ext uri="{BB962C8B-B14F-4D97-AF65-F5344CB8AC3E}">
        <p14:creationId xmlns:p14="http://schemas.microsoft.com/office/powerpoint/2010/main" val="9550126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E004F153-29C3-E873-8080-24F9234C1814}"/>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D25CF6BD-0014-1D8B-00AF-D360DF42B6C3}"/>
              </a:ext>
            </a:extLst>
          </p:cNvPr>
          <p:cNvSpPr txBox="1">
            <a:spLocks noGrp="1"/>
          </p:cNvSpPr>
          <p:nvPr>
            <p:ph type="sldNum" sz="quarter" idx="7"/>
          </p:nvPr>
        </p:nvSpPr>
        <p:spPr>
          <a:prstGeom prst="rect">
            <a:avLst/>
          </a:prstGeom>
        </p:spPr>
        <p:txBody>
          <a:bodyPr vert="horz" wrap="square" lIns="0" tIns="6985" rIns="0" bIns="0" rtlCol="0">
            <a:spAutoFit/>
          </a:bodyPr>
          <a:lstStyle/>
          <a:p>
            <a:pPr marL="76200">
              <a:lnSpc>
                <a:spcPct val="100000"/>
              </a:lnSpc>
              <a:spcBef>
                <a:spcPts val="55"/>
              </a:spcBef>
            </a:pPr>
            <a:fld id="{81D60167-4931-47E6-BA6A-407CBD079E47}" type="slidenum">
              <a:rPr spc="-50" dirty="0"/>
              <a:t>3</a:t>
            </a:fld>
            <a:endParaRPr spc="-50"/>
          </a:p>
        </p:txBody>
      </p:sp>
      <p:sp>
        <p:nvSpPr>
          <p:cNvPr id="3" name="object 3" descr="$PPTXTitle">
            <a:extLst>
              <a:ext uri="{FF2B5EF4-FFF2-40B4-BE49-F238E27FC236}">
                <a16:creationId xmlns:a16="http://schemas.microsoft.com/office/drawing/2014/main" id="{9043E3AE-069F-0A69-F20F-0D749408DA03}"/>
              </a:ext>
            </a:extLst>
          </p:cNvPr>
          <p:cNvSpPr txBox="1">
            <a:spLocks noGrp="1"/>
          </p:cNvSpPr>
          <p:nvPr>
            <p:ph type="title"/>
          </p:nvPr>
        </p:nvSpPr>
        <p:spPr>
          <a:xfrm>
            <a:off x="501592" y="134170"/>
            <a:ext cx="8842375" cy="797216"/>
          </a:xfrm>
          <a:prstGeom prst="rect">
            <a:avLst/>
          </a:prstGeom>
        </p:spPr>
        <p:txBody>
          <a:bodyPr vert="horz" wrap="square" lIns="0" tIns="88466" rIns="0" bIns="0" rtlCol="0" anchor="t">
            <a:spAutoFit/>
          </a:bodyPr>
          <a:lstStyle/>
          <a:p>
            <a:pPr marL="12700">
              <a:spcBef>
                <a:spcPts val="95"/>
              </a:spcBef>
            </a:pPr>
            <a:r>
              <a:rPr lang="en-US" spc="5"/>
              <a:t>What does a Tokenizer do?</a:t>
            </a:r>
            <a:endParaRPr lang="en-US"/>
          </a:p>
        </p:txBody>
      </p:sp>
      <p:pic>
        <p:nvPicPr>
          <p:cNvPr id="5" name="Picture 4" descr="A diagram of a model&#10;&#10;AI-generated content may be incorrect.">
            <a:extLst>
              <a:ext uri="{FF2B5EF4-FFF2-40B4-BE49-F238E27FC236}">
                <a16:creationId xmlns:a16="http://schemas.microsoft.com/office/drawing/2014/main" id="{B6B7FFEA-250E-5CE0-B3C1-000FE850B32C}"/>
              </a:ext>
            </a:extLst>
          </p:cNvPr>
          <p:cNvPicPr>
            <a:picLocks noChangeAspect="1"/>
          </p:cNvPicPr>
          <p:nvPr/>
        </p:nvPicPr>
        <p:blipFill>
          <a:blip r:embed="rId2"/>
          <a:stretch>
            <a:fillRect/>
          </a:stretch>
        </p:blipFill>
        <p:spPr>
          <a:xfrm>
            <a:off x="653503" y="1048215"/>
            <a:ext cx="8537114" cy="3067050"/>
          </a:xfrm>
          <a:prstGeom prst="rect">
            <a:avLst/>
          </a:prstGeom>
        </p:spPr>
      </p:pic>
      <p:sp>
        <p:nvSpPr>
          <p:cNvPr id="9" name="object 2">
            <a:extLst>
              <a:ext uri="{FF2B5EF4-FFF2-40B4-BE49-F238E27FC236}">
                <a16:creationId xmlns:a16="http://schemas.microsoft.com/office/drawing/2014/main" id="{E06E2452-3993-F048-3B8B-B9071A93B8B9}"/>
              </a:ext>
            </a:extLst>
          </p:cNvPr>
          <p:cNvSpPr txBox="1"/>
          <p:nvPr/>
        </p:nvSpPr>
        <p:spPr>
          <a:xfrm>
            <a:off x="652096" y="4270356"/>
            <a:ext cx="8531960" cy="4138954"/>
          </a:xfrm>
          <a:prstGeom prst="rect">
            <a:avLst/>
          </a:prstGeom>
        </p:spPr>
        <p:txBody>
          <a:bodyPr vert="horz" wrap="square" lIns="0" tIns="17145" rIns="0" bIns="0" rtlCol="0" anchor="t">
            <a:spAutoFit/>
          </a:bodyPr>
          <a:lstStyle/>
          <a:p>
            <a:pPr marL="38100">
              <a:spcBef>
                <a:spcPts val="135"/>
              </a:spcBef>
              <a:tabLst>
                <a:tab pos="308610" algn="l"/>
              </a:tabLst>
            </a:pPr>
            <a:r>
              <a:rPr lang="en-US" sz="2100" spc="-10">
                <a:latin typeface="Arial"/>
                <a:cs typeface="Arial"/>
              </a:rPr>
              <a:t>Neural networks can’t process raw text directly, so the first step is to convert the text inputs into numbers that the model can make sense of. To do this we use a </a:t>
            </a:r>
            <a:r>
              <a:rPr lang="en-US" sz="2100" i="1" spc="-10">
                <a:latin typeface="Arial"/>
                <a:cs typeface="Arial"/>
              </a:rPr>
              <a:t>tokenizer</a:t>
            </a:r>
            <a:r>
              <a:rPr lang="en-US" sz="2100" spc="-10">
                <a:latin typeface="Arial"/>
                <a:cs typeface="Arial"/>
              </a:rPr>
              <a:t>, which:</a:t>
            </a:r>
            <a:endParaRPr lang="en-US" sz="2100" spc="-10">
              <a:solidFill>
                <a:srgbClr val="000000"/>
              </a:solidFill>
              <a:latin typeface="Arial"/>
              <a:cs typeface="Arial"/>
            </a:endParaRPr>
          </a:p>
          <a:p>
            <a:pPr marL="38100">
              <a:spcBef>
                <a:spcPts val="135"/>
              </a:spcBef>
              <a:tabLst>
                <a:tab pos="308610" algn="l"/>
              </a:tabLst>
            </a:pPr>
            <a:endParaRPr lang="en-US" spc="-10">
              <a:solidFill>
                <a:srgbClr val="000000"/>
              </a:solidFill>
              <a:latin typeface="Arial"/>
              <a:cs typeface="Arial"/>
            </a:endParaRPr>
          </a:p>
          <a:p>
            <a:pPr marL="342900" indent="-342900" algn="l">
              <a:buSzPct val="123809"/>
              <a:buFont typeface="Arial"/>
              <a:buChar char="•"/>
              <a:tabLst>
                <a:tab pos="308610" algn="l"/>
              </a:tabLst>
            </a:pPr>
            <a:r>
              <a:rPr lang="en-US" sz="1900" spc="50">
                <a:latin typeface="Arial"/>
                <a:cs typeface="Arial"/>
              </a:rPr>
              <a:t>Splits the input into words, </a:t>
            </a:r>
            <a:r>
              <a:rPr lang="en-US" sz="1900" spc="50" err="1">
                <a:latin typeface="Arial"/>
                <a:cs typeface="Arial"/>
              </a:rPr>
              <a:t>subwords</a:t>
            </a:r>
            <a:r>
              <a:rPr lang="en-US" sz="1900" spc="50">
                <a:latin typeface="Arial"/>
                <a:cs typeface="Arial"/>
              </a:rPr>
              <a:t>, or symbols (like punctuation) that are called </a:t>
            </a:r>
            <a:r>
              <a:rPr lang="en-US" sz="1900" i="1" spc="50">
                <a:latin typeface="Arial"/>
                <a:cs typeface="Arial"/>
              </a:rPr>
              <a:t>tokens</a:t>
            </a:r>
            <a:endParaRPr lang="en-US" sz="1900" spc="50">
              <a:latin typeface="Arial"/>
              <a:cs typeface="Arial"/>
            </a:endParaRPr>
          </a:p>
          <a:p>
            <a:pPr marL="342900" indent="-342900" algn="l">
              <a:spcBef>
                <a:spcPts val="2115"/>
              </a:spcBef>
              <a:buFont typeface="Arial"/>
              <a:buChar char="•"/>
              <a:tabLst>
                <a:tab pos="308610" algn="l"/>
              </a:tabLst>
            </a:pPr>
            <a:r>
              <a:rPr lang="en-US" sz="1900" spc="50">
                <a:latin typeface="Arial"/>
                <a:cs typeface="Arial"/>
              </a:rPr>
              <a:t>Maps each token to an integer</a:t>
            </a:r>
            <a:endParaRPr lang="en-US" sz="1900">
              <a:latin typeface="Arial"/>
              <a:cs typeface="Arial"/>
            </a:endParaRPr>
          </a:p>
          <a:p>
            <a:pPr marL="342900" indent="-342900" algn="l">
              <a:spcBef>
                <a:spcPts val="2115"/>
              </a:spcBef>
              <a:buFont typeface="Arial"/>
              <a:buChar char="•"/>
              <a:tabLst>
                <a:tab pos="308610" algn="l"/>
              </a:tabLst>
            </a:pPr>
            <a:r>
              <a:rPr lang="en-US" sz="1900" spc="50">
                <a:latin typeface="Arial"/>
                <a:cs typeface="Arial"/>
              </a:rPr>
              <a:t>Adds additional inputs that may be useful to the model</a:t>
            </a:r>
            <a:endParaRPr lang="en-US" sz="1900">
              <a:latin typeface="Arial"/>
              <a:cs typeface="Arial"/>
            </a:endParaRPr>
          </a:p>
          <a:p>
            <a:pPr marL="308610" indent="-270510">
              <a:spcBef>
                <a:spcPts val="2115"/>
              </a:spcBef>
              <a:buSzPct val="123808"/>
              <a:buFont typeface="Arial"/>
              <a:buChar char="•"/>
              <a:tabLst>
                <a:tab pos="308610" algn="l"/>
              </a:tabLst>
            </a:pPr>
            <a:endParaRPr lang="en-US" sz="2000" spc="50">
              <a:latin typeface="Arial"/>
              <a:ea typeface="Cambria"/>
              <a:cs typeface="Arial"/>
            </a:endParaRPr>
          </a:p>
          <a:p>
            <a:pPr marL="308610" indent="-270510">
              <a:spcBef>
                <a:spcPts val="2115"/>
              </a:spcBef>
              <a:buSzPct val="123808"/>
              <a:buFont typeface="Arial"/>
              <a:buChar char="•"/>
              <a:tabLst>
                <a:tab pos="308610" algn="l"/>
              </a:tabLst>
            </a:pPr>
            <a:endParaRPr lang="en-US" sz="2100" spc="-20">
              <a:latin typeface="Arial"/>
              <a:cs typeface="Arial"/>
            </a:endParaRPr>
          </a:p>
        </p:txBody>
      </p:sp>
      <p:sp>
        <p:nvSpPr>
          <p:cNvPr id="8" name="object 9">
            <a:extLst>
              <a:ext uri="{FF2B5EF4-FFF2-40B4-BE49-F238E27FC236}">
                <a16:creationId xmlns:a16="http://schemas.microsoft.com/office/drawing/2014/main" id="{26F351FA-D110-710A-B312-D061C4F753EC}"/>
              </a:ext>
            </a:extLst>
          </p:cNvPr>
          <p:cNvSpPr txBox="1"/>
          <p:nvPr/>
        </p:nvSpPr>
        <p:spPr>
          <a:xfrm>
            <a:off x="5636657" y="7359511"/>
            <a:ext cx="4424680" cy="160941"/>
          </a:xfrm>
          <a:prstGeom prst="rect">
            <a:avLst/>
          </a:prstGeom>
        </p:spPr>
        <p:txBody>
          <a:bodyPr vert="horz" wrap="square" lIns="0" tIns="6985" rIns="0" bIns="0" rtlCol="0" anchor="t">
            <a:spAutoFit/>
          </a:bodyPr>
          <a:lstStyle/>
          <a:p>
            <a:pPr marL="12700">
              <a:lnSpc>
                <a:spcPct val="100000"/>
              </a:lnSpc>
              <a:spcBef>
                <a:spcPts val="55"/>
              </a:spcBef>
            </a:pPr>
            <a:r>
              <a:rPr sz="1000">
                <a:latin typeface="Arial"/>
                <a:cs typeface="Arial"/>
              </a:rPr>
              <a:t>Example</a:t>
            </a:r>
            <a:r>
              <a:rPr sz="1000" spc="290">
                <a:latin typeface="Arial"/>
                <a:cs typeface="Arial"/>
              </a:rPr>
              <a:t> </a:t>
            </a:r>
            <a:r>
              <a:rPr sz="1000">
                <a:latin typeface="Arial"/>
                <a:cs typeface="Arial"/>
              </a:rPr>
              <a:t>from:</a:t>
            </a:r>
            <a:r>
              <a:rPr sz="1000" spc="290">
                <a:latin typeface="Arial"/>
                <a:cs typeface="Arial"/>
              </a:rPr>
              <a:t> </a:t>
            </a:r>
            <a:r>
              <a:rPr sz="1000" u="sng" spc="-10">
                <a:uFill>
                  <a:solidFill>
                    <a:srgbClr val="000000"/>
                  </a:solidFill>
                </a:uFill>
                <a:latin typeface="Arial"/>
                <a:cs typeface="Arial"/>
              </a:rPr>
              <a:t>https://huggingface.co/</a:t>
            </a:r>
            <a:r>
              <a:rPr lang="en-US" sz="1000" u="sng" spc="-10">
                <a:uFill>
                  <a:solidFill>
                    <a:srgbClr val="000000"/>
                  </a:solidFill>
                </a:uFill>
                <a:latin typeface="Arial"/>
                <a:cs typeface="Arial"/>
              </a:rPr>
              <a:t>learn</a:t>
            </a:r>
            <a:r>
              <a:rPr sz="1000" u="sng" spc="-10">
                <a:uFill>
                  <a:solidFill>
                    <a:srgbClr val="000000"/>
                  </a:solidFill>
                </a:uFill>
                <a:latin typeface="Arial"/>
                <a:cs typeface="Arial"/>
              </a:rPr>
              <a:t>/</a:t>
            </a:r>
            <a:r>
              <a:rPr lang="en-US" sz="1000" u="sng" spc="-10">
                <a:uFill>
                  <a:solidFill>
                    <a:srgbClr val="000000"/>
                  </a:solidFill>
                </a:uFill>
                <a:latin typeface="Arial"/>
                <a:cs typeface="Arial"/>
              </a:rPr>
              <a:t>llm-course</a:t>
            </a:r>
            <a:endParaRPr sz="1000">
              <a:latin typeface="Arial"/>
              <a:cs typeface="Arial"/>
            </a:endParaRPr>
          </a:p>
        </p:txBody>
      </p:sp>
    </p:spTree>
    <p:extLst>
      <p:ext uri="{BB962C8B-B14F-4D97-AF65-F5344CB8AC3E}">
        <p14:creationId xmlns:p14="http://schemas.microsoft.com/office/powerpoint/2010/main" val="218831597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B4A366C9-CB7E-E78B-1449-5CDC4C5C69FF}"/>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D33A2348-8B71-BFAE-9420-836B221E3111}"/>
              </a:ext>
            </a:extLst>
          </p:cNvPr>
          <p:cNvSpPr txBox="1">
            <a:spLocks noGrp="1"/>
          </p:cNvSpPr>
          <p:nvPr>
            <p:ph type="sldNum" sz="quarter" idx="7"/>
          </p:nvPr>
        </p:nvSpPr>
        <p:spPr>
          <a:prstGeom prst="rect">
            <a:avLst/>
          </a:prstGeom>
        </p:spPr>
        <p:txBody>
          <a:bodyPr vert="horz" wrap="square" lIns="0" tIns="6985" rIns="0" bIns="0" rtlCol="0">
            <a:spAutoFit/>
          </a:bodyPr>
          <a:lstStyle/>
          <a:p>
            <a:pPr marL="76200">
              <a:lnSpc>
                <a:spcPct val="100000"/>
              </a:lnSpc>
              <a:spcBef>
                <a:spcPts val="55"/>
              </a:spcBef>
            </a:pPr>
            <a:fld id="{81D60167-4931-47E6-BA6A-407CBD079E47}" type="slidenum">
              <a:rPr spc="-50" dirty="0"/>
              <a:t>4</a:t>
            </a:fld>
            <a:endParaRPr spc="-50"/>
          </a:p>
        </p:txBody>
      </p:sp>
      <p:sp>
        <p:nvSpPr>
          <p:cNvPr id="2" name="object 2">
            <a:extLst>
              <a:ext uri="{FF2B5EF4-FFF2-40B4-BE49-F238E27FC236}">
                <a16:creationId xmlns:a16="http://schemas.microsoft.com/office/drawing/2014/main" id="{75372680-49EF-3C92-4500-6B2F8402FAE0}"/>
              </a:ext>
            </a:extLst>
          </p:cNvPr>
          <p:cNvSpPr txBox="1"/>
          <p:nvPr/>
        </p:nvSpPr>
        <p:spPr>
          <a:xfrm>
            <a:off x="565103" y="1944071"/>
            <a:ext cx="8499340" cy="4172296"/>
          </a:xfrm>
          <a:prstGeom prst="rect">
            <a:avLst/>
          </a:prstGeom>
        </p:spPr>
        <p:txBody>
          <a:bodyPr vert="horz" wrap="square" lIns="0" tIns="17145" rIns="0" bIns="0" rtlCol="0" anchor="t">
            <a:spAutoFit/>
          </a:bodyPr>
          <a:lstStyle/>
          <a:p>
            <a:pPr marL="38100">
              <a:spcBef>
                <a:spcPts val="135"/>
              </a:spcBef>
              <a:buSzPct val="123809"/>
              <a:tabLst>
                <a:tab pos="308610" algn="l"/>
              </a:tabLst>
            </a:pPr>
            <a:r>
              <a:rPr lang="en-US" sz="2400" b="1" spc="55">
                <a:latin typeface="Arial"/>
                <a:cs typeface="Arial"/>
              </a:rPr>
              <a:t>How</a:t>
            </a:r>
            <a:r>
              <a:rPr lang="en-US" sz="2400" b="1" spc="70">
                <a:latin typeface="Arial"/>
                <a:cs typeface="Arial"/>
              </a:rPr>
              <a:t> do we represent an input text?</a:t>
            </a:r>
            <a:endParaRPr lang="en-US" sz="2400" b="1" spc="-10">
              <a:latin typeface="Arial"/>
              <a:cs typeface="Arial"/>
            </a:endParaRPr>
          </a:p>
          <a:p>
            <a:pPr marL="308610" indent="-270510">
              <a:spcBef>
                <a:spcPts val="2115"/>
              </a:spcBef>
              <a:buSzPct val="123808"/>
              <a:buFont typeface="Arial"/>
              <a:buChar char="•"/>
              <a:tabLst>
                <a:tab pos="308610" algn="l"/>
              </a:tabLst>
            </a:pPr>
            <a:r>
              <a:rPr lang="en-US" sz="2200" spc="50">
                <a:latin typeface="Arial"/>
                <a:ea typeface="Calibri"/>
                <a:cs typeface="Arial"/>
              </a:rPr>
              <a:t>Computers cannot process raw text directly. To perform computation, we must represent an input string x as a sequence of discrete units </a:t>
            </a:r>
            <a:r>
              <a:rPr lang="en-US" sz="2200" spc="50">
                <a:latin typeface="Arial"/>
                <a:ea typeface="Cambria"/>
                <a:cs typeface="Arial"/>
              </a:rPr>
              <a:t>⟨</a:t>
            </a:r>
            <a:r>
              <a:rPr lang="en-US" sz="2200" i="1" spc="50">
                <a:latin typeface="Arial"/>
                <a:ea typeface="Calibri"/>
                <a:cs typeface="Arial"/>
              </a:rPr>
              <a:t>x</a:t>
            </a:r>
            <a:r>
              <a:rPr lang="en-US" sz="2200" spc="50" baseline="-25000">
                <a:latin typeface="Arial"/>
                <a:ea typeface="Cambria"/>
                <a:cs typeface="Arial"/>
              </a:rPr>
              <a:t>1</a:t>
            </a:r>
            <a:r>
              <a:rPr lang="en-US" sz="2200" spc="50">
                <a:latin typeface="Arial"/>
                <a:ea typeface="Cambria"/>
                <a:cs typeface="Arial"/>
              </a:rPr>
              <a:t>, …, </a:t>
            </a:r>
            <a:r>
              <a:rPr lang="en-US" sz="2200" i="1" spc="50" err="1">
                <a:latin typeface="Arial"/>
                <a:ea typeface="Calibri"/>
                <a:cs typeface="Arial"/>
              </a:rPr>
              <a:t>x</a:t>
            </a:r>
            <a:r>
              <a:rPr lang="en-US" sz="2200" i="1" spc="50" baseline="-25000" err="1">
                <a:latin typeface="Arial"/>
                <a:ea typeface="Calibri"/>
                <a:cs typeface="Arial"/>
              </a:rPr>
              <a:t>n</a:t>
            </a:r>
            <a:r>
              <a:rPr lang="en-US" sz="2200" spc="50">
                <a:latin typeface="Arial"/>
                <a:ea typeface="Cambria"/>
                <a:cs typeface="Arial"/>
              </a:rPr>
              <a:t>⟩.</a:t>
            </a:r>
            <a:endParaRPr lang="en-US" sz="2200" spc="50">
              <a:latin typeface="Arial"/>
              <a:cs typeface="Arial"/>
            </a:endParaRPr>
          </a:p>
          <a:p>
            <a:pPr marL="308610" indent="-270510">
              <a:spcBef>
                <a:spcPts val="2115"/>
              </a:spcBef>
              <a:buSzPct val="123808"/>
              <a:buFont typeface="Arial"/>
              <a:buChar char="•"/>
              <a:tabLst>
                <a:tab pos="308610" algn="l"/>
              </a:tabLst>
            </a:pPr>
            <a:r>
              <a:rPr lang="en-US" sz="2200" spc="50">
                <a:latin typeface="Arial"/>
                <a:cs typeface="Arial"/>
              </a:rPr>
              <a:t>Tokenization is the process of decomposing a string into smaller, manageable segments called </a:t>
            </a:r>
            <a:r>
              <a:rPr lang="en-US" sz="2200" i="1" spc="50">
                <a:latin typeface="Arial"/>
                <a:cs typeface="Arial"/>
              </a:rPr>
              <a:t>tokens</a:t>
            </a:r>
            <a:r>
              <a:rPr lang="en-US" sz="2200" spc="50">
                <a:latin typeface="Arial"/>
                <a:cs typeface="Arial"/>
              </a:rPr>
              <a:t>.</a:t>
            </a:r>
            <a:endParaRPr lang="en-US" sz="2200" spc="50">
              <a:latin typeface="Arial"/>
              <a:ea typeface="Cambria"/>
              <a:cs typeface="Arial"/>
            </a:endParaRPr>
          </a:p>
          <a:p>
            <a:pPr marL="308610" indent="-270510">
              <a:spcBef>
                <a:spcPts val="2115"/>
              </a:spcBef>
              <a:buSzPct val="123808"/>
              <a:buFont typeface="Arial"/>
              <a:buChar char="•"/>
              <a:tabLst>
                <a:tab pos="308610" algn="l"/>
              </a:tabLst>
            </a:pPr>
            <a:r>
              <a:rPr lang="en-US" sz="2200" spc="50">
                <a:latin typeface="Arial"/>
                <a:cs typeface="Arial"/>
              </a:rPr>
              <a:t> Is a "word" the right unit of measurement, or should we go deeper?</a:t>
            </a:r>
          </a:p>
          <a:p>
            <a:pPr marL="308610" indent="-270510">
              <a:spcBef>
                <a:spcPts val="2115"/>
              </a:spcBef>
              <a:buSzPct val="123808"/>
              <a:buFont typeface="Arial"/>
              <a:buChar char="•"/>
              <a:tabLst>
                <a:tab pos="308610" algn="l"/>
              </a:tabLst>
            </a:pPr>
            <a:endParaRPr lang="en-US" sz="2200" spc="50">
              <a:latin typeface="Arial"/>
              <a:cs typeface="Arial"/>
            </a:endParaRPr>
          </a:p>
        </p:txBody>
      </p:sp>
      <p:sp>
        <p:nvSpPr>
          <p:cNvPr id="3" name="object 3" descr="$PPTXTitle">
            <a:extLst>
              <a:ext uri="{FF2B5EF4-FFF2-40B4-BE49-F238E27FC236}">
                <a16:creationId xmlns:a16="http://schemas.microsoft.com/office/drawing/2014/main" id="{B5CD43A2-2776-50E4-5208-375F11D3910B}"/>
              </a:ext>
            </a:extLst>
          </p:cNvPr>
          <p:cNvSpPr txBox="1">
            <a:spLocks noGrp="1"/>
          </p:cNvSpPr>
          <p:nvPr>
            <p:ph type="title"/>
          </p:nvPr>
        </p:nvSpPr>
        <p:spPr>
          <a:xfrm>
            <a:off x="468970" y="405932"/>
            <a:ext cx="9125097" cy="797216"/>
          </a:xfrm>
          <a:prstGeom prst="rect">
            <a:avLst/>
          </a:prstGeom>
        </p:spPr>
        <p:txBody>
          <a:bodyPr vert="horz" wrap="square" lIns="0" tIns="88466" rIns="0" bIns="0" rtlCol="0" anchor="t">
            <a:spAutoFit/>
          </a:bodyPr>
          <a:lstStyle/>
          <a:p>
            <a:pPr marL="12700">
              <a:spcBef>
                <a:spcPts val="95"/>
              </a:spcBef>
            </a:pPr>
            <a:r>
              <a:rPr lang="en-US" spc="5"/>
              <a:t>From Raw Text to Discrete Units</a:t>
            </a:r>
          </a:p>
        </p:txBody>
      </p:sp>
    </p:spTree>
    <p:extLst>
      <p:ext uri="{BB962C8B-B14F-4D97-AF65-F5344CB8AC3E}">
        <p14:creationId xmlns:p14="http://schemas.microsoft.com/office/powerpoint/2010/main" val="5313629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32D7F432-6FD7-413C-F036-C7D1FF484C06}"/>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71645E74-475E-0190-6FA9-A1E3A8DD6EA1}"/>
              </a:ext>
            </a:extLst>
          </p:cNvPr>
          <p:cNvSpPr txBox="1">
            <a:spLocks noGrp="1"/>
          </p:cNvSpPr>
          <p:nvPr>
            <p:ph type="sldNum" sz="quarter" idx="7"/>
          </p:nvPr>
        </p:nvSpPr>
        <p:spPr>
          <a:prstGeom prst="rect">
            <a:avLst/>
          </a:prstGeom>
        </p:spPr>
        <p:txBody>
          <a:bodyPr vert="horz" wrap="square" lIns="0" tIns="6985" rIns="0" bIns="0" rtlCol="0">
            <a:spAutoFit/>
          </a:bodyPr>
          <a:lstStyle/>
          <a:p>
            <a:pPr marL="38100">
              <a:lnSpc>
                <a:spcPct val="100000"/>
              </a:lnSpc>
              <a:spcBef>
                <a:spcPts val="55"/>
              </a:spcBef>
            </a:pPr>
            <a:fld id="{81D60167-4931-47E6-BA6A-407CBD079E47}" type="slidenum">
              <a:rPr spc="-25" dirty="0"/>
              <a:t>5</a:t>
            </a:fld>
            <a:endParaRPr spc="-25"/>
          </a:p>
        </p:txBody>
      </p:sp>
      <p:sp>
        <p:nvSpPr>
          <p:cNvPr id="2" name="object 2">
            <a:extLst>
              <a:ext uri="{FF2B5EF4-FFF2-40B4-BE49-F238E27FC236}">
                <a16:creationId xmlns:a16="http://schemas.microsoft.com/office/drawing/2014/main" id="{B0D5C221-107F-D236-FBD5-CC234E08D3E4}"/>
              </a:ext>
            </a:extLst>
          </p:cNvPr>
          <p:cNvSpPr txBox="1"/>
          <p:nvPr/>
        </p:nvSpPr>
        <p:spPr>
          <a:xfrm>
            <a:off x="207996" y="1633453"/>
            <a:ext cx="9881544" cy="5483488"/>
          </a:xfrm>
          <a:prstGeom prst="rect">
            <a:avLst/>
          </a:prstGeom>
        </p:spPr>
        <p:txBody>
          <a:bodyPr vert="horz" wrap="square" lIns="0" tIns="13335" rIns="0" bIns="0" rtlCol="0" anchor="t">
            <a:spAutoFit/>
          </a:bodyPr>
          <a:lstStyle/>
          <a:p>
            <a:pPr marL="308610" indent="-270510">
              <a:spcBef>
                <a:spcPts val="2115"/>
              </a:spcBef>
              <a:buFont typeface="Arial"/>
              <a:buChar char="•"/>
            </a:pPr>
            <a:r>
              <a:rPr lang="en-US" sz="2200" spc="70">
                <a:latin typeface="Arial"/>
                <a:cs typeface="Arial"/>
              </a:rPr>
              <a:t>One standard method of tokenization is splitting by white space and punctation.</a:t>
            </a:r>
            <a:endParaRPr lang="en-US" sz="2200" spc="70">
              <a:solidFill>
                <a:srgbClr val="000000"/>
              </a:solidFill>
              <a:latin typeface="Arial"/>
              <a:cs typeface="Arial"/>
            </a:endParaRPr>
          </a:p>
          <a:p>
            <a:pPr marL="308610" indent="-270510">
              <a:spcBef>
                <a:spcPts val="2115"/>
              </a:spcBef>
              <a:buFont typeface="Arial"/>
              <a:buChar char="•"/>
            </a:pPr>
            <a:r>
              <a:rPr lang="en-US" sz="2200" spc="70">
                <a:latin typeface="Arial"/>
                <a:cs typeface="Arial"/>
              </a:rPr>
              <a:t>Consider the string “The GPU costs $1,499.99 and draws 250W.” </a:t>
            </a:r>
          </a:p>
          <a:p>
            <a:pPr marL="292100" indent="-279400">
              <a:spcBef>
                <a:spcPts val="2050"/>
              </a:spcBef>
              <a:buFont typeface="Arial,Sans-Serif"/>
              <a:buChar char="•"/>
            </a:pPr>
            <a:r>
              <a:rPr lang="en-US" sz="2200" spc="70">
                <a:latin typeface="Arial"/>
                <a:cs typeface="Arial"/>
              </a:rPr>
              <a:t>How should we represent the sequence?</a:t>
            </a:r>
          </a:p>
          <a:p>
            <a:pPr marL="586740" marR="508000" lvl="1" indent="-280035">
              <a:lnSpc>
                <a:spcPct val="86600"/>
              </a:lnSpc>
              <a:spcBef>
                <a:spcPts val="2020"/>
              </a:spcBef>
              <a:buFont typeface="Arial,Sans-Serif"/>
              <a:buChar char="•"/>
            </a:pPr>
            <a:r>
              <a:rPr lang="en-US" spc="70">
                <a:latin typeface="Arial"/>
                <a:cs typeface="Arial"/>
              </a:rPr>
              <a:t>Option 1: </a:t>
            </a:r>
            <a:r>
              <a:rPr lang="en-US" i="1" spc="70">
                <a:latin typeface="Arial"/>
                <a:cs typeface="Arial"/>
              </a:rPr>
              <a:t>x</a:t>
            </a:r>
            <a:r>
              <a:rPr lang="en-US" spc="70">
                <a:latin typeface="Arial"/>
                <a:cs typeface="Arial"/>
              </a:rPr>
              <a:t> = ⟨The, GPU, costs, $1,499.99, and, draws, 250W, .⟩</a:t>
            </a:r>
          </a:p>
          <a:p>
            <a:pPr marL="586740" marR="508000" lvl="1" indent="-280035" algn="l">
              <a:lnSpc>
                <a:spcPct val="86600"/>
              </a:lnSpc>
              <a:spcBef>
                <a:spcPts val="2020"/>
              </a:spcBef>
              <a:buFont typeface="Arial,Sans-Serif"/>
              <a:buChar char="•"/>
            </a:pPr>
            <a:r>
              <a:rPr lang="en-US" spc="70">
                <a:latin typeface="Arial"/>
                <a:cs typeface="Arial"/>
              </a:rPr>
              <a:t>Option 2: </a:t>
            </a:r>
            <a:r>
              <a:rPr lang="en-US" i="1" spc="70">
                <a:latin typeface="Arial"/>
                <a:cs typeface="Arial"/>
              </a:rPr>
              <a:t>x</a:t>
            </a:r>
            <a:r>
              <a:rPr lang="en-US" spc="70">
                <a:latin typeface="Arial"/>
                <a:cs typeface="Arial"/>
              </a:rPr>
              <a:t> = ⟨The, GPU, costs, $, 1,499, ., 99, and, draws, 250, W, .⟩</a:t>
            </a:r>
          </a:p>
          <a:p>
            <a:pPr marL="292100" indent="-279400">
              <a:spcBef>
                <a:spcPts val="2050"/>
              </a:spcBef>
              <a:buFont typeface="Arial"/>
              <a:buChar char="•"/>
            </a:pPr>
            <a:r>
              <a:rPr lang="en-US" sz="2200" spc="70">
                <a:latin typeface="Arial"/>
                <a:cs typeface="Arial"/>
              </a:rPr>
              <a:t>Tokenization is not simple; choosing the wrong unit can destroy the meaning of specialized symbols.</a:t>
            </a:r>
          </a:p>
          <a:p>
            <a:pPr marL="649605" marR="508000" lvl="1" indent="-342900" algn="l">
              <a:lnSpc>
                <a:spcPct val="86600"/>
              </a:lnSpc>
              <a:spcBef>
                <a:spcPts val="2020"/>
              </a:spcBef>
              <a:buFont typeface="Arial"/>
              <a:buChar char="•"/>
            </a:pPr>
            <a:endParaRPr lang="en-US" sz="2000" spc="70">
              <a:latin typeface="Arial"/>
              <a:ea typeface="Cambria"/>
              <a:cs typeface="Arial"/>
            </a:endParaRPr>
          </a:p>
          <a:p>
            <a:pPr marL="586740" marR="508000" lvl="1" indent="-280035" algn="l">
              <a:lnSpc>
                <a:spcPct val="86600"/>
              </a:lnSpc>
              <a:spcBef>
                <a:spcPts val="2020"/>
              </a:spcBef>
              <a:buFont typeface="Arial"/>
              <a:buChar char="•"/>
            </a:pPr>
            <a:endParaRPr lang="en-US" sz="2000" spc="70">
              <a:latin typeface="Cambria"/>
              <a:ea typeface="Cambria"/>
              <a:cs typeface="Arial"/>
            </a:endParaRPr>
          </a:p>
          <a:p>
            <a:pPr marL="308610" indent="-270510">
              <a:spcBef>
                <a:spcPts val="2115"/>
              </a:spcBef>
              <a:buFont typeface="Arial"/>
              <a:buChar char="•"/>
            </a:pPr>
            <a:endParaRPr lang="en-US" sz="2000" spc="70">
              <a:latin typeface="Arial"/>
              <a:ea typeface="Cambria"/>
              <a:cs typeface="Arial"/>
            </a:endParaRPr>
          </a:p>
        </p:txBody>
      </p:sp>
      <p:sp>
        <p:nvSpPr>
          <p:cNvPr id="3" name="object 3" descr="$PPTXTitle">
            <a:extLst>
              <a:ext uri="{FF2B5EF4-FFF2-40B4-BE49-F238E27FC236}">
                <a16:creationId xmlns:a16="http://schemas.microsoft.com/office/drawing/2014/main" id="{19D11928-CCEF-F78C-552F-DD0290A2F0D2}"/>
              </a:ext>
            </a:extLst>
          </p:cNvPr>
          <p:cNvSpPr txBox="1">
            <a:spLocks noGrp="1"/>
          </p:cNvSpPr>
          <p:nvPr>
            <p:ph type="title"/>
          </p:nvPr>
        </p:nvSpPr>
        <p:spPr>
          <a:xfrm>
            <a:off x="566836" y="395062"/>
            <a:ext cx="8842375" cy="797216"/>
          </a:xfrm>
          <a:prstGeom prst="rect">
            <a:avLst/>
          </a:prstGeom>
        </p:spPr>
        <p:txBody>
          <a:bodyPr vert="horz" wrap="square" lIns="0" tIns="88466" rIns="0" bIns="0" rtlCol="0" anchor="t">
            <a:spAutoFit/>
          </a:bodyPr>
          <a:lstStyle/>
          <a:p>
            <a:pPr marL="12700">
              <a:spcBef>
                <a:spcPts val="95"/>
              </a:spcBef>
            </a:pPr>
            <a:r>
              <a:rPr lang="en-US" spc="5"/>
              <a:t>Same String, Different Splits</a:t>
            </a:r>
          </a:p>
        </p:txBody>
      </p:sp>
    </p:spTree>
    <p:extLst>
      <p:ext uri="{BB962C8B-B14F-4D97-AF65-F5344CB8AC3E}">
        <p14:creationId xmlns:p14="http://schemas.microsoft.com/office/powerpoint/2010/main" val="28441352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FFD70AC3-6EF6-EACF-2CF6-C239BAAFA82D}"/>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FC676DDA-7E25-7EAB-0E59-E347732765AD}"/>
              </a:ext>
            </a:extLst>
          </p:cNvPr>
          <p:cNvSpPr txBox="1">
            <a:spLocks noGrp="1"/>
          </p:cNvSpPr>
          <p:nvPr>
            <p:ph type="sldNum" sz="quarter" idx="7"/>
          </p:nvPr>
        </p:nvSpPr>
        <p:spPr>
          <a:prstGeom prst="rect">
            <a:avLst/>
          </a:prstGeom>
        </p:spPr>
        <p:txBody>
          <a:bodyPr vert="horz" wrap="square" lIns="0" tIns="6985" rIns="0" bIns="0" rtlCol="0">
            <a:spAutoFit/>
          </a:bodyPr>
          <a:lstStyle/>
          <a:p>
            <a:pPr marL="38100">
              <a:lnSpc>
                <a:spcPct val="100000"/>
              </a:lnSpc>
              <a:spcBef>
                <a:spcPts val="55"/>
              </a:spcBef>
            </a:pPr>
            <a:fld id="{81D60167-4931-47E6-BA6A-407CBD079E47}" type="slidenum">
              <a:rPr spc="-25" dirty="0"/>
              <a:t>6</a:t>
            </a:fld>
            <a:endParaRPr spc="-25"/>
          </a:p>
        </p:txBody>
      </p:sp>
      <p:sp>
        <p:nvSpPr>
          <p:cNvPr id="2" name="object 2">
            <a:extLst>
              <a:ext uri="{FF2B5EF4-FFF2-40B4-BE49-F238E27FC236}">
                <a16:creationId xmlns:a16="http://schemas.microsoft.com/office/drawing/2014/main" id="{0347BA1F-5C46-54C2-9742-73473B504801}"/>
              </a:ext>
            </a:extLst>
          </p:cNvPr>
          <p:cNvSpPr txBox="1"/>
          <p:nvPr/>
        </p:nvSpPr>
        <p:spPr>
          <a:xfrm>
            <a:off x="371105" y="1633453"/>
            <a:ext cx="9692210" cy="8437823"/>
          </a:xfrm>
          <a:prstGeom prst="rect">
            <a:avLst/>
          </a:prstGeom>
        </p:spPr>
        <p:txBody>
          <a:bodyPr vert="horz" wrap="square" lIns="0" tIns="13335" rIns="0" bIns="0" rtlCol="0" anchor="t">
            <a:spAutoFit/>
          </a:bodyPr>
          <a:lstStyle/>
          <a:p>
            <a:pPr marL="292100" indent="-279400">
              <a:spcBef>
                <a:spcPts val="2050"/>
              </a:spcBef>
              <a:buFont typeface="Arial,Sans-Serif"/>
              <a:buChar char="•"/>
            </a:pPr>
            <a:r>
              <a:rPr lang="en-US" sz="2200" spc="70">
                <a:latin typeface="Arial"/>
                <a:cs typeface="Arial"/>
              </a:rPr>
              <a:t>A tokenizer must also decide how to handle complex strings:</a:t>
            </a:r>
          </a:p>
          <a:p>
            <a:pPr marL="586740" marR="508000" lvl="1" indent="-280035">
              <a:lnSpc>
                <a:spcPct val="86600"/>
              </a:lnSpc>
              <a:spcBef>
                <a:spcPts val="2020"/>
              </a:spcBef>
              <a:buFont typeface="Arial,Sans-Serif"/>
              <a:buChar char="•"/>
            </a:pPr>
            <a:r>
              <a:rPr lang="en-US" sz="2100" spc="70">
                <a:latin typeface="Arial"/>
                <a:cs typeface="Arial"/>
              </a:rPr>
              <a:t>Contractions: aren't (One token, or are + </a:t>
            </a:r>
            <a:r>
              <a:rPr lang="en-US" sz="2100" spc="70" err="1">
                <a:latin typeface="Arial"/>
                <a:cs typeface="Arial"/>
              </a:rPr>
              <a:t>n't</a:t>
            </a:r>
            <a:r>
              <a:rPr lang="en-US" sz="2100" spc="70">
                <a:latin typeface="Arial"/>
                <a:cs typeface="Arial"/>
              </a:rPr>
              <a:t>?)</a:t>
            </a:r>
          </a:p>
          <a:p>
            <a:pPr marL="586740" marR="508000" lvl="1" indent="-280035">
              <a:lnSpc>
                <a:spcPct val="86600"/>
              </a:lnSpc>
              <a:spcBef>
                <a:spcPts val="2020"/>
              </a:spcBef>
              <a:buFont typeface="Arial,Sans-Serif"/>
              <a:buChar char="•"/>
            </a:pPr>
            <a:r>
              <a:rPr lang="en-US" sz="2100" spc="70" err="1">
                <a:latin typeface="Arial"/>
                <a:ea typeface="Cambria"/>
                <a:cs typeface="Arial"/>
              </a:rPr>
              <a:t>Hypens</a:t>
            </a:r>
            <a:r>
              <a:rPr lang="en-US" sz="2100" spc="70">
                <a:latin typeface="Arial"/>
                <a:ea typeface="Cambria"/>
                <a:cs typeface="Arial"/>
              </a:rPr>
              <a:t>: start-of-the-art or prize-winning</a:t>
            </a:r>
          </a:p>
          <a:p>
            <a:pPr marL="586740" marR="508000" lvl="1" indent="-280035">
              <a:lnSpc>
                <a:spcPct val="86600"/>
              </a:lnSpc>
              <a:spcBef>
                <a:spcPts val="2020"/>
              </a:spcBef>
              <a:buFont typeface="Arial,Sans-Serif"/>
              <a:buChar char="•"/>
            </a:pPr>
            <a:r>
              <a:rPr lang="en-US" sz="2100" spc="70">
                <a:latin typeface="Arial"/>
                <a:ea typeface="Cambria"/>
                <a:cs typeface="Arial"/>
              </a:rPr>
              <a:t>Proper Nouns: O'Neill (</a:t>
            </a:r>
            <a:r>
              <a:rPr lang="en-US" sz="2100" spc="70">
                <a:latin typeface="Arial"/>
                <a:cs typeface="Arial"/>
              </a:rPr>
              <a:t>Internal punctuation that shouldn't be split)</a:t>
            </a:r>
            <a:endParaRPr lang="en-US" sz="2100" spc="70">
              <a:latin typeface="Arial"/>
              <a:ea typeface="Cambria"/>
              <a:cs typeface="Arial"/>
            </a:endParaRPr>
          </a:p>
          <a:p>
            <a:pPr marL="586740" marR="508000" lvl="1" indent="-280035">
              <a:lnSpc>
                <a:spcPct val="86600"/>
              </a:lnSpc>
              <a:spcBef>
                <a:spcPts val="2020"/>
              </a:spcBef>
              <a:buFont typeface="Arial,Sans-Serif"/>
              <a:buChar char="•"/>
            </a:pPr>
            <a:r>
              <a:rPr lang="en-US" sz="2100" spc="70">
                <a:latin typeface="Arial"/>
                <a:cs typeface="Arial"/>
              </a:rPr>
              <a:t>Morphemes: unlockable (does "un-" mean "cannot be locked" or "able to be unlocked"?)</a:t>
            </a:r>
          </a:p>
          <a:p>
            <a:pPr marL="292100" indent="-279400">
              <a:spcBef>
                <a:spcPts val="2050"/>
              </a:spcBef>
              <a:buFont typeface="Arial,Sans-Serif"/>
              <a:buChar char="•"/>
            </a:pPr>
            <a:r>
              <a:rPr lang="en-US" sz="2100" spc="70">
                <a:latin typeface="Arial"/>
                <a:cs typeface="Arial"/>
              </a:rPr>
              <a:t>Different languages (e.g., Chinese, Thai) use no whitespace, so word boundaries must be inferred rather than split on</a:t>
            </a:r>
          </a:p>
          <a:p>
            <a:pPr marL="292100" indent="-279400">
              <a:spcBef>
                <a:spcPts val="2050"/>
              </a:spcBef>
              <a:buFont typeface="Arial,Sans-Serif"/>
              <a:buChar char="•"/>
            </a:pPr>
            <a:r>
              <a:rPr lang="en-US" sz="2100" spc="70">
                <a:latin typeface="Arial"/>
                <a:cs typeface="Arial"/>
              </a:rPr>
              <a:t>Turkish and Arabic pack multiple morphemes into single words, making whitespace splitting too coarse</a:t>
            </a:r>
          </a:p>
          <a:p>
            <a:pPr marL="292100" indent="-279400">
              <a:spcBef>
                <a:spcPts val="2050"/>
              </a:spcBef>
              <a:buFont typeface="Arial,Sans-Serif"/>
              <a:buChar char="•"/>
            </a:pPr>
            <a:endParaRPr lang="en-US" sz="2000" spc="70">
              <a:latin typeface="Arial"/>
              <a:cs typeface="Arial"/>
            </a:endParaRPr>
          </a:p>
          <a:p>
            <a:pPr marL="306705" marR="508000" lvl="1">
              <a:lnSpc>
                <a:spcPct val="86600"/>
              </a:lnSpc>
              <a:spcBef>
                <a:spcPts val="2020"/>
              </a:spcBef>
            </a:pPr>
            <a:endParaRPr lang="en-US" sz="2000" spc="70">
              <a:latin typeface="Arial"/>
              <a:cs typeface="Arial"/>
            </a:endParaRPr>
          </a:p>
          <a:p>
            <a:pPr marL="586740" marR="508000" lvl="1" indent="-280035">
              <a:lnSpc>
                <a:spcPct val="86600"/>
              </a:lnSpc>
              <a:spcBef>
                <a:spcPts val="2020"/>
              </a:spcBef>
              <a:buFont typeface="Arial,Sans-Serif"/>
              <a:buChar char="•"/>
            </a:pPr>
            <a:endParaRPr lang="en-US" sz="2000" spc="70"/>
          </a:p>
          <a:p>
            <a:pPr marL="308610" indent="-270510">
              <a:spcBef>
                <a:spcPts val="2115"/>
              </a:spcBef>
              <a:buFont typeface="Arial,Sans-Serif"/>
              <a:buChar char="•"/>
            </a:pPr>
            <a:endParaRPr lang="en-US" sz="2000" spc="70">
              <a:latin typeface="Arial"/>
              <a:ea typeface="Cambria"/>
              <a:cs typeface="Arial"/>
            </a:endParaRPr>
          </a:p>
          <a:p>
            <a:pPr marL="649605" marR="508000" lvl="1" indent="-342900" algn="l">
              <a:lnSpc>
                <a:spcPct val="86600"/>
              </a:lnSpc>
              <a:spcBef>
                <a:spcPts val="2020"/>
              </a:spcBef>
              <a:buFont typeface="Arial"/>
              <a:buChar char="•"/>
            </a:pPr>
            <a:endParaRPr lang="en-US" sz="2000" spc="70">
              <a:latin typeface="Arial"/>
              <a:ea typeface="Cambria"/>
              <a:cs typeface="Arial"/>
            </a:endParaRPr>
          </a:p>
          <a:p>
            <a:pPr marL="586740" marR="508000" lvl="1" indent="-280035" algn="l">
              <a:lnSpc>
                <a:spcPct val="86600"/>
              </a:lnSpc>
              <a:spcBef>
                <a:spcPts val="2020"/>
              </a:spcBef>
              <a:buFont typeface="Arial"/>
              <a:buChar char="•"/>
            </a:pPr>
            <a:endParaRPr lang="en-US" sz="2000" spc="70">
              <a:latin typeface="Cambria"/>
              <a:ea typeface="Cambria"/>
              <a:cs typeface="Arial"/>
            </a:endParaRPr>
          </a:p>
          <a:p>
            <a:pPr marL="308610" indent="-270510">
              <a:spcBef>
                <a:spcPts val="2115"/>
              </a:spcBef>
              <a:buFont typeface="Arial,Sans-Serif"/>
              <a:buChar char="•"/>
            </a:pPr>
            <a:endParaRPr lang="en-US" sz="2000" spc="70">
              <a:latin typeface="Arial"/>
              <a:cs typeface="Arial"/>
            </a:endParaRPr>
          </a:p>
        </p:txBody>
      </p:sp>
      <p:sp>
        <p:nvSpPr>
          <p:cNvPr id="3" name="object 3" descr="$PPTXTitle">
            <a:extLst>
              <a:ext uri="{FF2B5EF4-FFF2-40B4-BE49-F238E27FC236}">
                <a16:creationId xmlns:a16="http://schemas.microsoft.com/office/drawing/2014/main" id="{6CCE1DF8-76A6-5B0D-9778-CF986C2EE48E}"/>
              </a:ext>
            </a:extLst>
          </p:cNvPr>
          <p:cNvSpPr txBox="1">
            <a:spLocks noGrp="1"/>
          </p:cNvSpPr>
          <p:nvPr>
            <p:ph type="title"/>
          </p:nvPr>
        </p:nvSpPr>
        <p:spPr>
          <a:xfrm>
            <a:off x="305860" y="405932"/>
            <a:ext cx="9690542" cy="704883"/>
          </a:xfrm>
          <a:prstGeom prst="rect">
            <a:avLst/>
          </a:prstGeom>
        </p:spPr>
        <p:txBody>
          <a:bodyPr vert="horz" wrap="square" lIns="0" tIns="88466" rIns="0" bIns="0" rtlCol="0" anchor="t">
            <a:spAutoFit/>
          </a:bodyPr>
          <a:lstStyle/>
          <a:p>
            <a:pPr marL="12700">
              <a:spcBef>
                <a:spcPts val="95"/>
              </a:spcBef>
            </a:pPr>
            <a:r>
              <a:rPr lang="en-US" sz="4000" spc="5"/>
              <a:t>When Splitting Rules Change Meaning</a:t>
            </a:r>
            <a:endParaRPr sz="4000" spc="5"/>
          </a:p>
        </p:txBody>
      </p:sp>
    </p:spTree>
    <p:extLst>
      <p:ext uri="{BB962C8B-B14F-4D97-AF65-F5344CB8AC3E}">
        <p14:creationId xmlns:p14="http://schemas.microsoft.com/office/powerpoint/2010/main" val="381142802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p:cNvSpPr txBox="1">
            <a:spLocks noGrp="1"/>
          </p:cNvSpPr>
          <p:nvPr>
            <p:ph type="title"/>
          </p:nvPr>
        </p:nvSpPr>
        <p:spPr>
          <a:xfrm>
            <a:off x="566836" y="395062"/>
            <a:ext cx="8842375" cy="797216"/>
          </a:xfrm>
          <a:prstGeom prst="rect">
            <a:avLst/>
          </a:prstGeom>
        </p:spPr>
        <p:txBody>
          <a:bodyPr vert="horz" wrap="square" lIns="0" tIns="88466" rIns="0" bIns="0" rtlCol="0" anchor="t">
            <a:spAutoFit/>
          </a:bodyPr>
          <a:lstStyle/>
          <a:p>
            <a:pPr marL="12700">
              <a:spcBef>
                <a:spcPts val="95"/>
              </a:spcBef>
            </a:pPr>
            <a:r>
              <a:rPr spc="-125"/>
              <a:t>Tokenization: </a:t>
            </a:r>
            <a:r>
              <a:rPr lang="en-US" spc="-125"/>
              <a:t>different methods</a:t>
            </a:r>
            <a:endParaRPr spc="-125"/>
          </a:p>
        </p:txBody>
      </p:sp>
      <p:sp>
        <p:nvSpPr>
          <p:cNvPr id="3" name="subtitle"/>
          <p:cNvSpPr txBox="1"/>
          <p:nvPr/>
        </p:nvSpPr>
        <p:spPr>
          <a:xfrm>
            <a:off x="304800" y="1143000"/>
            <a:ext cx="8534400" cy="304800"/>
          </a:xfrm>
          <a:prstGeom prst="rect">
            <a:avLst/>
          </a:prstGeom>
        </p:spPr>
        <p:txBody>
          <a:bodyPr vert="horz" wrap="square" lIns="0" tIns="0" rIns="0" bIns="0" rtlCol="0">
            <a:spAutoFit/>
          </a:bodyPr>
          <a:lstStyle/>
          <a:p>
            <a:pPr algn="ctr">
              <a:lnSpc>
                <a:spcPct val="100000"/>
              </a:lnSpc>
              <a:spcBef>
                <a:spcPts val="0"/>
              </a:spcBef>
            </a:pPr>
            <a:r>
              <a:rPr sz="1800" i="1">
                <a:latin typeface="Arial"/>
                <a:cs typeface="Arial"/>
              </a:rPr>
              <a:t>How should we split text into tokens?</a:t>
            </a:r>
          </a:p>
        </p:txBody>
      </p:sp>
      <p:sp>
        <p:nvSpPr>
          <p:cNvPr id="4" name="col1_header"/>
          <p:cNvSpPr txBox="1"/>
          <p:nvPr/>
        </p:nvSpPr>
        <p:spPr>
          <a:xfrm>
            <a:off x="228600" y="1600200"/>
            <a:ext cx="2667000" cy="482600"/>
          </a:xfrm>
          <a:prstGeom prst="rect">
            <a:avLst/>
          </a:prstGeom>
        </p:spPr>
        <p:txBody>
          <a:bodyPr vert="horz" wrap="square" lIns="0" tIns="0" rIns="0" bIns="0" rtlCol="0">
            <a:spAutoFit/>
          </a:bodyPr>
          <a:lstStyle/>
          <a:p>
            <a:pPr algn="ctr">
              <a:lnSpc>
                <a:spcPct val="100000"/>
              </a:lnSpc>
              <a:spcBef>
                <a:spcPts val="0"/>
              </a:spcBef>
            </a:pPr>
            <a:r>
              <a:rPr sz="2000" b="1">
                <a:latin typeface="Arial"/>
                <a:cs typeface="Arial"/>
              </a:rPr>
              <a:t>Too coarse</a:t>
            </a:r>
          </a:p>
          <a:p>
            <a:pPr algn="ctr">
              <a:lnSpc>
                <a:spcPct val="100000"/>
              </a:lnSpc>
              <a:spcBef>
                <a:spcPts val="0"/>
              </a:spcBef>
            </a:pPr>
            <a:r>
              <a:rPr sz="1600">
                <a:latin typeface="Arial"/>
                <a:cs typeface="Arial"/>
              </a:rPr>
              <a:t>Every word is a token</a:t>
            </a:r>
          </a:p>
        </p:txBody>
      </p:sp>
      <p:sp>
        <p:nvSpPr>
          <p:cNvPr id="5" name="col2_header"/>
          <p:cNvSpPr txBox="1"/>
          <p:nvPr/>
        </p:nvSpPr>
        <p:spPr>
          <a:xfrm>
            <a:off x="3238500" y="1600200"/>
            <a:ext cx="2667000" cy="553998"/>
          </a:xfrm>
          <a:prstGeom prst="rect">
            <a:avLst/>
          </a:prstGeom>
        </p:spPr>
        <p:txBody>
          <a:bodyPr vert="horz" wrap="square" lIns="0" tIns="0" rIns="0" bIns="0" rtlCol="0" anchor="t">
            <a:spAutoFit/>
          </a:bodyPr>
          <a:lstStyle/>
          <a:p>
            <a:pPr algn="ctr"/>
            <a:r>
              <a:rPr lang="en-US" sz="2000" b="1">
                <a:latin typeface="Arial"/>
                <a:cs typeface="Arial"/>
              </a:rPr>
              <a:t>Middle ground</a:t>
            </a:r>
            <a:endParaRPr sz="2000" b="1">
              <a:solidFill>
                <a:srgbClr val="000000"/>
              </a:solidFill>
              <a:latin typeface="Arial"/>
              <a:cs typeface="Arial"/>
            </a:endParaRPr>
          </a:p>
          <a:p>
            <a:pPr algn="ctr">
              <a:lnSpc>
                <a:spcPct val="100000"/>
              </a:lnSpc>
              <a:spcBef>
                <a:spcPts val="0"/>
              </a:spcBef>
            </a:pPr>
            <a:r>
              <a:rPr sz="1600">
                <a:latin typeface="Arial"/>
                <a:cs typeface="Arial"/>
              </a:rPr>
              <a:t>Tokens split words logically</a:t>
            </a:r>
          </a:p>
        </p:txBody>
      </p:sp>
      <p:sp>
        <p:nvSpPr>
          <p:cNvPr id="6" name="col3_header"/>
          <p:cNvSpPr txBox="1"/>
          <p:nvPr/>
        </p:nvSpPr>
        <p:spPr>
          <a:xfrm>
            <a:off x="6248400" y="1600200"/>
            <a:ext cx="2667000" cy="482600"/>
          </a:xfrm>
          <a:prstGeom prst="rect">
            <a:avLst/>
          </a:prstGeom>
        </p:spPr>
        <p:txBody>
          <a:bodyPr vert="horz" wrap="square" lIns="0" tIns="0" rIns="0" bIns="0" rtlCol="0">
            <a:spAutoFit/>
          </a:bodyPr>
          <a:lstStyle/>
          <a:p>
            <a:pPr algn="ctr">
              <a:lnSpc>
                <a:spcPct val="100000"/>
              </a:lnSpc>
              <a:spcBef>
                <a:spcPts val="0"/>
              </a:spcBef>
            </a:pPr>
            <a:r>
              <a:rPr sz="2000" b="1">
                <a:latin typeface="Arial"/>
                <a:cs typeface="Arial"/>
              </a:rPr>
              <a:t>Too fine</a:t>
            </a:r>
          </a:p>
          <a:p>
            <a:pPr algn="ctr">
              <a:lnSpc>
                <a:spcPct val="100000"/>
              </a:lnSpc>
              <a:spcBef>
                <a:spcPts val="0"/>
              </a:spcBef>
            </a:pPr>
            <a:r>
              <a:rPr sz="1600">
                <a:latin typeface="Arial"/>
                <a:cs typeface="Arial"/>
              </a:rPr>
              <a:t>Every character is a token</a:t>
            </a:r>
          </a:p>
        </p:txBody>
      </p:sp>
      <p:sp>
        <p:nvSpPr>
          <p:cNvPr id="7" name="input_label"/>
          <p:cNvSpPr txBox="1"/>
          <p:nvPr/>
        </p:nvSpPr>
        <p:spPr>
          <a:xfrm>
            <a:off x="304800" y="2320800"/>
            <a:ext cx="8534400" cy="304800"/>
          </a:xfrm>
          <a:prstGeom prst="rect">
            <a:avLst/>
          </a:prstGeom>
        </p:spPr>
        <p:txBody>
          <a:bodyPr vert="horz" wrap="square" lIns="0" tIns="0" rIns="0" bIns="0" rtlCol="0">
            <a:spAutoFit/>
          </a:bodyPr>
          <a:lstStyle/>
          <a:p>
            <a:pPr algn="ctr">
              <a:lnSpc>
                <a:spcPct val="100000"/>
              </a:lnSpc>
              <a:spcBef>
                <a:spcPts val="0"/>
              </a:spcBef>
            </a:pPr>
            <a:r>
              <a:rPr sz="1800">
                <a:latin typeface="Arial"/>
                <a:cs typeface="Arial"/>
              </a:rPr>
              <a:t>Input: “doesn’t”</a:t>
            </a:r>
          </a:p>
        </p:txBody>
      </p:sp>
      <p:sp>
        <p:nvSpPr>
          <p:cNvPr id="8" name="arrow1"/>
          <p:cNvSpPr txBox="1"/>
          <p:nvPr/>
        </p:nvSpPr>
        <p:spPr>
          <a:xfrm>
            <a:off x="228600" y="2743200"/>
            <a:ext cx="2667000" cy="304800"/>
          </a:xfrm>
          <a:prstGeom prst="rect">
            <a:avLst/>
          </a:prstGeom>
        </p:spPr>
        <p:txBody>
          <a:bodyPr vert="horz" wrap="square" lIns="0" tIns="0" rIns="0" bIns="0" rtlCol="0">
            <a:spAutoFit/>
          </a:bodyPr>
          <a:lstStyle/>
          <a:p>
            <a:pPr algn="ctr">
              <a:spcBef>
                <a:spcPts val="0"/>
              </a:spcBef>
            </a:pPr>
            <a:r>
              <a:rPr sz="2400">
                <a:latin typeface="Arial"/>
              </a:rPr>
              <a:t>↓</a:t>
            </a:r>
          </a:p>
        </p:txBody>
      </p:sp>
      <p:sp>
        <p:nvSpPr>
          <p:cNvPr id="9" name="arrow2"/>
          <p:cNvSpPr txBox="1"/>
          <p:nvPr/>
        </p:nvSpPr>
        <p:spPr>
          <a:xfrm>
            <a:off x="3238500" y="2743200"/>
            <a:ext cx="2667000" cy="304800"/>
          </a:xfrm>
          <a:prstGeom prst="rect">
            <a:avLst/>
          </a:prstGeom>
        </p:spPr>
        <p:txBody>
          <a:bodyPr vert="horz" wrap="square" lIns="0" tIns="0" rIns="0" bIns="0" rtlCol="0">
            <a:spAutoFit/>
          </a:bodyPr>
          <a:lstStyle/>
          <a:p>
            <a:pPr algn="ctr">
              <a:spcBef>
                <a:spcPts val="0"/>
              </a:spcBef>
            </a:pPr>
            <a:r>
              <a:rPr sz="2400">
                <a:latin typeface="Arial"/>
              </a:rPr>
              <a:t>↓</a:t>
            </a:r>
          </a:p>
        </p:txBody>
      </p:sp>
      <p:sp>
        <p:nvSpPr>
          <p:cNvPr id="10" name="arrow3"/>
          <p:cNvSpPr txBox="1"/>
          <p:nvPr/>
        </p:nvSpPr>
        <p:spPr>
          <a:xfrm>
            <a:off x="6248400" y="2743200"/>
            <a:ext cx="2667000" cy="304800"/>
          </a:xfrm>
          <a:prstGeom prst="rect">
            <a:avLst/>
          </a:prstGeom>
        </p:spPr>
        <p:txBody>
          <a:bodyPr vert="horz" wrap="square" lIns="0" tIns="0" rIns="0" bIns="0" rtlCol="0">
            <a:spAutoFit/>
          </a:bodyPr>
          <a:lstStyle/>
          <a:p>
            <a:pPr algn="ctr">
              <a:spcBef>
                <a:spcPts val="0"/>
              </a:spcBef>
            </a:pPr>
            <a:r>
              <a:rPr sz="2400">
                <a:latin typeface="Arial"/>
              </a:rPr>
              <a:t>↓</a:t>
            </a:r>
          </a:p>
        </p:txBody>
      </p:sp>
      <p:sp>
        <p:nvSpPr>
          <p:cNvPr id="11" name="tok1"/>
          <p:cNvSpPr txBox="1"/>
          <p:nvPr/>
        </p:nvSpPr>
        <p:spPr>
          <a:xfrm>
            <a:off x="533400" y="3124200"/>
            <a:ext cx="2133600" cy="419100"/>
          </a:xfrm>
          <a:prstGeom prst="rect">
            <a:avLst/>
          </a:prstGeom>
          <a:solidFill>
            <a:srgbClr val="1E4D78"/>
          </a:solidFill>
        </p:spPr>
        <p:txBody>
          <a:bodyPr vert="horz" wrap="square" lIns="60960" tIns="45720" rIns="60960" bIns="45720" rtlCol="0" anchor="ctr">
            <a:spAutoFit/>
          </a:bodyPr>
          <a:lstStyle/>
          <a:p>
            <a:pPr algn="ctr">
              <a:spcBef>
                <a:spcPts val="0"/>
              </a:spcBef>
            </a:pPr>
            <a:r>
              <a:rPr sz="2000" b="1">
                <a:solidFill>
                  <a:srgbClr val="FFFFFF"/>
                </a:solidFill>
                <a:latin typeface="Arial"/>
              </a:rPr>
              <a:t>doesn’t</a:t>
            </a:r>
          </a:p>
        </p:txBody>
      </p:sp>
      <p:sp>
        <p:nvSpPr>
          <p:cNvPr id="12" name="tok2a"/>
          <p:cNvSpPr txBox="1"/>
          <p:nvPr/>
        </p:nvSpPr>
        <p:spPr>
          <a:xfrm>
            <a:off x="3276600" y="3124200"/>
            <a:ext cx="1219200" cy="419100"/>
          </a:xfrm>
          <a:prstGeom prst="rect">
            <a:avLst/>
          </a:prstGeom>
          <a:solidFill>
            <a:srgbClr val="1E4D78"/>
          </a:solidFill>
        </p:spPr>
        <p:txBody>
          <a:bodyPr vert="horz" wrap="square" lIns="60960" tIns="45720" rIns="60960" bIns="45720" rtlCol="0" anchor="ctr">
            <a:spAutoFit/>
          </a:bodyPr>
          <a:lstStyle/>
          <a:p>
            <a:pPr algn="ctr">
              <a:spcBef>
                <a:spcPts val="0"/>
              </a:spcBef>
            </a:pPr>
            <a:r>
              <a:rPr sz="2000" b="1">
                <a:solidFill>
                  <a:srgbClr val="FFFFFF"/>
                </a:solidFill>
                <a:latin typeface="Arial"/>
              </a:rPr>
              <a:t>does</a:t>
            </a:r>
          </a:p>
        </p:txBody>
      </p:sp>
      <p:sp>
        <p:nvSpPr>
          <p:cNvPr id="13" name="tok2b"/>
          <p:cNvSpPr txBox="1"/>
          <p:nvPr/>
        </p:nvSpPr>
        <p:spPr>
          <a:xfrm>
            <a:off x="4572000" y="3124200"/>
            <a:ext cx="1219200" cy="419100"/>
          </a:xfrm>
          <a:prstGeom prst="rect">
            <a:avLst/>
          </a:prstGeom>
          <a:solidFill>
            <a:srgbClr val="C00000"/>
          </a:solidFill>
        </p:spPr>
        <p:txBody>
          <a:bodyPr vert="horz" wrap="square" lIns="60960" tIns="45720" rIns="60960" bIns="45720" rtlCol="0" anchor="ctr">
            <a:spAutoFit/>
          </a:bodyPr>
          <a:lstStyle/>
          <a:p>
            <a:pPr algn="ctr">
              <a:spcBef>
                <a:spcPts val="0"/>
              </a:spcBef>
            </a:pPr>
            <a:r>
              <a:rPr sz="2000" b="1">
                <a:solidFill>
                  <a:srgbClr val="FFFFFF"/>
                </a:solidFill>
                <a:latin typeface="Arial"/>
              </a:rPr>
              <a:t>n’t</a:t>
            </a:r>
          </a:p>
        </p:txBody>
      </p:sp>
      <p:sp>
        <p:nvSpPr>
          <p:cNvPr id="14" name="char_d"/>
          <p:cNvSpPr txBox="1"/>
          <p:nvPr/>
        </p:nvSpPr>
        <p:spPr>
          <a:xfrm>
            <a:off x="6172200" y="3124200"/>
            <a:ext cx="355600" cy="419100"/>
          </a:xfrm>
          <a:prstGeom prst="rect">
            <a:avLst/>
          </a:prstGeom>
          <a:solidFill>
            <a:srgbClr val="1E4D78"/>
          </a:solidFill>
        </p:spPr>
        <p:txBody>
          <a:bodyPr vert="horz" wrap="square" lIns="0" tIns="45720" rIns="0" bIns="45720" rtlCol="0" anchor="ctr">
            <a:spAutoFit/>
          </a:bodyPr>
          <a:lstStyle/>
          <a:p>
            <a:pPr algn="ctr">
              <a:spcBef>
                <a:spcPts val="0"/>
              </a:spcBef>
            </a:pPr>
            <a:r>
              <a:rPr sz="1800" b="1">
                <a:solidFill>
                  <a:srgbClr val="FFFFFF"/>
                </a:solidFill>
                <a:latin typeface="Arial"/>
              </a:rPr>
              <a:t>d</a:t>
            </a:r>
          </a:p>
        </p:txBody>
      </p:sp>
      <p:sp>
        <p:nvSpPr>
          <p:cNvPr id="15" name="char_o"/>
          <p:cNvSpPr txBox="1"/>
          <p:nvPr/>
        </p:nvSpPr>
        <p:spPr>
          <a:xfrm>
            <a:off x="6553800" y="3124200"/>
            <a:ext cx="355600" cy="419100"/>
          </a:xfrm>
          <a:prstGeom prst="rect">
            <a:avLst/>
          </a:prstGeom>
          <a:solidFill>
            <a:srgbClr val="E36C09"/>
          </a:solidFill>
        </p:spPr>
        <p:txBody>
          <a:bodyPr vert="horz" wrap="square" lIns="0" tIns="45720" rIns="0" bIns="45720" rtlCol="0" anchor="ctr">
            <a:spAutoFit/>
          </a:bodyPr>
          <a:lstStyle/>
          <a:p>
            <a:pPr algn="ctr">
              <a:spcBef>
                <a:spcPts val="0"/>
              </a:spcBef>
            </a:pPr>
            <a:r>
              <a:rPr sz="1800" b="1">
                <a:solidFill>
                  <a:srgbClr val="FFFFFF"/>
                </a:solidFill>
                <a:latin typeface="Arial"/>
              </a:rPr>
              <a:t>o</a:t>
            </a:r>
          </a:p>
        </p:txBody>
      </p:sp>
      <p:sp>
        <p:nvSpPr>
          <p:cNvPr id="16" name="char_e"/>
          <p:cNvSpPr txBox="1"/>
          <p:nvPr/>
        </p:nvSpPr>
        <p:spPr>
          <a:xfrm>
            <a:off x="6934800" y="3124200"/>
            <a:ext cx="355600" cy="419100"/>
          </a:xfrm>
          <a:prstGeom prst="rect">
            <a:avLst/>
          </a:prstGeom>
          <a:solidFill>
            <a:srgbClr val="375623"/>
          </a:solidFill>
        </p:spPr>
        <p:txBody>
          <a:bodyPr vert="horz" wrap="square" lIns="0" tIns="45720" rIns="0" bIns="45720" rtlCol="0" anchor="ctr">
            <a:spAutoFit/>
          </a:bodyPr>
          <a:lstStyle/>
          <a:p>
            <a:pPr algn="ctr">
              <a:spcBef>
                <a:spcPts val="0"/>
              </a:spcBef>
            </a:pPr>
            <a:r>
              <a:rPr sz="1800" b="1">
                <a:solidFill>
                  <a:srgbClr val="FFFFFF"/>
                </a:solidFill>
                <a:latin typeface="Arial"/>
              </a:rPr>
              <a:t>e</a:t>
            </a:r>
          </a:p>
        </p:txBody>
      </p:sp>
      <p:sp>
        <p:nvSpPr>
          <p:cNvPr id="17" name="char_s"/>
          <p:cNvSpPr txBox="1"/>
          <p:nvPr/>
        </p:nvSpPr>
        <p:spPr>
          <a:xfrm>
            <a:off x="7315800" y="3124200"/>
            <a:ext cx="355600" cy="419100"/>
          </a:xfrm>
          <a:prstGeom prst="rect">
            <a:avLst/>
          </a:prstGeom>
          <a:solidFill>
            <a:srgbClr val="1E4D78"/>
          </a:solidFill>
        </p:spPr>
        <p:txBody>
          <a:bodyPr vert="horz" wrap="square" lIns="0" tIns="45720" rIns="0" bIns="45720" rtlCol="0" anchor="ctr">
            <a:spAutoFit/>
          </a:bodyPr>
          <a:lstStyle/>
          <a:p>
            <a:pPr algn="ctr">
              <a:spcBef>
                <a:spcPts val="0"/>
              </a:spcBef>
            </a:pPr>
            <a:r>
              <a:rPr sz="1800" b="1">
                <a:solidFill>
                  <a:srgbClr val="FFFFFF"/>
                </a:solidFill>
                <a:latin typeface="Arial"/>
              </a:rPr>
              <a:t>s</a:t>
            </a:r>
          </a:p>
        </p:txBody>
      </p:sp>
      <p:sp>
        <p:nvSpPr>
          <p:cNvPr id="18" name="char_n"/>
          <p:cNvSpPr txBox="1"/>
          <p:nvPr/>
        </p:nvSpPr>
        <p:spPr>
          <a:xfrm>
            <a:off x="7696800" y="3124200"/>
            <a:ext cx="355600" cy="419100"/>
          </a:xfrm>
          <a:prstGeom prst="rect">
            <a:avLst/>
          </a:prstGeom>
          <a:solidFill>
            <a:srgbClr val="375623"/>
          </a:solidFill>
        </p:spPr>
        <p:txBody>
          <a:bodyPr vert="horz" wrap="square" lIns="0" tIns="45720" rIns="0" bIns="45720" rtlCol="0" anchor="ctr">
            <a:spAutoFit/>
          </a:bodyPr>
          <a:lstStyle/>
          <a:p>
            <a:pPr algn="ctr">
              <a:spcBef>
                <a:spcPts val="0"/>
              </a:spcBef>
            </a:pPr>
            <a:r>
              <a:rPr sz="1800" b="1">
                <a:solidFill>
                  <a:srgbClr val="FFFFFF"/>
                </a:solidFill>
                <a:latin typeface="Arial"/>
              </a:rPr>
              <a:t>n</a:t>
            </a:r>
          </a:p>
        </p:txBody>
      </p:sp>
      <p:sp>
        <p:nvSpPr>
          <p:cNvPr id="19" name="char_apos"/>
          <p:cNvSpPr txBox="1"/>
          <p:nvPr/>
        </p:nvSpPr>
        <p:spPr>
          <a:xfrm>
            <a:off x="8077800" y="3124200"/>
            <a:ext cx="355600" cy="419100"/>
          </a:xfrm>
          <a:prstGeom prst="rect">
            <a:avLst/>
          </a:prstGeom>
          <a:solidFill>
            <a:srgbClr val="E36C09"/>
          </a:solidFill>
        </p:spPr>
        <p:txBody>
          <a:bodyPr vert="horz" wrap="square" lIns="0" tIns="45720" rIns="0" bIns="45720" rtlCol="0" anchor="ctr">
            <a:spAutoFit/>
          </a:bodyPr>
          <a:lstStyle/>
          <a:p>
            <a:pPr algn="ctr">
              <a:spcBef>
                <a:spcPts val="0"/>
              </a:spcBef>
            </a:pPr>
            <a:r>
              <a:rPr sz="1800" b="1">
                <a:solidFill>
                  <a:srgbClr val="FFFFFF"/>
                </a:solidFill>
                <a:latin typeface="Arial"/>
              </a:rPr>
              <a:t>’</a:t>
            </a:r>
          </a:p>
        </p:txBody>
      </p:sp>
      <p:sp>
        <p:nvSpPr>
          <p:cNvPr id="20" name="char_t"/>
          <p:cNvSpPr txBox="1"/>
          <p:nvPr/>
        </p:nvSpPr>
        <p:spPr>
          <a:xfrm>
            <a:off x="8458800" y="3124200"/>
            <a:ext cx="355600" cy="419100"/>
          </a:xfrm>
          <a:prstGeom prst="rect">
            <a:avLst/>
          </a:prstGeom>
          <a:solidFill>
            <a:srgbClr val="C00000"/>
          </a:solidFill>
        </p:spPr>
        <p:txBody>
          <a:bodyPr vert="horz" wrap="square" lIns="0" tIns="45720" rIns="0" bIns="45720" rtlCol="0" anchor="ctr">
            <a:spAutoFit/>
          </a:bodyPr>
          <a:lstStyle/>
          <a:p>
            <a:pPr algn="ctr">
              <a:spcBef>
                <a:spcPts val="0"/>
              </a:spcBef>
            </a:pPr>
            <a:r>
              <a:rPr sz="1800" b="1">
                <a:solidFill>
                  <a:srgbClr val="FFFFFF"/>
                </a:solidFill>
                <a:latin typeface="Arial"/>
              </a:rPr>
              <a:t>t</a:t>
            </a:r>
          </a:p>
        </p:txBody>
      </p:sp>
      <p:sp>
        <p:nvSpPr>
          <p:cNvPr id="21" name="count1"/>
          <p:cNvSpPr txBox="1"/>
          <p:nvPr/>
        </p:nvSpPr>
        <p:spPr>
          <a:xfrm>
            <a:off x="228600" y="3657600"/>
            <a:ext cx="2667000" cy="304800"/>
          </a:xfrm>
          <a:prstGeom prst="rect">
            <a:avLst/>
          </a:prstGeom>
        </p:spPr>
        <p:txBody>
          <a:bodyPr vert="horz" wrap="square" lIns="0" tIns="0" rIns="0" bIns="0" rtlCol="0">
            <a:spAutoFit/>
          </a:bodyPr>
          <a:lstStyle/>
          <a:p>
            <a:pPr algn="ctr">
              <a:spcBef>
                <a:spcPts val="0"/>
              </a:spcBef>
            </a:pPr>
            <a:r>
              <a:rPr sz="1600" i="1">
                <a:solidFill>
                  <a:srgbClr val="666666"/>
                </a:solidFill>
                <a:latin typeface="Arial"/>
              </a:rPr>
              <a:t>1 token</a:t>
            </a:r>
          </a:p>
        </p:txBody>
      </p:sp>
      <p:sp>
        <p:nvSpPr>
          <p:cNvPr id="22" name="count2"/>
          <p:cNvSpPr txBox="1"/>
          <p:nvPr/>
        </p:nvSpPr>
        <p:spPr>
          <a:xfrm>
            <a:off x="3238500" y="3657600"/>
            <a:ext cx="2667000" cy="304800"/>
          </a:xfrm>
          <a:prstGeom prst="rect">
            <a:avLst/>
          </a:prstGeom>
        </p:spPr>
        <p:txBody>
          <a:bodyPr vert="horz" wrap="square" lIns="0" tIns="0" rIns="0" bIns="0" rtlCol="0">
            <a:spAutoFit/>
          </a:bodyPr>
          <a:lstStyle/>
          <a:p>
            <a:pPr algn="ctr">
              <a:spcBef>
                <a:spcPts val="0"/>
              </a:spcBef>
            </a:pPr>
            <a:r>
              <a:rPr sz="1600" i="1">
                <a:solidFill>
                  <a:srgbClr val="666666"/>
                </a:solidFill>
                <a:latin typeface="Arial"/>
              </a:rPr>
              <a:t>2 tokens</a:t>
            </a:r>
          </a:p>
        </p:txBody>
      </p:sp>
      <p:sp>
        <p:nvSpPr>
          <p:cNvPr id="23" name="count3"/>
          <p:cNvSpPr txBox="1"/>
          <p:nvPr/>
        </p:nvSpPr>
        <p:spPr>
          <a:xfrm>
            <a:off x="6248400" y="3657600"/>
            <a:ext cx="2667000" cy="304800"/>
          </a:xfrm>
          <a:prstGeom prst="rect">
            <a:avLst/>
          </a:prstGeom>
        </p:spPr>
        <p:txBody>
          <a:bodyPr vert="horz" wrap="square" lIns="0" tIns="0" rIns="0" bIns="0" rtlCol="0">
            <a:spAutoFit/>
          </a:bodyPr>
          <a:lstStyle/>
          <a:p>
            <a:pPr algn="ctr">
              <a:spcBef>
                <a:spcPts val="0"/>
              </a:spcBef>
            </a:pPr>
            <a:r>
              <a:rPr sz="1600" i="1">
                <a:solidFill>
                  <a:srgbClr val="666666"/>
                </a:solidFill>
                <a:latin typeface="Arial"/>
              </a:rPr>
              <a:t>7 tokens</a:t>
            </a:r>
          </a:p>
        </p:txBody>
      </p:sp>
      <p:sp>
        <p:nvSpPr>
          <p:cNvPr id="24" name="callout1"/>
          <p:cNvSpPr txBox="1"/>
          <p:nvPr/>
        </p:nvSpPr>
        <p:spPr>
          <a:xfrm>
            <a:off x="228600" y="4267200"/>
            <a:ext cx="2667000" cy="1046440"/>
          </a:xfrm>
          <a:prstGeom prst="rect">
            <a:avLst/>
          </a:prstGeom>
          <a:solidFill>
            <a:schemeClr val="accent1">
              <a:lumMod val="40000"/>
              <a:lumOff val="60000"/>
            </a:schemeClr>
          </a:solidFill>
          <a:ln>
            <a:solidFill>
              <a:srgbClr val="C00000"/>
            </a:solidFill>
          </a:ln>
        </p:spPr>
        <p:txBody>
          <a:bodyPr vert="horz" wrap="square" lIns="91440" tIns="91440" rIns="91440" bIns="91440" rtlCol="0" anchor="t">
            <a:spAutoFit/>
          </a:bodyPr>
          <a:lstStyle/>
          <a:p>
            <a:pPr algn="ctr"/>
            <a:r>
              <a:rPr lang="en-US" sz="1400">
                <a:latin typeface="Arial"/>
                <a:cs typeface="Arial"/>
              </a:rPr>
              <a:t>Can't handle unseen words or represent morphological variants ("run", "runs", "running")</a:t>
            </a:r>
            <a:endParaRPr lang="en-US">
              <a:latin typeface="Arial"/>
              <a:cs typeface="Arial"/>
            </a:endParaRPr>
          </a:p>
        </p:txBody>
      </p:sp>
      <p:sp>
        <p:nvSpPr>
          <p:cNvPr id="25" name="callout2"/>
          <p:cNvSpPr txBox="1"/>
          <p:nvPr/>
        </p:nvSpPr>
        <p:spPr>
          <a:xfrm>
            <a:off x="3238500" y="4267200"/>
            <a:ext cx="2667000" cy="830997"/>
          </a:xfrm>
          <a:prstGeom prst="rect">
            <a:avLst/>
          </a:prstGeom>
          <a:solidFill>
            <a:srgbClr val="E2EFDA"/>
          </a:solidFill>
          <a:ln>
            <a:solidFill>
              <a:srgbClr val="375623"/>
            </a:solidFill>
          </a:ln>
        </p:spPr>
        <p:txBody>
          <a:bodyPr vert="horz" wrap="square" lIns="91440" tIns="91440" rIns="91440" bIns="91440" rtlCol="0" anchor="t">
            <a:spAutoFit/>
          </a:bodyPr>
          <a:lstStyle/>
          <a:p>
            <a:pPr algn="ctr"/>
            <a:r>
              <a:rPr lang="en-US" sz="1400">
                <a:latin typeface="Arial"/>
                <a:cs typeface="Arial"/>
              </a:rPr>
              <a:t>Handles unknowns, captures morphology, and keeps vocabulary size manageable</a:t>
            </a:r>
            <a:endParaRPr lang="en-US">
              <a:latin typeface="Arial"/>
              <a:cs typeface="Arial"/>
            </a:endParaRPr>
          </a:p>
        </p:txBody>
      </p:sp>
      <p:sp>
        <p:nvSpPr>
          <p:cNvPr id="26" name="callout3"/>
          <p:cNvSpPr txBox="1"/>
          <p:nvPr/>
        </p:nvSpPr>
        <p:spPr>
          <a:xfrm>
            <a:off x="6248400" y="4267200"/>
            <a:ext cx="2667000" cy="830997"/>
          </a:xfrm>
          <a:prstGeom prst="rect">
            <a:avLst/>
          </a:prstGeom>
          <a:solidFill>
            <a:schemeClr val="accent1">
              <a:lumMod val="40000"/>
              <a:lumOff val="60000"/>
            </a:schemeClr>
          </a:solidFill>
          <a:ln>
            <a:solidFill>
              <a:srgbClr val="C00000"/>
            </a:solidFill>
          </a:ln>
        </p:spPr>
        <p:txBody>
          <a:bodyPr vert="horz" wrap="square" lIns="91440" tIns="91440" rIns="91440" bIns="91440" rtlCol="0" anchor="t">
            <a:spAutoFit/>
          </a:bodyPr>
          <a:lstStyle/>
          <a:p>
            <a:pPr algn="ctr"/>
            <a:r>
              <a:rPr lang="en-US" sz="1400">
                <a:latin typeface="Arial"/>
                <a:cs typeface="Arial"/>
              </a:rPr>
              <a:t>Very long sequences. No linguistic structure. Model must learn meaning from scratch.</a:t>
            </a:r>
            <a:endParaRPr lang="en-US">
              <a:latin typeface="Arial"/>
              <a:cs typeface="Arial"/>
            </a:endParaRPr>
          </a:p>
        </p:txBody>
      </p:sp>
      <p:sp>
        <p:nvSpPr>
          <p:cNvPr id="27" name="div1"/>
          <p:cNvSpPr txBox="1"/>
          <p:nvPr/>
        </p:nvSpPr>
        <p:spPr>
          <a:xfrm>
            <a:off x="3048000" y="1524000"/>
            <a:ext cx="38100" cy="4838400"/>
          </a:xfrm>
          <a:prstGeom prst="rect">
            <a:avLst/>
          </a:prstGeom>
          <a:solidFill>
            <a:srgbClr val="CCCCCC"/>
          </a:solidFill>
        </p:spPr>
        <p:txBody>
          <a:bodyPr/>
          <a:lstStyle/>
          <a:p>
            <a:endParaRPr/>
          </a:p>
        </p:txBody>
      </p:sp>
      <p:sp>
        <p:nvSpPr>
          <p:cNvPr id="28" name="div2"/>
          <p:cNvSpPr txBox="1"/>
          <p:nvPr/>
        </p:nvSpPr>
        <p:spPr>
          <a:xfrm>
            <a:off x="6057900" y="1524000"/>
            <a:ext cx="38100" cy="4838400"/>
          </a:xfrm>
          <a:prstGeom prst="rect">
            <a:avLst/>
          </a:prstGeom>
          <a:solidFill>
            <a:srgbClr val="CCCCCC"/>
          </a:solidFill>
        </p:spPr>
        <p:txBody>
          <a:bodyPr/>
          <a:lstStyle/>
          <a:p>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txBox="1">
            <a:spLocks noGrp="1"/>
          </p:cNvSpPr>
          <p:nvPr>
            <p:ph type="sldNum" sz="quarter" idx="7"/>
          </p:nvPr>
        </p:nvSpPr>
        <p:spPr>
          <a:prstGeom prst="rect">
            <a:avLst/>
          </a:prstGeom>
        </p:spPr>
        <p:txBody>
          <a:bodyPr vert="horz" wrap="square" lIns="0" tIns="6985" rIns="0" bIns="0" rtlCol="0">
            <a:spAutoFit/>
          </a:bodyPr>
          <a:lstStyle/>
          <a:p>
            <a:pPr marL="38100">
              <a:lnSpc>
                <a:spcPct val="100000"/>
              </a:lnSpc>
              <a:spcBef>
                <a:spcPts val="55"/>
              </a:spcBef>
            </a:pPr>
            <a:fld id="{81D60167-4931-47E6-BA6A-407CBD079E47}" type="slidenum">
              <a:rPr spc="-25" dirty="0"/>
              <a:t>8</a:t>
            </a:fld>
            <a:endParaRPr spc="-25"/>
          </a:p>
        </p:txBody>
      </p:sp>
      <p:sp>
        <p:nvSpPr>
          <p:cNvPr id="2" name="object 2"/>
          <p:cNvSpPr txBox="1"/>
          <p:nvPr/>
        </p:nvSpPr>
        <p:spPr>
          <a:xfrm>
            <a:off x="566836" y="1743517"/>
            <a:ext cx="8923020" cy="5264261"/>
          </a:xfrm>
          <a:prstGeom prst="rect">
            <a:avLst/>
          </a:prstGeom>
        </p:spPr>
        <p:txBody>
          <a:bodyPr vert="horz" wrap="square" lIns="0" tIns="52069" rIns="0" bIns="0" rtlCol="0" anchor="t">
            <a:spAutoFit/>
          </a:bodyPr>
          <a:lstStyle/>
          <a:p>
            <a:pPr marL="304800" marR="5080" indent="-292735" algn="just">
              <a:lnSpc>
                <a:spcPts val="2510"/>
              </a:lnSpc>
              <a:spcBef>
                <a:spcPts val="409"/>
              </a:spcBef>
              <a:buSzPct val="123913"/>
              <a:buChar char="•"/>
              <a:tabLst>
                <a:tab pos="307340" algn="l"/>
              </a:tabLst>
            </a:pPr>
            <a:r>
              <a:rPr sz="2300" spc="-30">
                <a:latin typeface="Arial"/>
                <a:cs typeface="Arial"/>
              </a:rPr>
              <a:t>Word-</a:t>
            </a:r>
            <a:r>
              <a:rPr sz="2300">
                <a:latin typeface="Arial"/>
                <a:cs typeface="Arial"/>
              </a:rPr>
              <a:t>level</a:t>
            </a:r>
            <a:r>
              <a:rPr sz="2300" spc="130">
                <a:latin typeface="Arial"/>
                <a:cs typeface="Arial"/>
              </a:rPr>
              <a:t> </a:t>
            </a:r>
            <a:r>
              <a:rPr sz="2300">
                <a:latin typeface="Arial"/>
                <a:cs typeface="Arial"/>
              </a:rPr>
              <a:t>tokenization</a:t>
            </a:r>
            <a:r>
              <a:rPr sz="2300" spc="130">
                <a:latin typeface="Arial"/>
                <a:cs typeface="Arial"/>
              </a:rPr>
              <a:t> </a:t>
            </a:r>
            <a:r>
              <a:rPr sz="2300">
                <a:latin typeface="Arial"/>
                <a:cs typeface="Arial"/>
              </a:rPr>
              <a:t>treats</a:t>
            </a:r>
            <a:r>
              <a:rPr sz="2300" spc="135">
                <a:latin typeface="Arial"/>
                <a:cs typeface="Arial"/>
              </a:rPr>
              <a:t> </a:t>
            </a:r>
            <a:r>
              <a:rPr sz="2300">
                <a:latin typeface="Arial"/>
                <a:cs typeface="Arial"/>
              </a:rPr>
              <a:t>diﬀerent</a:t>
            </a:r>
            <a:r>
              <a:rPr sz="2300" spc="130">
                <a:latin typeface="Arial"/>
                <a:cs typeface="Arial"/>
              </a:rPr>
              <a:t> </a:t>
            </a:r>
            <a:r>
              <a:rPr sz="2300">
                <a:latin typeface="Arial"/>
                <a:cs typeface="Arial"/>
              </a:rPr>
              <a:t>forms</a:t>
            </a:r>
            <a:r>
              <a:rPr sz="2300" spc="135">
                <a:latin typeface="Arial"/>
                <a:cs typeface="Arial"/>
              </a:rPr>
              <a:t> </a:t>
            </a:r>
            <a:r>
              <a:rPr sz="2300">
                <a:latin typeface="Arial"/>
                <a:cs typeface="Arial"/>
              </a:rPr>
              <a:t>of</a:t>
            </a:r>
            <a:r>
              <a:rPr sz="2300" spc="130">
                <a:latin typeface="Arial"/>
                <a:cs typeface="Arial"/>
              </a:rPr>
              <a:t> </a:t>
            </a:r>
            <a:r>
              <a:rPr sz="2300">
                <a:latin typeface="Arial"/>
                <a:cs typeface="Arial"/>
              </a:rPr>
              <a:t>the</a:t>
            </a:r>
            <a:r>
              <a:rPr sz="2300" spc="135">
                <a:latin typeface="Arial"/>
                <a:cs typeface="Arial"/>
              </a:rPr>
              <a:t> </a:t>
            </a:r>
            <a:r>
              <a:rPr sz="2300">
                <a:latin typeface="Arial"/>
                <a:cs typeface="Arial"/>
              </a:rPr>
              <a:t>same</a:t>
            </a:r>
            <a:r>
              <a:rPr sz="2300" spc="130">
                <a:latin typeface="Arial"/>
                <a:cs typeface="Arial"/>
              </a:rPr>
              <a:t> </a:t>
            </a:r>
            <a:r>
              <a:rPr sz="2300">
                <a:latin typeface="Arial"/>
                <a:cs typeface="Arial"/>
              </a:rPr>
              <a:t>root</a:t>
            </a:r>
            <a:r>
              <a:rPr sz="2300" spc="135">
                <a:latin typeface="Arial"/>
                <a:cs typeface="Arial"/>
              </a:rPr>
              <a:t> </a:t>
            </a:r>
            <a:r>
              <a:rPr sz="2300" spc="-25">
                <a:latin typeface="Arial"/>
                <a:cs typeface="Arial"/>
              </a:rPr>
              <a:t>as 	</a:t>
            </a:r>
            <a:r>
              <a:rPr lang="en-US" sz="2300">
                <a:latin typeface="Arial"/>
                <a:cs typeface="Arial"/>
              </a:rPr>
              <a:t>completely separate</a:t>
            </a:r>
            <a:r>
              <a:rPr sz="2300" spc="60">
                <a:latin typeface="Arial"/>
                <a:cs typeface="Arial"/>
              </a:rPr>
              <a:t> </a:t>
            </a:r>
            <a:r>
              <a:rPr sz="2300">
                <a:latin typeface="Arial"/>
                <a:cs typeface="Arial"/>
              </a:rPr>
              <a:t>(e.g.,</a:t>
            </a:r>
            <a:r>
              <a:rPr sz="2300" spc="55">
                <a:latin typeface="Arial"/>
                <a:cs typeface="Arial"/>
              </a:rPr>
              <a:t> </a:t>
            </a:r>
            <a:r>
              <a:rPr sz="2300" spc="80">
                <a:latin typeface="Arial"/>
                <a:cs typeface="Arial"/>
              </a:rPr>
              <a:t>“</a:t>
            </a:r>
            <a:r>
              <a:rPr lang="en-US" sz="2300" spc="80">
                <a:latin typeface="Arial"/>
                <a:cs typeface="Arial"/>
              </a:rPr>
              <a:t>run</a:t>
            </a:r>
            <a:r>
              <a:rPr sz="2300" spc="80">
                <a:latin typeface="Arial"/>
                <a:cs typeface="Arial"/>
              </a:rPr>
              <a:t>”,</a:t>
            </a:r>
            <a:r>
              <a:rPr sz="2300" spc="60">
                <a:latin typeface="Arial"/>
                <a:cs typeface="Arial"/>
              </a:rPr>
              <a:t> </a:t>
            </a:r>
            <a:r>
              <a:rPr sz="2300" spc="65">
                <a:latin typeface="Arial"/>
                <a:cs typeface="Arial"/>
              </a:rPr>
              <a:t>“</a:t>
            </a:r>
            <a:r>
              <a:rPr lang="en-US" sz="2300" spc="65">
                <a:latin typeface="Arial"/>
                <a:cs typeface="Arial"/>
              </a:rPr>
              <a:t>runs</a:t>
            </a:r>
            <a:r>
              <a:rPr sz="2300" spc="65">
                <a:latin typeface="Arial"/>
                <a:cs typeface="Arial"/>
              </a:rPr>
              <a:t>”,</a:t>
            </a:r>
            <a:r>
              <a:rPr sz="2300" spc="55">
                <a:latin typeface="Arial"/>
                <a:cs typeface="Arial"/>
              </a:rPr>
              <a:t> </a:t>
            </a:r>
            <a:r>
              <a:rPr sz="2300" spc="70">
                <a:latin typeface="Arial"/>
                <a:cs typeface="Arial"/>
              </a:rPr>
              <a:t>“</a:t>
            </a:r>
            <a:r>
              <a:rPr lang="en-US" sz="2300" spc="70">
                <a:latin typeface="Arial"/>
                <a:cs typeface="Arial"/>
              </a:rPr>
              <a:t>runner</a:t>
            </a:r>
            <a:r>
              <a:rPr sz="2300" spc="70">
                <a:latin typeface="Arial"/>
                <a:cs typeface="Arial"/>
              </a:rPr>
              <a:t>”,</a:t>
            </a:r>
            <a:r>
              <a:rPr sz="2300" spc="60">
                <a:latin typeface="Arial"/>
                <a:cs typeface="Arial"/>
              </a:rPr>
              <a:t> </a:t>
            </a:r>
            <a:r>
              <a:rPr sz="2300" spc="50">
                <a:latin typeface="Arial"/>
                <a:cs typeface="Arial"/>
              </a:rPr>
              <a:t>“</a:t>
            </a:r>
            <a:r>
              <a:rPr lang="en-US" sz="2300" spc="50">
                <a:latin typeface="Arial"/>
                <a:cs typeface="Arial"/>
              </a:rPr>
              <a:t>running</a:t>
            </a:r>
            <a:r>
              <a:rPr sz="2300" spc="50">
                <a:latin typeface="Arial"/>
                <a:cs typeface="Arial"/>
              </a:rPr>
              <a:t>”, 	</a:t>
            </a:r>
            <a:r>
              <a:rPr sz="2300" spc="-20">
                <a:latin typeface="Arial"/>
                <a:cs typeface="Arial"/>
              </a:rPr>
              <a:t>etc</a:t>
            </a:r>
            <a:r>
              <a:rPr lang="en-US" sz="2300" spc="-20">
                <a:latin typeface="Arial"/>
                <a:cs typeface="Arial"/>
              </a:rPr>
              <a:t>.)</a:t>
            </a:r>
            <a:endParaRPr sz="2300">
              <a:latin typeface="Arial"/>
              <a:cs typeface="Arial"/>
            </a:endParaRPr>
          </a:p>
          <a:p>
            <a:pPr marL="306705" indent="-294005">
              <a:spcBef>
                <a:spcPts val="2190"/>
              </a:spcBef>
              <a:buSzPct val="123913"/>
              <a:buChar char="•"/>
              <a:tabLst>
                <a:tab pos="306705" algn="l"/>
              </a:tabLst>
            </a:pPr>
            <a:r>
              <a:rPr sz="2300">
                <a:latin typeface="Arial"/>
                <a:cs typeface="Arial"/>
              </a:rPr>
              <a:t>This</a:t>
            </a:r>
            <a:r>
              <a:rPr sz="2300" spc="20">
                <a:latin typeface="Arial"/>
                <a:cs typeface="Arial"/>
              </a:rPr>
              <a:t> </a:t>
            </a:r>
            <a:r>
              <a:rPr sz="2300">
                <a:latin typeface="Arial"/>
                <a:cs typeface="Arial"/>
              </a:rPr>
              <a:t>means</a:t>
            </a:r>
            <a:r>
              <a:rPr sz="2300" spc="25">
                <a:latin typeface="Arial"/>
                <a:cs typeface="Arial"/>
              </a:rPr>
              <a:t> </a:t>
            </a:r>
            <a:r>
              <a:rPr sz="2300">
                <a:latin typeface="Arial"/>
                <a:cs typeface="Arial"/>
              </a:rPr>
              <a:t>separate</a:t>
            </a:r>
            <a:r>
              <a:rPr sz="2300" spc="25">
                <a:latin typeface="Arial"/>
                <a:cs typeface="Arial"/>
              </a:rPr>
              <a:t> </a:t>
            </a:r>
            <a:r>
              <a:rPr sz="2300">
                <a:latin typeface="Arial"/>
                <a:cs typeface="Arial"/>
              </a:rPr>
              <a:t>features</a:t>
            </a:r>
            <a:r>
              <a:rPr sz="2300" spc="25">
                <a:latin typeface="Arial"/>
                <a:cs typeface="Arial"/>
              </a:rPr>
              <a:t> </a:t>
            </a:r>
            <a:r>
              <a:rPr sz="2300">
                <a:latin typeface="Arial"/>
                <a:cs typeface="Arial"/>
              </a:rPr>
              <a:t>or</a:t>
            </a:r>
            <a:r>
              <a:rPr sz="2300" spc="25">
                <a:latin typeface="Arial"/>
                <a:cs typeface="Arial"/>
              </a:rPr>
              <a:t> </a:t>
            </a:r>
            <a:r>
              <a:rPr sz="2300" spc="-10">
                <a:latin typeface="Arial"/>
                <a:cs typeface="Arial"/>
              </a:rPr>
              <a:t>embeddings</a:t>
            </a:r>
            <a:r>
              <a:rPr lang="en-US" sz="2300" spc="-10">
                <a:latin typeface="Arial"/>
                <a:cs typeface="Arial"/>
              </a:rPr>
              <a:t>. English has ~170,000 words, many only seen once in training data</a:t>
            </a:r>
            <a:endParaRPr sz="2300">
              <a:latin typeface="Arial"/>
              <a:cs typeface="Arial"/>
            </a:endParaRPr>
          </a:p>
          <a:p>
            <a:pPr marL="306705" indent="-294005">
              <a:spcBef>
                <a:spcPts val="2230"/>
              </a:spcBef>
              <a:buSzPct val="123913"/>
              <a:buChar char="•"/>
              <a:tabLst>
                <a:tab pos="306705" algn="l"/>
              </a:tabLst>
            </a:pPr>
            <a:r>
              <a:rPr lang="en-US" sz="2300">
                <a:latin typeface="Arial"/>
                <a:cs typeface="Arial"/>
              </a:rPr>
              <a:t>Rare words (e.g., "</a:t>
            </a:r>
            <a:r>
              <a:rPr lang="en-US" sz="2300" err="1">
                <a:latin typeface="Arial"/>
                <a:cs typeface="Arial"/>
              </a:rPr>
              <a:t>unhospitalized</a:t>
            </a:r>
            <a:r>
              <a:rPr lang="en-US" sz="2300">
                <a:latin typeface="Arial"/>
                <a:cs typeface="Arial"/>
              </a:rPr>
              <a:t>") appear 1-2 times, so embedding doesn't learn anything meaningful</a:t>
            </a:r>
            <a:endParaRPr sz="2300" spc="-10">
              <a:latin typeface="Arial"/>
              <a:cs typeface="Arial"/>
            </a:endParaRPr>
          </a:p>
          <a:p>
            <a:pPr marL="306705" indent="-294005">
              <a:spcBef>
                <a:spcPts val="2225"/>
              </a:spcBef>
              <a:buSzPct val="123913"/>
              <a:buChar char="•"/>
              <a:tabLst>
                <a:tab pos="306705" algn="l"/>
              </a:tabLst>
            </a:pPr>
            <a:r>
              <a:rPr lang="en-US" sz="2300" spc="-10">
                <a:latin typeface="Arial"/>
                <a:cs typeface="Arial"/>
              </a:rPr>
              <a:t>Pre-trained embeddings (e.g., word2vec, </a:t>
            </a:r>
            <a:r>
              <a:rPr lang="en-US" sz="2300" spc="-10" err="1">
                <a:latin typeface="Arial"/>
                <a:cs typeface="Arial"/>
              </a:rPr>
              <a:t>GloVe</a:t>
            </a:r>
            <a:r>
              <a:rPr lang="en-US" sz="2300" spc="-10">
                <a:latin typeface="Arial"/>
                <a:cs typeface="Arial"/>
              </a:rPr>
              <a:t>) partially help, so “run” and “running” end up nearby in vector space. Although the model still stores and updates them independently</a:t>
            </a:r>
            <a:endParaRPr lang="en-US" sz="2300">
              <a:latin typeface="Arial"/>
              <a:cs typeface="Arial"/>
            </a:endParaRPr>
          </a:p>
          <a:p>
            <a:pPr marL="601980" lvl="1" indent="-294640">
              <a:spcBef>
                <a:spcPts val="1680"/>
              </a:spcBef>
              <a:buSzPct val="123913"/>
              <a:buChar char="-"/>
              <a:tabLst>
                <a:tab pos="601980" algn="l"/>
              </a:tabLst>
            </a:pPr>
            <a:r>
              <a:rPr lang="en-US" sz="2300" spc="-20">
                <a:latin typeface="Arial"/>
                <a:cs typeface="Arial"/>
              </a:rPr>
              <a:t>OOV words are still unrepresentable, and low-frequency words stay poorly estimated</a:t>
            </a:r>
            <a:endParaRPr sz="2300">
              <a:latin typeface="Arial"/>
              <a:cs typeface="Arial"/>
            </a:endParaRPr>
          </a:p>
        </p:txBody>
      </p:sp>
      <p:sp>
        <p:nvSpPr>
          <p:cNvPr id="3" name="object 3" descr="$PPTXTitle"/>
          <p:cNvSpPr txBox="1">
            <a:spLocks noGrp="1"/>
          </p:cNvSpPr>
          <p:nvPr>
            <p:ph type="title"/>
          </p:nvPr>
        </p:nvSpPr>
        <p:spPr>
          <a:xfrm>
            <a:off x="566836" y="395062"/>
            <a:ext cx="8842375" cy="797013"/>
          </a:xfrm>
          <a:prstGeom prst="rect">
            <a:avLst/>
          </a:prstGeom>
        </p:spPr>
        <p:txBody>
          <a:bodyPr vert="horz" wrap="square" lIns="0" tIns="88265" rIns="0" bIns="0" rtlCol="0" anchor="t">
            <a:spAutoFit/>
          </a:bodyPr>
          <a:lstStyle/>
          <a:p>
            <a:pPr marL="12700">
              <a:spcBef>
                <a:spcPts val="695"/>
              </a:spcBef>
            </a:pPr>
            <a:r>
              <a:rPr lang="en-US" spc="5"/>
              <a:t>Word-level Tokenization</a:t>
            </a:r>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txBox="1">
            <a:spLocks noGrp="1"/>
          </p:cNvSpPr>
          <p:nvPr>
            <p:ph type="sldNum" sz="quarter" idx="7"/>
          </p:nvPr>
        </p:nvSpPr>
        <p:spPr>
          <a:prstGeom prst="rect">
            <a:avLst/>
          </a:prstGeom>
        </p:spPr>
        <p:txBody>
          <a:bodyPr vert="horz" wrap="square" lIns="0" tIns="6985" rIns="0" bIns="0" rtlCol="0">
            <a:spAutoFit/>
          </a:bodyPr>
          <a:lstStyle/>
          <a:p>
            <a:pPr marL="38100">
              <a:lnSpc>
                <a:spcPct val="100000"/>
              </a:lnSpc>
              <a:spcBef>
                <a:spcPts val="55"/>
              </a:spcBef>
            </a:pPr>
            <a:fld id="{81D60167-4931-47E6-BA6A-407CBD079E47}" type="slidenum">
              <a:rPr spc="-25" dirty="0"/>
              <a:t>9</a:t>
            </a:fld>
            <a:endParaRPr spc="-25"/>
          </a:p>
        </p:txBody>
      </p:sp>
      <p:sp>
        <p:nvSpPr>
          <p:cNvPr id="2" name="object 2"/>
          <p:cNvSpPr txBox="1"/>
          <p:nvPr/>
        </p:nvSpPr>
        <p:spPr>
          <a:xfrm>
            <a:off x="566836" y="2417487"/>
            <a:ext cx="8446770" cy="3522758"/>
          </a:xfrm>
          <a:prstGeom prst="rect">
            <a:avLst/>
          </a:prstGeom>
        </p:spPr>
        <p:txBody>
          <a:bodyPr vert="horz" wrap="square" lIns="0" tIns="52069" rIns="0" bIns="0" rtlCol="0" anchor="t">
            <a:spAutoFit/>
          </a:bodyPr>
          <a:lstStyle/>
          <a:p>
            <a:pPr marL="307340" marR="5080" indent="-295275">
              <a:lnSpc>
                <a:spcPts val="2510"/>
              </a:lnSpc>
              <a:spcBef>
                <a:spcPts val="409"/>
              </a:spcBef>
              <a:buSzPct val="123913"/>
              <a:buChar char="•"/>
              <a:tabLst>
                <a:tab pos="307340" algn="l"/>
              </a:tabLst>
            </a:pPr>
            <a:r>
              <a:rPr lang="en-US" sz="2300">
                <a:latin typeface="Arial"/>
                <a:cs typeface="Arial"/>
              </a:rPr>
              <a:t>What happens when the model encounters a word not seen during training?</a:t>
            </a:r>
            <a:endParaRPr sz="2300" spc="-20">
              <a:latin typeface="Arial"/>
              <a:cs typeface="Arial"/>
            </a:endParaRPr>
          </a:p>
          <a:p>
            <a:pPr marL="601980" lvl="1" indent="-294640">
              <a:spcBef>
                <a:spcPts val="1639"/>
              </a:spcBef>
              <a:buSzPct val="123913"/>
              <a:buChar char="-"/>
              <a:tabLst>
                <a:tab pos="601980" algn="l"/>
              </a:tabLst>
            </a:pPr>
            <a:r>
              <a:rPr sz="2300">
                <a:latin typeface="Arial"/>
                <a:cs typeface="Arial"/>
              </a:rPr>
              <a:t>With</a:t>
            </a:r>
            <a:r>
              <a:rPr sz="2300" spc="125">
                <a:latin typeface="Arial"/>
                <a:cs typeface="Arial"/>
              </a:rPr>
              <a:t> </a:t>
            </a:r>
            <a:r>
              <a:rPr sz="2300">
                <a:latin typeface="Arial"/>
                <a:cs typeface="Arial"/>
              </a:rPr>
              <a:t>word-level</a:t>
            </a:r>
            <a:r>
              <a:rPr sz="2300" spc="125">
                <a:latin typeface="Arial"/>
                <a:cs typeface="Arial"/>
              </a:rPr>
              <a:t> </a:t>
            </a:r>
            <a:r>
              <a:rPr lang="en-US" sz="2300">
                <a:latin typeface="Arial"/>
                <a:cs typeface="Arial"/>
              </a:rPr>
              <a:t>tokenization, we could assign it </a:t>
            </a:r>
            <a:r>
              <a:rPr lang="en-US" sz="2300" spc="65">
                <a:latin typeface="Arial"/>
                <a:cs typeface="Arial"/>
              </a:rPr>
              <a:t>to</a:t>
            </a:r>
            <a:r>
              <a:rPr sz="2300" spc="85">
                <a:latin typeface="Arial"/>
                <a:cs typeface="Arial"/>
              </a:rPr>
              <a:t> </a:t>
            </a:r>
            <a:r>
              <a:rPr sz="2300">
                <a:latin typeface="Arial"/>
                <a:cs typeface="Arial"/>
              </a:rPr>
              <a:t>a</a:t>
            </a:r>
            <a:r>
              <a:rPr sz="2300" spc="90">
                <a:latin typeface="Arial"/>
                <a:cs typeface="Arial"/>
              </a:rPr>
              <a:t> </a:t>
            </a:r>
            <a:r>
              <a:rPr sz="2300">
                <a:latin typeface="Arial"/>
                <a:cs typeface="Arial"/>
              </a:rPr>
              <a:t>special</a:t>
            </a:r>
            <a:r>
              <a:rPr sz="2300" spc="85">
                <a:latin typeface="Arial"/>
                <a:cs typeface="Arial"/>
              </a:rPr>
              <a:t> </a:t>
            </a:r>
            <a:r>
              <a:rPr sz="2300">
                <a:latin typeface="Arial"/>
                <a:cs typeface="Arial"/>
              </a:rPr>
              <a:t>&lt;UNK&gt;</a:t>
            </a:r>
            <a:r>
              <a:rPr sz="2300" spc="90">
                <a:latin typeface="Arial"/>
                <a:cs typeface="Arial"/>
              </a:rPr>
              <a:t> </a:t>
            </a:r>
            <a:r>
              <a:rPr sz="2300">
                <a:latin typeface="Arial"/>
                <a:cs typeface="Arial"/>
              </a:rPr>
              <a:t>token</a:t>
            </a:r>
            <a:endParaRPr sz="2300" spc="-10">
              <a:latin typeface="Arial"/>
              <a:cs typeface="Arial"/>
            </a:endParaRPr>
          </a:p>
          <a:p>
            <a:pPr marL="895985" lvl="2" indent="-374650">
              <a:spcBef>
                <a:spcPts val="2225"/>
              </a:spcBef>
              <a:buSzPct val="123913"/>
              <a:buChar char="‣"/>
              <a:tabLst>
                <a:tab pos="896619" algn="l"/>
              </a:tabLst>
            </a:pPr>
            <a:r>
              <a:rPr lang="en-US" sz="2300">
                <a:latin typeface="Arial"/>
                <a:cs typeface="Arial"/>
              </a:rPr>
              <a:t>We would then</a:t>
            </a:r>
            <a:r>
              <a:rPr sz="2300" spc="85">
                <a:latin typeface="Arial"/>
                <a:cs typeface="Arial"/>
              </a:rPr>
              <a:t> </a:t>
            </a:r>
            <a:r>
              <a:rPr sz="2300">
                <a:latin typeface="Arial"/>
                <a:cs typeface="Arial"/>
              </a:rPr>
              <a:t>use</a:t>
            </a:r>
            <a:r>
              <a:rPr lang="en-US" sz="2300" spc="85">
                <a:latin typeface="Arial"/>
                <a:cs typeface="Arial"/>
              </a:rPr>
              <a:t> </a:t>
            </a:r>
            <a:r>
              <a:rPr sz="2300">
                <a:latin typeface="Arial"/>
                <a:cs typeface="Arial"/>
              </a:rPr>
              <a:t>UNK</a:t>
            </a:r>
            <a:r>
              <a:rPr sz="2300" spc="85">
                <a:latin typeface="Arial"/>
                <a:cs typeface="Arial"/>
              </a:rPr>
              <a:t> </a:t>
            </a:r>
            <a:r>
              <a:rPr sz="2300">
                <a:latin typeface="Arial"/>
                <a:cs typeface="Arial"/>
              </a:rPr>
              <a:t>during</a:t>
            </a:r>
            <a:r>
              <a:rPr sz="2300" spc="80">
                <a:latin typeface="Arial"/>
                <a:cs typeface="Arial"/>
              </a:rPr>
              <a:t> </a:t>
            </a:r>
            <a:r>
              <a:rPr sz="2300">
                <a:latin typeface="Arial"/>
                <a:cs typeface="Arial"/>
              </a:rPr>
              <a:t>training</a:t>
            </a:r>
            <a:r>
              <a:rPr lang="en-US" sz="2300" spc="85">
                <a:latin typeface="Arial"/>
                <a:cs typeface="Arial"/>
              </a:rPr>
              <a:t> so that the model can learn a generalized representation for rare or unseen tokens</a:t>
            </a:r>
            <a:r>
              <a:rPr lang="en-US" sz="2300">
                <a:latin typeface="Arial"/>
                <a:cs typeface="Arial"/>
              </a:rPr>
              <a:t> </a:t>
            </a:r>
            <a:endParaRPr sz="2300" spc="-20">
              <a:latin typeface="Arial"/>
              <a:cs typeface="Arial"/>
            </a:endParaRPr>
          </a:p>
          <a:p>
            <a:pPr marL="601980" lvl="1" indent="-294640">
              <a:spcBef>
                <a:spcPts val="1680"/>
              </a:spcBef>
              <a:buSzPct val="123913"/>
              <a:buChar char="-"/>
              <a:tabLst>
                <a:tab pos="601980" algn="l"/>
              </a:tabLst>
            </a:pPr>
            <a:r>
              <a:rPr sz="2300">
                <a:latin typeface="Arial"/>
                <a:cs typeface="Arial"/>
              </a:rPr>
              <a:t>Why</a:t>
            </a:r>
            <a:r>
              <a:rPr sz="2300" spc="25">
                <a:latin typeface="Arial"/>
                <a:cs typeface="Arial"/>
              </a:rPr>
              <a:t> </a:t>
            </a:r>
            <a:r>
              <a:rPr lang="en-US" sz="2300">
                <a:latin typeface="Arial"/>
                <a:cs typeface="Arial"/>
              </a:rPr>
              <a:t>is  </a:t>
            </a:r>
            <a:r>
              <a:rPr sz="2300">
                <a:latin typeface="Arial"/>
                <a:cs typeface="Arial"/>
              </a:rPr>
              <a:t>this</a:t>
            </a:r>
            <a:r>
              <a:rPr lang="en-US" sz="2300">
                <a:latin typeface="Arial"/>
                <a:cs typeface="Arial"/>
              </a:rPr>
              <a:t> </a:t>
            </a:r>
            <a:r>
              <a:rPr sz="2300" spc="-20">
                <a:latin typeface="Arial"/>
                <a:cs typeface="Arial"/>
              </a:rPr>
              <a:t>bad?</a:t>
            </a:r>
            <a:endParaRPr sz="2300">
              <a:latin typeface="Arial"/>
              <a:cs typeface="Arial"/>
            </a:endParaRPr>
          </a:p>
        </p:txBody>
      </p:sp>
      <p:sp>
        <p:nvSpPr>
          <p:cNvPr id="3" name="object 3" descr="$PPTXTitle"/>
          <p:cNvSpPr txBox="1">
            <a:spLocks noGrp="1"/>
          </p:cNvSpPr>
          <p:nvPr>
            <p:ph type="title"/>
          </p:nvPr>
        </p:nvSpPr>
        <p:spPr>
          <a:prstGeom prst="rect">
            <a:avLst/>
          </a:prstGeom>
        </p:spPr>
        <p:txBody>
          <a:bodyPr vert="horz" wrap="square" lIns="0" tIns="88265" rIns="0" bIns="0" rtlCol="0" anchor="t">
            <a:spAutoFit/>
          </a:bodyPr>
          <a:lstStyle/>
          <a:p>
            <a:pPr marL="12700">
              <a:spcBef>
                <a:spcPts val="695"/>
              </a:spcBef>
            </a:pPr>
            <a:r>
              <a:rPr lang="en-US" spc="75"/>
              <a:t>Word-level Tokenization</a:t>
            </a:r>
            <a:endParaRPr lang="en-US"/>
          </a:p>
          <a:p>
            <a:pPr marL="12700">
              <a:lnSpc>
                <a:spcPct val="100000"/>
              </a:lnSpc>
              <a:spcBef>
                <a:spcPts val="420"/>
              </a:spcBef>
            </a:pPr>
            <a:r>
              <a:rPr sz="2900"/>
              <a:t>Handling</a:t>
            </a:r>
            <a:r>
              <a:rPr sz="2900" spc="75"/>
              <a:t> </a:t>
            </a:r>
            <a:r>
              <a:rPr sz="2900"/>
              <a:t>Unknown</a:t>
            </a:r>
            <a:r>
              <a:rPr sz="2900" spc="75"/>
              <a:t> </a:t>
            </a:r>
            <a:r>
              <a:rPr sz="2900" spc="-10"/>
              <a:t>Words</a:t>
            </a:r>
            <a:endParaRPr sz="29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object 3"/>
          <p:cNvSpPr txBox="1"/>
          <p:nvPr/>
        </p:nvSpPr>
        <p:spPr>
          <a:xfrm>
            <a:off x="572593" y="1939240"/>
            <a:ext cx="9147907" cy="4785925"/>
          </a:xfrm>
          <a:prstGeom prst="rect">
            <a:avLst/>
          </a:prstGeom>
        </p:spPr>
        <p:txBody>
          <a:bodyPr vert="horz" wrap="square" lIns="0" tIns="208279" rIns="0" bIns="0" rtlCol="0" anchor="t">
            <a:spAutoFit/>
          </a:bodyPr>
          <a:lstStyle/>
          <a:p>
            <a:pPr marL="306705" indent="-294005">
              <a:spcBef>
                <a:spcPts val="1639"/>
              </a:spcBef>
              <a:buSzPct val="123913"/>
              <a:buChar char="•"/>
              <a:tabLst>
                <a:tab pos="306705" algn="l"/>
              </a:tabLst>
            </a:pPr>
            <a:r>
              <a:rPr lang="en-US" sz="2300" spc="-10">
                <a:latin typeface="Arial"/>
                <a:cs typeface="Arial"/>
              </a:rPr>
              <a:t>Mapping unknown words to &lt;UNK&gt; discards all meaning they carry</a:t>
            </a:r>
            <a:endParaRPr lang="en-US" sz="2300">
              <a:latin typeface="Arial"/>
              <a:cs typeface="Arial"/>
            </a:endParaRPr>
          </a:p>
          <a:p>
            <a:pPr marL="306705" indent="-294005">
              <a:spcBef>
                <a:spcPts val="2430"/>
              </a:spcBef>
              <a:buSzPct val="123913"/>
              <a:buChar char="•"/>
              <a:tabLst>
                <a:tab pos="306705" algn="l"/>
              </a:tabLst>
            </a:pPr>
            <a:r>
              <a:rPr lang="en-US" sz="2300" spc="-10">
                <a:latin typeface="Arial"/>
                <a:cs typeface="Arial"/>
              </a:rPr>
              <a:t>Especially damaging in medical, legal, or multilingual text where rare terms carry critical meaning</a:t>
            </a:r>
            <a:endParaRPr lang="en-US" sz="2300">
              <a:latin typeface="Arial"/>
              <a:cs typeface="Arial"/>
            </a:endParaRPr>
          </a:p>
          <a:p>
            <a:pPr marL="719455" marR="535940">
              <a:lnSpc>
                <a:spcPts val="2510"/>
              </a:lnSpc>
              <a:spcBef>
                <a:spcPts val="2520"/>
              </a:spcBef>
            </a:pPr>
            <a:r>
              <a:rPr lang="en-US" sz="2300" spc="-10">
                <a:latin typeface="Arial"/>
                <a:cs typeface="Arial"/>
              </a:rPr>
              <a:t>The patient was prescribed Lisinopril for hypertension and Dapagliflozin for type 2 diabetes.</a:t>
            </a:r>
            <a:endParaRPr>
              <a:latin typeface="Arial"/>
              <a:cs typeface="Arial"/>
            </a:endParaRPr>
          </a:p>
          <a:p>
            <a:pPr marL="719455" marR="396240">
              <a:lnSpc>
                <a:spcPts val="2510"/>
              </a:lnSpc>
              <a:spcBef>
                <a:spcPts val="2480"/>
              </a:spcBef>
            </a:pPr>
            <a:r>
              <a:rPr lang="en-US" sz="2300" spc="-5">
                <a:latin typeface="Arial"/>
                <a:ea typeface="Calibri"/>
                <a:cs typeface="Arial"/>
              </a:rPr>
              <a:t>The patient was prescribed </a:t>
            </a:r>
            <a:r>
              <a:rPr lang="en-US" sz="2300" spc="-5">
                <a:latin typeface="Arial"/>
                <a:cs typeface="Arial"/>
              </a:rPr>
              <a:t> </a:t>
            </a:r>
            <a:r>
              <a:rPr sz="2300">
                <a:solidFill>
                  <a:srgbClr val="EE220C"/>
                </a:solidFill>
                <a:latin typeface="Arial"/>
                <a:cs typeface="Arial"/>
              </a:rPr>
              <a:t>&lt;</a:t>
            </a:r>
            <a:r>
              <a:rPr sz="2300" err="1">
                <a:solidFill>
                  <a:srgbClr val="EE220C"/>
                </a:solidFill>
                <a:latin typeface="Arial"/>
                <a:cs typeface="Arial"/>
              </a:rPr>
              <a:t>unk</a:t>
            </a:r>
            <a:r>
              <a:rPr sz="2300">
                <a:solidFill>
                  <a:srgbClr val="EE220C"/>
                </a:solidFill>
                <a:latin typeface="Arial"/>
                <a:cs typeface="Arial"/>
              </a:rPr>
              <a:t>&gt;</a:t>
            </a:r>
            <a:r>
              <a:rPr lang="en-US" sz="2300" spc="-5">
                <a:solidFill>
                  <a:srgbClr val="EE220C"/>
                </a:solidFill>
                <a:latin typeface="Arial"/>
                <a:cs typeface="Arial"/>
              </a:rPr>
              <a:t> </a:t>
            </a:r>
            <a:r>
              <a:rPr lang="en-US" sz="2300" spc="-5">
                <a:solidFill>
                  <a:schemeClr val="tx1"/>
                </a:solidFill>
                <a:latin typeface="Arial"/>
                <a:cs typeface="Arial"/>
              </a:rPr>
              <a:t>for</a:t>
            </a:r>
            <a:r>
              <a:rPr lang="en-US" sz="2300" spc="-5">
                <a:solidFill>
                  <a:srgbClr val="EE220C"/>
                </a:solidFill>
                <a:latin typeface="Arial"/>
                <a:cs typeface="Arial"/>
              </a:rPr>
              <a:t> </a:t>
            </a:r>
            <a:r>
              <a:rPr sz="2300" spc="-10">
                <a:solidFill>
                  <a:srgbClr val="EE220C"/>
                </a:solidFill>
                <a:latin typeface="Arial"/>
                <a:cs typeface="Arial"/>
              </a:rPr>
              <a:t>&lt;</a:t>
            </a:r>
            <a:r>
              <a:rPr sz="2300" spc="-10" err="1">
                <a:solidFill>
                  <a:srgbClr val="EE220C"/>
                </a:solidFill>
                <a:latin typeface="Arial"/>
                <a:cs typeface="Arial"/>
              </a:rPr>
              <a:t>unk</a:t>
            </a:r>
            <a:r>
              <a:rPr sz="2300" spc="-10">
                <a:solidFill>
                  <a:srgbClr val="EE220C"/>
                </a:solidFill>
                <a:latin typeface="Arial"/>
                <a:cs typeface="Arial"/>
              </a:rPr>
              <a:t>&gt; </a:t>
            </a:r>
            <a:r>
              <a:rPr lang="en-US" sz="2300" spc="-10">
                <a:solidFill>
                  <a:schemeClr val="tx1"/>
                </a:solidFill>
                <a:latin typeface="Arial"/>
                <a:cs typeface="Arial"/>
              </a:rPr>
              <a:t>and</a:t>
            </a:r>
            <a:r>
              <a:rPr lang="en-US" sz="2300" spc="-10">
                <a:solidFill>
                  <a:srgbClr val="EE220C"/>
                </a:solidFill>
                <a:latin typeface="Arial"/>
                <a:cs typeface="Arial"/>
              </a:rPr>
              <a:t> &lt;</a:t>
            </a:r>
            <a:r>
              <a:rPr lang="en-US" sz="2300" spc="-10" err="1">
                <a:solidFill>
                  <a:srgbClr val="EE220C"/>
                </a:solidFill>
                <a:latin typeface="Arial"/>
                <a:cs typeface="Arial"/>
              </a:rPr>
              <a:t>unk</a:t>
            </a:r>
            <a:r>
              <a:rPr lang="en-US" sz="2300" spc="-10">
                <a:solidFill>
                  <a:srgbClr val="EE220C"/>
                </a:solidFill>
                <a:latin typeface="Arial"/>
                <a:cs typeface="Arial"/>
              </a:rPr>
              <a:t>&gt; </a:t>
            </a:r>
            <a:r>
              <a:rPr lang="en-US" sz="2300" spc="-10">
                <a:solidFill>
                  <a:schemeClr val="tx1"/>
                </a:solidFill>
                <a:latin typeface="Arial"/>
                <a:cs typeface="Arial"/>
              </a:rPr>
              <a:t>for type 2 diabetes</a:t>
            </a:r>
            <a:r>
              <a:rPr lang="en-US" sz="2300" spc="-25">
                <a:solidFill>
                  <a:schemeClr val="tx1"/>
                </a:solidFill>
                <a:latin typeface="Arial"/>
                <a:cs typeface="Arial"/>
              </a:rPr>
              <a:t>.</a:t>
            </a:r>
            <a:endParaRPr lang="en-US">
              <a:solidFill>
                <a:schemeClr val="tx1"/>
              </a:solidFill>
            </a:endParaRPr>
          </a:p>
          <a:p>
            <a:pPr marL="719455" marR="396240">
              <a:lnSpc>
                <a:spcPts val="2510"/>
              </a:lnSpc>
              <a:spcBef>
                <a:spcPts val="2480"/>
              </a:spcBef>
            </a:pPr>
            <a:r>
              <a:rPr lang="en-US" sz="2300" spc="-25">
                <a:solidFill>
                  <a:schemeClr val="tx1"/>
                </a:solidFill>
                <a:latin typeface="Arial"/>
                <a:cs typeface="Arial"/>
              </a:rPr>
              <a:t>We are traveling from Reykjavík to </a:t>
            </a:r>
            <a:r>
              <a:rPr lang="en-US" sz="2300" spc="-25" err="1">
                <a:solidFill>
                  <a:schemeClr val="tx1"/>
                </a:solidFill>
                <a:latin typeface="Arial"/>
                <a:cs typeface="Arial"/>
              </a:rPr>
              <a:t>Akureyri</a:t>
            </a:r>
            <a:r>
              <a:rPr lang="en-US" sz="2300" spc="-25">
                <a:solidFill>
                  <a:schemeClr val="tx1"/>
                </a:solidFill>
                <a:latin typeface="Arial"/>
                <a:cs typeface="Arial"/>
              </a:rPr>
              <a:t> via the Ring Road.</a:t>
            </a:r>
            <a:endParaRPr lang="en-US">
              <a:solidFill>
                <a:schemeClr val="tx1"/>
              </a:solidFill>
              <a:latin typeface="Arial"/>
              <a:cs typeface="Arial"/>
            </a:endParaRPr>
          </a:p>
          <a:p>
            <a:pPr marL="719455" marR="396240">
              <a:lnSpc>
                <a:spcPts val="2510"/>
              </a:lnSpc>
              <a:spcBef>
                <a:spcPts val="2480"/>
              </a:spcBef>
            </a:pPr>
            <a:r>
              <a:rPr lang="en-US" sz="2300" spc="-25">
                <a:solidFill>
                  <a:schemeClr val="tx1"/>
                </a:solidFill>
                <a:latin typeface="Arial"/>
                <a:cs typeface="Arial"/>
              </a:rPr>
              <a:t>We are traveling from </a:t>
            </a:r>
            <a:r>
              <a:rPr lang="en-US" sz="2300" spc="-25">
                <a:solidFill>
                  <a:srgbClr val="EE220C"/>
                </a:solidFill>
                <a:latin typeface="Arial"/>
                <a:cs typeface="Arial"/>
              </a:rPr>
              <a:t>&lt;</a:t>
            </a:r>
            <a:r>
              <a:rPr lang="en-US" sz="2300" spc="-25" err="1">
                <a:solidFill>
                  <a:srgbClr val="EE220C"/>
                </a:solidFill>
                <a:latin typeface="Arial"/>
                <a:cs typeface="Arial"/>
              </a:rPr>
              <a:t>unk</a:t>
            </a:r>
            <a:r>
              <a:rPr lang="en-US" sz="2300" spc="-25">
                <a:solidFill>
                  <a:srgbClr val="EE220C"/>
                </a:solidFill>
                <a:latin typeface="Arial"/>
                <a:cs typeface="Arial"/>
              </a:rPr>
              <a:t>&gt;</a:t>
            </a:r>
            <a:r>
              <a:rPr lang="en-US" sz="2300" spc="-25">
                <a:solidFill>
                  <a:schemeClr val="tx1"/>
                </a:solidFill>
                <a:latin typeface="Arial"/>
                <a:cs typeface="Arial"/>
              </a:rPr>
              <a:t> to </a:t>
            </a:r>
            <a:r>
              <a:rPr lang="en-US" sz="2300" spc="-25">
                <a:solidFill>
                  <a:srgbClr val="EE220C"/>
                </a:solidFill>
                <a:latin typeface="Arial"/>
                <a:cs typeface="Arial"/>
              </a:rPr>
              <a:t>&lt;</a:t>
            </a:r>
            <a:r>
              <a:rPr lang="en-US" sz="2300" spc="-25" err="1">
                <a:solidFill>
                  <a:srgbClr val="EE220C"/>
                </a:solidFill>
                <a:latin typeface="Arial"/>
                <a:cs typeface="Arial"/>
              </a:rPr>
              <a:t>unk</a:t>
            </a:r>
            <a:r>
              <a:rPr lang="en-US" sz="2300" spc="-25">
                <a:solidFill>
                  <a:srgbClr val="EE220C"/>
                </a:solidFill>
                <a:latin typeface="Arial"/>
                <a:cs typeface="Arial"/>
              </a:rPr>
              <a:t>&gt;</a:t>
            </a:r>
            <a:r>
              <a:rPr lang="en-US" sz="2300" spc="-25">
                <a:solidFill>
                  <a:schemeClr val="tx1"/>
                </a:solidFill>
                <a:latin typeface="Arial"/>
                <a:cs typeface="Arial"/>
              </a:rPr>
              <a:t> via the </a:t>
            </a:r>
            <a:r>
              <a:rPr lang="en-US" sz="2300" spc="-25">
                <a:solidFill>
                  <a:srgbClr val="EE220C"/>
                </a:solidFill>
                <a:latin typeface="Arial"/>
                <a:cs typeface="Arial"/>
              </a:rPr>
              <a:t>&lt;</a:t>
            </a:r>
            <a:r>
              <a:rPr lang="en-US" sz="2300" spc="-25" err="1">
                <a:solidFill>
                  <a:srgbClr val="EE220C"/>
                </a:solidFill>
                <a:latin typeface="Arial"/>
                <a:cs typeface="Arial"/>
              </a:rPr>
              <a:t>unk</a:t>
            </a:r>
            <a:r>
              <a:rPr lang="en-US" sz="2300" spc="-25">
                <a:solidFill>
                  <a:srgbClr val="EE220C"/>
                </a:solidFill>
                <a:latin typeface="Arial"/>
                <a:cs typeface="Arial"/>
              </a:rPr>
              <a:t>&gt;</a:t>
            </a:r>
            <a:r>
              <a:rPr lang="en-US" sz="2300" spc="-25">
                <a:solidFill>
                  <a:schemeClr val="tx1"/>
                </a:solidFill>
                <a:latin typeface="Arial"/>
                <a:cs typeface="Arial"/>
              </a:rPr>
              <a:t>.</a:t>
            </a:r>
            <a:endParaRPr lang="en-US">
              <a:solidFill>
                <a:schemeClr val="tx1"/>
              </a:solidFill>
              <a:latin typeface="Arial"/>
              <a:cs typeface="Arial"/>
            </a:endParaRPr>
          </a:p>
        </p:txBody>
      </p:sp>
      <p:sp>
        <p:nvSpPr>
          <p:cNvPr id="5" name="object 5"/>
          <p:cNvSpPr txBox="1">
            <a:spLocks noGrp="1"/>
          </p:cNvSpPr>
          <p:nvPr>
            <p:ph type="sldNum" sz="quarter" idx="7"/>
          </p:nvPr>
        </p:nvSpPr>
        <p:spPr>
          <a:prstGeom prst="rect">
            <a:avLst/>
          </a:prstGeom>
        </p:spPr>
        <p:txBody>
          <a:bodyPr vert="horz" wrap="square" lIns="0" tIns="6985" rIns="0" bIns="0" rtlCol="0">
            <a:spAutoFit/>
          </a:bodyPr>
          <a:lstStyle/>
          <a:p>
            <a:pPr marL="38100">
              <a:lnSpc>
                <a:spcPct val="100000"/>
              </a:lnSpc>
              <a:spcBef>
                <a:spcPts val="55"/>
              </a:spcBef>
            </a:pPr>
            <a:fld id="{81D60167-4931-47E6-BA6A-407CBD079E47}" type="slidenum">
              <a:rPr spc="-25" dirty="0"/>
              <a:t>10</a:t>
            </a:fld>
            <a:endParaRPr spc="-25"/>
          </a:p>
        </p:txBody>
      </p:sp>
      <p:sp>
        <p:nvSpPr>
          <p:cNvPr id="4" name="object 4" descr="$PPTXTitle"/>
          <p:cNvSpPr txBox="1">
            <a:spLocks noGrp="1"/>
          </p:cNvSpPr>
          <p:nvPr>
            <p:ph type="title"/>
          </p:nvPr>
        </p:nvSpPr>
        <p:spPr>
          <a:prstGeom prst="rect">
            <a:avLst/>
          </a:prstGeom>
        </p:spPr>
        <p:txBody>
          <a:bodyPr vert="horz" wrap="square" lIns="0" tIns="88265" rIns="0" bIns="0" rtlCol="0" anchor="t">
            <a:spAutoFit/>
          </a:bodyPr>
          <a:lstStyle/>
          <a:p>
            <a:pPr marL="12700">
              <a:spcBef>
                <a:spcPts val="695"/>
              </a:spcBef>
            </a:pPr>
            <a:r>
              <a:rPr lang="en-US" spc="75"/>
              <a:t>Word-level Tokenization</a:t>
            </a:r>
            <a:endParaRPr lang="en-US"/>
          </a:p>
          <a:p>
            <a:pPr marL="12700">
              <a:lnSpc>
                <a:spcPct val="100000"/>
              </a:lnSpc>
              <a:spcBef>
                <a:spcPts val="420"/>
              </a:spcBef>
            </a:pPr>
            <a:r>
              <a:rPr sz="2900"/>
              <a:t>Limitations</a:t>
            </a:r>
            <a:r>
              <a:rPr sz="2900" spc="20"/>
              <a:t> </a:t>
            </a:r>
            <a:r>
              <a:rPr sz="2900"/>
              <a:t>of</a:t>
            </a:r>
            <a:r>
              <a:rPr sz="2900" spc="25"/>
              <a:t> </a:t>
            </a:r>
            <a:r>
              <a:rPr sz="2900" spc="45"/>
              <a:t>&lt;</a:t>
            </a:r>
            <a:r>
              <a:rPr lang="en-US" sz="2900" spc="45"/>
              <a:t>UNK</a:t>
            </a:r>
            <a:r>
              <a:rPr sz="2900" spc="45"/>
              <a:t>&gt;</a:t>
            </a:r>
            <a:endParaRPr sz="29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txBox="1">
            <a:spLocks noGrp="1"/>
          </p:cNvSpPr>
          <p:nvPr>
            <p:ph type="sldNum" sz="quarter" idx="7"/>
          </p:nvPr>
        </p:nvSpPr>
        <p:spPr>
          <a:prstGeom prst="rect">
            <a:avLst/>
          </a:prstGeom>
        </p:spPr>
        <p:txBody>
          <a:bodyPr vert="horz" wrap="square" lIns="0" tIns="6985" rIns="0" bIns="0" rtlCol="0">
            <a:spAutoFit/>
          </a:bodyPr>
          <a:lstStyle/>
          <a:p>
            <a:pPr marL="38100">
              <a:lnSpc>
                <a:spcPct val="100000"/>
              </a:lnSpc>
              <a:spcBef>
                <a:spcPts val="55"/>
              </a:spcBef>
            </a:pPr>
            <a:fld id="{81D60167-4931-47E6-BA6A-407CBD079E47}" type="slidenum">
              <a:rPr spc="-25" dirty="0"/>
              <a:t>11</a:t>
            </a:fld>
            <a:endParaRPr spc="-25"/>
          </a:p>
        </p:txBody>
      </p:sp>
      <p:sp>
        <p:nvSpPr>
          <p:cNvPr id="2" name="object 2"/>
          <p:cNvSpPr txBox="1"/>
          <p:nvPr/>
        </p:nvSpPr>
        <p:spPr>
          <a:xfrm>
            <a:off x="577710" y="1700039"/>
            <a:ext cx="8902700" cy="5339923"/>
          </a:xfrm>
          <a:prstGeom prst="rect">
            <a:avLst/>
          </a:prstGeom>
        </p:spPr>
        <p:txBody>
          <a:bodyPr vert="horz" wrap="square" lIns="0" tIns="167640" rIns="0" bIns="0" rtlCol="0" anchor="t">
            <a:spAutoFit/>
          </a:bodyPr>
          <a:lstStyle/>
          <a:p>
            <a:pPr marL="274320" indent="-261620">
              <a:lnSpc>
                <a:spcPct val="100000"/>
              </a:lnSpc>
              <a:spcBef>
                <a:spcPts val="1320"/>
              </a:spcBef>
              <a:buSzPct val="124390"/>
              <a:buChar char="•"/>
              <a:tabLst>
                <a:tab pos="274320" algn="l"/>
              </a:tabLst>
            </a:pPr>
            <a:r>
              <a:rPr sz="2050">
                <a:latin typeface="Arial"/>
                <a:cs typeface="Arial"/>
              </a:rPr>
              <a:t>Split every string into individual characters rather than words</a:t>
            </a:r>
          </a:p>
          <a:p>
            <a:pPr marL="568960" lvl="1" indent="-261620">
              <a:spcBef>
                <a:spcPts val="1475"/>
              </a:spcBef>
              <a:buSzPct val="124390"/>
              <a:buChar char="-"/>
              <a:tabLst>
                <a:tab pos="568960" algn="l"/>
              </a:tabLst>
            </a:pPr>
            <a:r>
              <a:rPr sz="2050">
                <a:latin typeface="Arial"/>
                <a:cs typeface="Arial"/>
              </a:rPr>
              <a:t>e.g., “running” → [r, u, n, n, </a:t>
            </a:r>
            <a:r>
              <a:rPr sz="2050" err="1">
                <a:latin typeface="Arial"/>
                <a:cs typeface="Arial"/>
              </a:rPr>
              <a:t>i</a:t>
            </a:r>
            <a:r>
              <a:rPr sz="2050">
                <a:latin typeface="Arial"/>
                <a:cs typeface="Arial"/>
              </a:rPr>
              <a:t>, n, g]</a:t>
            </a:r>
            <a:r>
              <a:rPr lang="en-US" sz="2050">
                <a:latin typeface="Arial"/>
                <a:cs typeface="Arial"/>
              </a:rPr>
              <a:t> is</a:t>
            </a:r>
            <a:r>
              <a:rPr sz="2050">
                <a:latin typeface="Arial"/>
                <a:cs typeface="Arial"/>
              </a:rPr>
              <a:t> 7 tokens instead of 1</a:t>
            </a:r>
          </a:p>
          <a:p>
            <a:pPr marL="274320" indent="-261620">
              <a:lnSpc>
                <a:spcPct val="100000"/>
              </a:lnSpc>
              <a:spcBef>
                <a:spcPts val="2140"/>
              </a:spcBef>
              <a:buSzPct val="124390"/>
              <a:buChar char="•"/>
              <a:tabLst>
                <a:tab pos="274320" algn="l"/>
              </a:tabLst>
            </a:pPr>
            <a:r>
              <a:rPr sz="2050">
                <a:latin typeface="Arial"/>
                <a:cs typeface="Arial"/>
              </a:rPr>
              <a:t>Advantages over word-level</a:t>
            </a:r>
          </a:p>
          <a:p>
            <a:pPr marL="568960" lvl="1" indent="-261620">
              <a:spcBef>
                <a:spcPts val="1475"/>
              </a:spcBef>
              <a:buSzPct val="124390"/>
              <a:buChar char="-"/>
              <a:tabLst>
                <a:tab pos="568960" algn="l"/>
              </a:tabLst>
            </a:pPr>
            <a:r>
              <a:rPr lang="en-US" sz="2050">
                <a:latin typeface="Arial"/>
                <a:cs typeface="Arial"/>
              </a:rPr>
              <a:t>Small vocabulary</a:t>
            </a:r>
            <a:r>
              <a:rPr sz="2050">
                <a:latin typeface="Arial"/>
                <a:cs typeface="Arial"/>
              </a:rPr>
              <a:t>: ~100–300 tokens cover </a:t>
            </a:r>
            <a:r>
              <a:rPr lang="en-US" sz="2050">
                <a:latin typeface="Arial"/>
                <a:cs typeface="Arial"/>
              </a:rPr>
              <a:t>English and similar Latin-script languages</a:t>
            </a:r>
            <a:r>
              <a:rPr sz="2050">
                <a:latin typeface="Arial"/>
                <a:cs typeface="Arial"/>
              </a:rPr>
              <a:t> (letters, digits, punctuation)</a:t>
            </a:r>
          </a:p>
          <a:p>
            <a:pPr marL="568960" lvl="1" indent="-261620">
              <a:lnSpc>
                <a:spcPct val="100000"/>
              </a:lnSpc>
              <a:spcBef>
                <a:spcPts val="1475"/>
              </a:spcBef>
              <a:buSzPct val="124390"/>
              <a:buChar char="-"/>
              <a:tabLst>
                <a:tab pos="568960" algn="l"/>
              </a:tabLst>
            </a:pPr>
            <a:r>
              <a:rPr sz="2050">
                <a:latin typeface="Arial"/>
                <a:cs typeface="Arial"/>
              </a:rPr>
              <a:t>Zero unknown-word problem </a:t>
            </a:r>
            <a:r>
              <a:rPr lang="en-US" sz="2050">
                <a:latin typeface="Arial"/>
                <a:cs typeface="Arial"/>
              </a:rPr>
              <a:t>since</a:t>
            </a:r>
            <a:r>
              <a:rPr sz="2050">
                <a:latin typeface="Arial"/>
                <a:cs typeface="Arial"/>
              </a:rPr>
              <a:t> every string is representable</a:t>
            </a:r>
          </a:p>
          <a:p>
            <a:pPr marL="274320" indent="-261620">
              <a:lnSpc>
                <a:spcPct val="100000"/>
              </a:lnSpc>
              <a:spcBef>
                <a:spcPts val="2140"/>
              </a:spcBef>
              <a:buSzPct val="124390"/>
              <a:buChar char="•"/>
              <a:tabLst>
                <a:tab pos="274320" algn="l"/>
              </a:tabLst>
            </a:pPr>
            <a:r>
              <a:rPr sz="2050">
                <a:latin typeface="Arial"/>
                <a:cs typeface="Arial"/>
              </a:rPr>
              <a:t>Disadvantages</a:t>
            </a:r>
          </a:p>
          <a:p>
            <a:pPr marL="568960" lvl="1" indent="-261620">
              <a:spcBef>
                <a:spcPts val="1475"/>
              </a:spcBef>
              <a:buSzPct val="124390"/>
              <a:buChar char="-"/>
              <a:tabLst>
                <a:tab pos="568960" algn="l"/>
              </a:tabLst>
            </a:pPr>
            <a:r>
              <a:rPr sz="2050">
                <a:latin typeface="Arial"/>
                <a:cs typeface="Arial"/>
              </a:rPr>
              <a:t>Sequences grow </a:t>
            </a:r>
            <a:r>
              <a:rPr lang="en-US" sz="2050">
                <a:latin typeface="Arial"/>
                <a:cs typeface="Arial"/>
              </a:rPr>
              <a:t>4</a:t>
            </a:r>
            <a:r>
              <a:rPr lang="en-US" sz="2100">
                <a:latin typeface="Arial"/>
                <a:cs typeface="Arial"/>
              </a:rPr>
              <a:t>–</a:t>
            </a:r>
            <a:r>
              <a:rPr lang="en-US" sz="2050">
                <a:latin typeface="Arial"/>
                <a:cs typeface="Arial"/>
              </a:rPr>
              <a:t>7x</a:t>
            </a:r>
            <a:r>
              <a:rPr sz="2050">
                <a:latin typeface="Arial"/>
                <a:cs typeface="Arial"/>
              </a:rPr>
              <a:t> longer</a:t>
            </a:r>
            <a:r>
              <a:rPr lang="en-US" sz="2050">
                <a:latin typeface="Arial"/>
                <a:cs typeface="Arial"/>
              </a:rPr>
              <a:t>:</a:t>
            </a:r>
            <a:r>
              <a:rPr sz="2050">
                <a:latin typeface="Arial"/>
                <a:cs typeface="Arial"/>
              </a:rPr>
              <a:t> expensive for attention and memory</a:t>
            </a:r>
          </a:p>
          <a:p>
            <a:pPr marL="568960" lvl="1" indent="-261620">
              <a:lnSpc>
                <a:spcPct val="100000"/>
              </a:lnSpc>
              <a:spcBef>
                <a:spcPts val="1475"/>
              </a:spcBef>
              <a:buSzPct val="124390"/>
              <a:buChar char="-"/>
              <a:tabLst>
                <a:tab pos="568960" algn="l"/>
              </a:tabLst>
            </a:pPr>
            <a:r>
              <a:rPr sz="2050">
                <a:latin typeface="Arial"/>
                <a:cs typeface="Arial"/>
              </a:rPr>
              <a:t>Model must learn that “c”, “a”, “t” → “cat” with no linguistic shortcuts</a:t>
            </a:r>
          </a:p>
          <a:p>
            <a:pPr marL="568960" lvl="1" indent="-261620">
              <a:spcBef>
                <a:spcPts val="1475"/>
              </a:spcBef>
              <a:buSzPct val="124390"/>
              <a:buChar char="-"/>
              <a:tabLst>
                <a:tab pos="568960" algn="l"/>
              </a:tabLst>
            </a:pPr>
            <a:r>
              <a:rPr lang="en-US" sz="2050">
                <a:latin typeface="Arial"/>
                <a:cs typeface="Arial"/>
              </a:rPr>
              <a:t>The model gets no built-in notion of words or morphemes: all structure must be learned from scratch</a:t>
            </a:r>
          </a:p>
        </p:txBody>
      </p:sp>
      <p:sp>
        <p:nvSpPr>
          <p:cNvPr id="3" name="object 3" descr="$PPTXTitle"/>
          <p:cNvSpPr txBox="1">
            <a:spLocks noGrp="1"/>
          </p:cNvSpPr>
          <p:nvPr>
            <p:ph type="title"/>
          </p:nvPr>
        </p:nvSpPr>
        <p:spPr>
          <a:prstGeom prst="rect">
            <a:avLst/>
          </a:prstGeom>
        </p:spPr>
        <p:txBody>
          <a:bodyPr vert="horz" wrap="square" lIns="0" tIns="88466" rIns="0" bIns="0" rtlCol="0">
            <a:spAutoFit/>
          </a:bodyPr>
          <a:lstStyle/>
          <a:p>
            <a:pPr marL="12700">
              <a:lnSpc>
                <a:spcPct val="100000"/>
              </a:lnSpc>
              <a:spcBef>
                <a:spcPts val="95"/>
              </a:spcBef>
            </a:pPr>
            <a:r>
              <a:rPr spc="-75"/>
              <a:t>Character-</a:t>
            </a:r>
            <a:r>
              <a:rPr spc="-114"/>
              <a:t>level</a:t>
            </a:r>
            <a:r>
              <a:rPr spc="-145"/>
              <a:t> </a:t>
            </a:r>
            <a:r>
              <a:rPr spc="-590"/>
              <a:t>T</a:t>
            </a:r>
            <a:r>
              <a:rPr spc="-75"/>
              <a:t>o</a:t>
            </a:r>
            <a:r>
              <a:rPr spc="-70"/>
              <a:t>ke</a:t>
            </a:r>
            <a:r>
              <a:rPr spc="-75"/>
              <a:t>n</a:t>
            </a:r>
            <a:r>
              <a:rPr spc="-80"/>
              <a:t>i</a:t>
            </a:r>
            <a:r>
              <a:rPr spc="-70"/>
              <a:t>zat</a:t>
            </a:r>
            <a:r>
              <a:rPr spc="-80"/>
              <a:t>i</a:t>
            </a:r>
            <a:r>
              <a:rPr spc="-75"/>
              <a:t>o</a:t>
            </a:r>
            <a:r>
              <a:rPr spc="25"/>
              <a:t>n</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519502" y="1947303"/>
            <a:ext cx="4398010" cy="4776564"/>
          </a:xfrm>
          <a:prstGeom prst="rect">
            <a:avLst/>
          </a:prstGeom>
        </p:spPr>
        <p:txBody>
          <a:bodyPr vert="horz" wrap="square" lIns="0" tIns="42545" rIns="0" bIns="0" rtlCol="0" anchor="t">
            <a:spAutoFit/>
          </a:bodyPr>
          <a:lstStyle/>
          <a:p>
            <a:pPr marL="233045" marR="71755" indent="-221615">
              <a:lnSpc>
                <a:spcPts val="1880"/>
              </a:lnSpc>
              <a:spcBef>
                <a:spcPts val="335"/>
              </a:spcBef>
              <a:buSzPct val="122857"/>
              <a:buChar char="•"/>
              <a:tabLst>
                <a:tab pos="233679" algn="l"/>
              </a:tabLst>
            </a:pPr>
            <a:r>
              <a:rPr lang="en-US" sz="1750">
                <a:latin typeface="Arial"/>
                <a:cs typeface="Arial"/>
              </a:rPr>
              <a:t>Word-level</a:t>
            </a:r>
            <a:r>
              <a:rPr sz="1750">
                <a:latin typeface="Arial"/>
                <a:cs typeface="Arial"/>
              </a:rPr>
              <a:t>:</a:t>
            </a:r>
            <a:r>
              <a:rPr sz="1750" spc="55">
                <a:latin typeface="Arial"/>
                <a:cs typeface="Arial"/>
              </a:rPr>
              <a:t> </a:t>
            </a:r>
            <a:r>
              <a:rPr sz="1750">
                <a:latin typeface="Arial"/>
                <a:cs typeface="Arial"/>
              </a:rPr>
              <a:t>issues</a:t>
            </a:r>
            <a:r>
              <a:rPr sz="1750" spc="55">
                <a:latin typeface="Arial"/>
                <a:cs typeface="Arial"/>
              </a:rPr>
              <a:t> </a:t>
            </a:r>
            <a:r>
              <a:rPr sz="1750">
                <a:latin typeface="Arial"/>
                <a:cs typeface="Arial"/>
              </a:rPr>
              <a:t>with</a:t>
            </a:r>
            <a:r>
              <a:rPr sz="1750" spc="55">
                <a:latin typeface="Arial"/>
                <a:cs typeface="Arial"/>
              </a:rPr>
              <a:t> </a:t>
            </a:r>
            <a:r>
              <a:rPr sz="1750">
                <a:latin typeface="Arial"/>
                <a:cs typeface="Arial"/>
              </a:rPr>
              <a:t>unknown</a:t>
            </a:r>
            <a:r>
              <a:rPr sz="1750" spc="55">
                <a:latin typeface="Arial"/>
                <a:cs typeface="Arial"/>
              </a:rPr>
              <a:t> </a:t>
            </a:r>
            <a:r>
              <a:rPr sz="1750" spc="-10">
                <a:latin typeface="Arial"/>
                <a:cs typeface="Arial"/>
              </a:rPr>
              <a:t>words </a:t>
            </a:r>
            <a:r>
              <a:rPr sz="1750">
                <a:latin typeface="Arial"/>
                <a:cs typeface="Arial"/>
              </a:rPr>
              <a:t>and information sharing, and </a:t>
            </a:r>
            <a:r>
              <a:rPr lang="en-US" sz="1750">
                <a:latin typeface="Arial"/>
                <a:cs typeface="Arial"/>
              </a:rPr>
              <a:t>complexity increases with vocabulary size</a:t>
            </a:r>
            <a:endParaRPr sz="1750" spc="-20">
              <a:latin typeface="Arial"/>
              <a:cs typeface="Arial"/>
            </a:endParaRPr>
          </a:p>
          <a:p>
            <a:pPr marL="528320" lvl="1" indent="-220979">
              <a:lnSpc>
                <a:spcPct val="100000"/>
              </a:lnSpc>
              <a:spcBef>
                <a:spcPts val="1225"/>
              </a:spcBef>
              <a:buSzPct val="122857"/>
              <a:buChar char="-"/>
              <a:tabLst>
                <a:tab pos="528320" algn="l"/>
              </a:tabLst>
            </a:pPr>
            <a:r>
              <a:rPr sz="1750">
                <a:latin typeface="Arial"/>
                <a:cs typeface="Arial"/>
              </a:rPr>
              <a:t>Also,</a:t>
            </a:r>
            <a:r>
              <a:rPr sz="1750" spc="25">
                <a:latin typeface="Arial"/>
                <a:cs typeface="Arial"/>
              </a:rPr>
              <a:t> </a:t>
            </a:r>
            <a:r>
              <a:rPr sz="1750">
                <a:latin typeface="Arial"/>
                <a:cs typeface="Arial"/>
              </a:rPr>
              <a:t>fits</a:t>
            </a:r>
            <a:r>
              <a:rPr sz="1750" spc="30">
                <a:latin typeface="Arial"/>
                <a:cs typeface="Arial"/>
              </a:rPr>
              <a:t> </a:t>
            </a:r>
            <a:r>
              <a:rPr sz="1750">
                <a:latin typeface="Arial"/>
                <a:cs typeface="Arial"/>
              </a:rPr>
              <a:t>poorly</a:t>
            </a:r>
            <a:r>
              <a:rPr sz="1750" spc="25">
                <a:latin typeface="Arial"/>
                <a:cs typeface="Arial"/>
              </a:rPr>
              <a:t> </a:t>
            </a:r>
            <a:r>
              <a:rPr sz="1750">
                <a:latin typeface="Arial"/>
                <a:cs typeface="Arial"/>
              </a:rPr>
              <a:t>to</a:t>
            </a:r>
            <a:r>
              <a:rPr sz="1750" spc="30">
                <a:latin typeface="Arial"/>
                <a:cs typeface="Arial"/>
              </a:rPr>
              <a:t> </a:t>
            </a:r>
            <a:r>
              <a:rPr sz="1750">
                <a:latin typeface="Arial"/>
                <a:cs typeface="Arial"/>
              </a:rPr>
              <a:t>some</a:t>
            </a:r>
            <a:r>
              <a:rPr sz="1750" spc="25">
                <a:latin typeface="Arial"/>
                <a:cs typeface="Arial"/>
              </a:rPr>
              <a:t> </a:t>
            </a:r>
            <a:r>
              <a:rPr sz="1750" spc="-10">
                <a:latin typeface="Arial"/>
                <a:cs typeface="Arial"/>
              </a:rPr>
              <a:t>languages</a:t>
            </a:r>
            <a:endParaRPr sz="1750">
              <a:latin typeface="Arial"/>
              <a:cs typeface="Arial"/>
            </a:endParaRPr>
          </a:p>
          <a:p>
            <a:pPr marL="233045" marR="5080" indent="-221615">
              <a:lnSpc>
                <a:spcPts val="1880"/>
              </a:lnSpc>
              <a:spcBef>
                <a:spcPts val="1805"/>
              </a:spcBef>
              <a:buSzPct val="122857"/>
              <a:buChar char="•"/>
              <a:tabLst>
                <a:tab pos="233679" algn="l"/>
              </a:tabLst>
            </a:pPr>
            <a:r>
              <a:rPr sz="1750" spc="-25">
                <a:latin typeface="Arial"/>
                <a:cs typeface="Arial"/>
              </a:rPr>
              <a:t>Character-</a:t>
            </a:r>
            <a:r>
              <a:rPr sz="1750">
                <a:latin typeface="Arial"/>
                <a:cs typeface="Arial"/>
              </a:rPr>
              <a:t>level:</a:t>
            </a:r>
            <a:r>
              <a:rPr sz="1750" spc="-20">
                <a:latin typeface="Arial"/>
                <a:cs typeface="Arial"/>
              </a:rPr>
              <a:t> </a:t>
            </a:r>
            <a:r>
              <a:rPr sz="1750">
                <a:latin typeface="Arial"/>
                <a:cs typeface="Arial"/>
              </a:rPr>
              <a:t>long</a:t>
            </a:r>
            <a:r>
              <a:rPr sz="1750" spc="-15">
                <a:latin typeface="Arial"/>
                <a:cs typeface="Arial"/>
              </a:rPr>
              <a:t> </a:t>
            </a:r>
            <a:r>
              <a:rPr sz="1750">
                <a:latin typeface="Arial"/>
                <a:cs typeface="Arial"/>
              </a:rPr>
              <a:t>sequences,</a:t>
            </a:r>
            <a:r>
              <a:rPr sz="1750" spc="-15">
                <a:latin typeface="Arial"/>
                <a:cs typeface="Arial"/>
              </a:rPr>
              <a:t> </a:t>
            </a:r>
            <a:r>
              <a:rPr sz="1750" spc="-25">
                <a:latin typeface="Arial"/>
                <a:cs typeface="Arial"/>
              </a:rPr>
              <a:t>the </a:t>
            </a:r>
            <a:r>
              <a:rPr sz="1750">
                <a:latin typeface="Arial"/>
                <a:cs typeface="Arial"/>
              </a:rPr>
              <a:t>model</a:t>
            </a:r>
            <a:r>
              <a:rPr sz="1750" spc="15">
                <a:latin typeface="Arial"/>
                <a:cs typeface="Arial"/>
              </a:rPr>
              <a:t> </a:t>
            </a:r>
            <a:r>
              <a:rPr sz="1750">
                <a:latin typeface="Arial"/>
                <a:cs typeface="Arial"/>
              </a:rPr>
              <a:t>needs</a:t>
            </a:r>
            <a:r>
              <a:rPr sz="1750" spc="20">
                <a:latin typeface="Arial"/>
                <a:cs typeface="Arial"/>
              </a:rPr>
              <a:t> </a:t>
            </a:r>
            <a:r>
              <a:rPr sz="1750">
                <a:latin typeface="Arial"/>
                <a:cs typeface="Arial"/>
              </a:rPr>
              <a:t>to</a:t>
            </a:r>
            <a:r>
              <a:rPr sz="1750" spc="20">
                <a:latin typeface="Arial"/>
                <a:cs typeface="Arial"/>
              </a:rPr>
              <a:t> </a:t>
            </a:r>
            <a:r>
              <a:rPr sz="1750">
                <a:latin typeface="Arial"/>
                <a:cs typeface="Arial"/>
              </a:rPr>
              <a:t>do</a:t>
            </a:r>
            <a:r>
              <a:rPr sz="1750" spc="15">
                <a:latin typeface="Arial"/>
                <a:cs typeface="Arial"/>
              </a:rPr>
              <a:t> </a:t>
            </a:r>
            <a:r>
              <a:rPr sz="1750">
                <a:latin typeface="Arial"/>
                <a:cs typeface="Arial"/>
              </a:rPr>
              <a:t>a</a:t>
            </a:r>
            <a:r>
              <a:rPr sz="1750" spc="20">
                <a:latin typeface="Arial"/>
                <a:cs typeface="Arial"/>
              </a:rPr>
              <a:t> </a:t>
            </a:r>
            <a:r>
              <a:rPr sz="1750">
                <a:latin typeface="Arial"/>
                <a:cs typeface="Arial"/>
              </a:rPr>
              <a:t>lot</a:t>
            </a:r>
            <a:r>
              <a:rPr sz="1750" spc="20">
                <a:latin typeface="Arial"/>
                <a:cs typeface="Arial"/>
              </a:rPr>
              <a:t> </a:t>
            </a:r>
            <a:r>
              <a:rPr sz="1750">
                <a:latin typeface="Arial"/>
                <a:cs typeface="Arial"/>
              </a:rPr>
              <a:t>of</a:t>
            </a:r>
            <a:r>
              <a:rPr sz="1750" spc="15">
                <a:latin typeface="Arial"/>
                <a:cs typeface="Arial"/>
              </a:rPr>
              <a:t> </a:t>
            </a:r>
            <a:r>
              <a:rPr sz="1750" spc="-10">
                <a:latin typeface="Arial"/>
                <a:cs typeface="Arial"/>
              </a:rPr>
              <a:t>heavy</a:t>
            </a:r>
            <a:r>
              <a:rPr sz="1750" spc="20">
                <a:latin typeface="Arial"/>
                <a:cs typeface="Arial"/>
              </a:rPr>
              <a:t> </a:t>
            </a:r>
            <a:r>
              <a:rPr sz="1750">
                <a:latin typeface="Arial"/>
                <a:cs typeface="Arial"/>
              </a:rPr>
              <a:t>lifting</a:t>
            </a:r>
            <a:r>
              <a:rPr lang="en-US" sz="1750" spc="20">
                <a:latin typeface="Arial"/>
                <a:cs typeface="Arial"/>
              </a:rPr>
              <a:t> to rediscover existing linguistic structure </a:t>
            </a:r>
            <a:endParaRPr lang="en-US" sz="1750" spc="-25">
              <a:latin typeface="Arial"/>
              <a:cs typeface="Arial"/>
            </a:endParaRPr>
          </a:p>
          <a:p>
            <a:pPr marL="233045" indent="-220345">
              <a:spcBef>
                <a:spcPts val="1625"/>
              </a:spcBef>
              <a:buSzPct val="122857"/>
              <a:buChar char="•"/>
              <a:tabLst>
                <a:tab pos="233679" algn="l"/>
              </a:tabLst>
            </a:pPr>
            <a:r>
              <a:rPr lang="en-US" sz="1750" err="1">
                <a:latin typeface="Arial"/>
                <a:cs typeface="Arial"/>
              </a:rPr>
              <a:t>Subword</a:t>
            </a:r>
            <a:r>
              <a:rPr lang="en-US" sz="1750">
                <a:latin typeface="Arial"/>
                <a:cs typeface="Arial"/>
              </a:rPr>
              <a:t> is a middle ground</a:t>
            </a:r>
            <a:endParaRPr sz="1750" spc="-10">
              <a:latin typeface="Arial"/>
              <a:cs typeface="Arial"/>
            </a:endParaRPr>
          </a:p>
          <a:p>
            <a:pPr marL="233045" marR="153035" indent="-221615">
              <a:lnSpc>
                <a:spcPts val="1880"/>
              </a:lnSpc>
              <a:spcBef>
                <a:spcPts val="1885"/>
              </a:spcBef>
              <a:buSzPct val="122857"/>
              <a:buChar char="•"/>
              <a:tabLst>
                <a:tab pos="233679" algn="l"/>
              </a:tabLst>
            </a:pPr>
            <a:r>
              <a:rPr sz="1750" err="1">
                <a:latin typeface="Arial"/>
                <a:cs typeface="Arial"/>
              </a:rPr>
              <a:t>Subword</a:t>
            </a:r>
            <a:r>
              <a:rPr sz="1750" spc="25">
                <a:latin typeface="Arial"/>
                <a:cs typeface="Arial"/>
              </a:rPr>
              <a:t> </a:t>
            </a:r>
            <a:r>
              <a:rPr sz="1750">
                <a:latin typeface="Arial"/>
                <a:cs typeface="Arial"/>
              </a:rPr>
              <a:t>tokenization</a:t>
            </a:r>
            <a:r>
              <a:rPr sz="1750" spc="30">
                <a:latin typeface="Arial"/>
                <a:cs typeface="Arial"/>
              </a:rPr>
              <a:t> </a:t>
            </a:r>
            <a:r>
              <a:rPr sz="1750">
                <a:latin typeface="Arial"/>
                <a:cs typeface="Arial"/>
              </a:rPr>
              <a:t>first</a:t>
            </a:r>
            <a:r>
              <a:rPr sz="1750" spc="30">
                <a:latin typeface="Arial"/>
                <a:cs typeface="Arial"/>
              </a:rPr>
              <a:t> </a:t>
            </a:r>
            <a:r>
              <a:rPr sz="1750">
                <a:latin typeface="Arial"/>
                <a:cs typeface="Arial"/>
              </a:rPr>
              <a:t>developed</a:t>
            </a:r>
            <a:r>
              <a:rPr sz="1750" spc="30">
                <a:latin typeface="Arial"/>
                <a:cs typeface="Arial"/>
              </a:rPr>
              <a:t> </a:t>
            </a:r>
            <a:r>
              <a:rPr sz="1750" spc="-25">
                <a:latin typeface="Arial"/>
                <a:cs typeface="Arial"/>
              </a:rPr>
              <a:t>for </a:t>
            </a:r>
            <a:r>
              <a:rPr sz="1750">
                <a:latin typeface="Arial"/>
                <a:cs typeface="Arial"/>
              </a:rPr>
              <a:t>machine</a:t>
            </a:r>
            <a:r>
              <a:rPr sz="1750" spc="-75">
                <a:latin typeface="Arial"/>
                <a:cs typeface="Arial"/>
              </a:rPr>
              <a:t> </a:t>
            </a:r>
            <a:r>
              <a:rPr sz="1750" spc="-10">
                <a:latin typeface="Arial"/>
                <a:cs typeface="Arial"/>
              </a:rPr>
              <a:t>translations</a:t>
            </a:r>
            <a:endParaRPr sz="1750">
              <a:latin typeface="Arial"/>
              <a:cs typeface="Arial"/>
            </a:endParaRPr>
          </a:p>
          <a:p>
            <a:pPr marL="528320" marR="304165" lvl="1" indent="-221615">
              <a:lnSpc>
                <a:spcPct val="86400"/>
              </a:lnSpc>
              <a:spcBef>
                <a:spcPts val="1570"/>
              </a:spcBef>
              <a:buSzPct val="122857"/>
              <a:buChar char="-"/>
              <a:tabLst>
                <a:tab pos="528320" algn="l"/>
              </a:tabLst>
            </a:pPr>
            <a:r>
              <a:rPr sz="1750">
                <a:latin typeface="Arial"/>
                <a:cs typeface="Arial"/>
              </a:rPr>
              <a:t>Based</a:t>
            </a:r>
            <a:r>
              <a:rPr sz="1750" spc="20">
                <a:latin typeface="Arial"/>
                <a:cs typeface="Arial"/>
              </a:rPr>
              <a:t> </a:t>
            </a:r>
            <a:r>
              <a:rPr sz="1750">
                <a:latin typeface="Arial"/>
                <a:cs typeface="Arial"/>
              </a:rPr>
              <a:t>on</a:t>
            </a:r>
            <a:r>
              <a:rPr sz="1750" spc="25">
                <a:latin typeface="Arial"/>
                <a:cs typeface="Arial"/>
              </a:rPr>
              <a:t> </a:t>
            </a:r>
            <a:r>
              <a:rPr sz="1750">
                <a:latin typeface="Arial"/>
                <a:cs typeface="Arial"/>
              </a:rPr>
              <a:t>byte</a:t>
            </a:r>
            <a:r>
              <a:rPr sz="1750" spc="20">
                <a:latin typeface="Arial"/>
                <a:cs typeface="Arial"/>
              </a:rPr>
              <a:t> </a:t>
            </a:r>
            <a:r>
              <a:rPr sz="1750">
                <a:latin typeface="Arial"/>
                <a:cs typeface="Arial"/>
              </a:rPr>
              <a:t>pair</a:t>
            </a:r>
            <a:r>
              <a:rPr sz="1750" spc="20">
                <a:latin typeface="Arial"/>
                <a:cs typeface="Arial"/>
              </a:rPr>
              <a:t> </a:t>
            </a:r>
            <a:r>
              <a:rPr sz="1750">
                <a:latin typeface="Arial"/>
                <a:cs typeface="Arial"/>
              </a:rPr>
              <a:t>encoding</a:t>
            </a:r>
            <a:r>
              <a:rPr sz="1750" spc="25">
                <a:latin typeface="Arial"/>
                <a:cs typeface="Arial"/>
              </a:rPr>
              <a:t> </a:t>
            </a:r>
            <a:r>
              <a:rPr sz="1750" spc="-40">
                <a:latin typeface="Arial"/>
                <a:cs typeface="Arial"/>
              </a:rPr>
              <a:t>(Gage, </a:t>
            </a:r>
            <a:r>
              <a:rPr sz="1750" spc="-10">
                <a:latin typeface="Arial"/>
                <a:cs typeface="Arial"/>
              </a:rPr>
              <a:t>1994)</a:t>
            </a:r>
            <a:endParaRPr sz="1750">
              <a:latin typeface="Arial"/>
              <a:cs typeface="Arial"/>
            </a:endParaRPr>
          </a:p>
          <a:p>
            <a:pPr marL="233045" indent="-220345">
              <a:spcBef>
                <a:spcPts val="1639"/>
              </a:spcBef>
              <a:buSzPct val="122857"/>
              <a:buChar char="•"/>
              <a:tabLst>
                <a:tab pos="233679" algn="l"/>
              </a:tabLst>
            </a:pPr>
            <a:r>
              <a:rPr lang="en-US" sz="1750" spc="-10">
                <a:latin typeface="Arial"/>
                <a:cs typeface="Arial"/>
              </a:rPr>
              <a:t>This is now the industry standard, used across most  modern LLMs</a:t>
            </a:r>
            <a:endParaRPr sz="1750">
              <a:latin typeface="Arial"/>
              <a:cs typeface="Arial"/>
            </a:endParaRPr>
          </a:p>
        </p:txBody>
      </p:sp>
      <p:sp>
        <p:nvSpPr>
          <p:cNvPr id="3" name="object 3" descr="$PPTXTitle"/>
          <p:cNvSpPr txBox="1">
            <a:spLocks noGrp="1"/>
          </p:cNvSpPr>
          <p:nvPr>
            <p:ph type="title"/>
          </p:nvPr>
        </p:nvSpPr>
        <p:spPr>
          <a:prstGeom prst="rect">
            <a:avLst/>
          </a:prstGeom>
        </p:spPr>
        <p:txBody>
          <a:bodyPr vert="horz" wrap="square" lIns="0" tIns="88466" rIns="0" bIns="0" rtlCol="0">
            <a:spAutoFit/>
          </a:bodyPr>
          <a:lstStyle/>
          <a:p>
            <a:pPr marL="12700">
              <a:lnSpc>
                <a:spcPct val="100000"/>
              </a:lnSpc>
              <a:spcBef>
                <a:spcPts val="95"/>
              </a:spcBef>
            </a:pPr>
            <a:r>
              <a:rPr spc="-125"/>
              <a:t>Subword</a:t>
            </a:r>
            <a:r>
              <a:rPr spc="-160"/>
              <a:t> </a:t>
            </a:r>
            <a:r>
              <a:rPr spc="-595"/>
              <a:t>T</a:t>
            </a:r>
            <a:r>
              <a:rPr spc="-80"/>
              <a:t>o</a:t>
            </a:r>
            <a:r>
              <a:rPr spc="-75"/>
              <a:t>ke</a:t>
            </a:r>
            <a:r>
              <a:rPr spc="-80"/>
              <a:t>n</a:t>
            </a:r>
            <a:r>
              <a:rPr spc="-85"/>
              <a:t>i</a:t>
            </a:r>
            <a:r>
              <a:rPr spc="-75"/>
              <a:t>zat</a:t>
            </a:r>
            <a:r>
              <a:rPr spc="-85"/>
              <a:t>i</a:t>
            </a:r>
            <a:r>
              <a:rPr spc="-80"/>
              <a:t>o</a:t>
            </a:r>
            <a:r>
              <a:rPr spc="20"/>
              <a:t>n</a:t>
            </a:r>
          </a:p>
        </p:txBody>
      </p:sp>
      <p:sp>
        <p:nvSpPr>
          <p:cNvPr id="4" name="object 4"/>
          <p:cNvSpPr txBox="1"/>
          <p:nvPr/>
        </p:nvSpPr>
        <p:spPr>
          <a:xfrm>
            <a:off x="5299650" y="2525873"/>
            <a:ext cx="4154170" cy="932815"/>
          </a:xfrm>
          <a:prstGeom prst="rect">
            <a:avLst/>
          </a:prstGeom>
        </p:spPr>
        <p:txBody>
          <a:bodyPr vert="horz" wrap="square" lIns="0" tIns="17145" rIns="0" bIns="0" rtlCol="0">
            <a:spAutoFit/>
          </a:bodyPr>
          <a:lstStyle/>
          <a:p>
            <a:pPr algn="ctr">
              <a:lnSpc>
                <a:spcPct val="100000"/>
              </a:lnSpc>
              <a:spcBef>
                <a:spcPts val="135"/>
              </a:spcBef>
            </a:pPr>
            <a:r>
              <a:rPr sz="1150" b="1">
                <a:latin typeface="Times New Roman"/>
                <a:cs typeface="Times New Roman"/>
              </a:rPr>
              <a:t>Neural</a:t>
            </a:r>
            <a:r>
              <a:rPr sz="1150" b="1" spc="65">
                <a:latin typeface="Times New Roman"/>
                <a:cs typeface="Times New Roman"/>
              </a:rPr>
              <a:t> </a:t>
            </a:r>
            <a:r>
              <a:rPr sz="1150" b="1">
                <a:latin typeface="Times New Roman"/>
                <a:cs typeface="Times New Roman"/>
              </a:rPr>
              <a:t>Machine</a:t>
            </a:r>
            <a:r>
              <a:rPr sz="1150" b="1" spc="70">
                <a:latin typeface="Times New Roman"/>
                <a:cs typeface="Times New Roman"/>
              </a:rPr>
              <a:t> </a:t>
            </a:r>
            <a:r>
              <a:rPr sz="1150" b="1">
                <a:latin typeface="Times New Roman"/>
                <a:cs typeface="Times New Roman"/>
              </a:rPr>
              <a:t>Translation</a:t>
            </a:r>
            <a:r>
              <a:rPr sz="1150" b="1" spc="70">
                <a:latin typeface="Times New Roman"/>
                <a:cs typeface="Times New Roman"/>
              </a:rPr>
              <a:t> </a:t>
            </a:r>
            <a:r>
              <a:rPr sz="1150" b="1">
                <a:latin typeface="Times New Roman"/>
                <a:cs typeface="Times New Roman"/>
              </a:rPr>
              <a:t>of</a:t>
            </a:r>
            <a:r>
              <a:rPr sz="1150" b="1" spc="70">
                <a:latin typeface="Times New Roman"/>
                <a:cs typeface="Times New Roman"/>
              </a:rPr>
              <a:t> </a:t>
            </a:r>
            <a:r>
              <a:rPr sz="1150" b="1">
                <a:latin typeface="Times New Roman"/>
                <a:cs typeface="Times New Roman"/>
              </a:rPr>
              <a:t>Rare</a:t>
            </a:r>
            <a:r>
              <a:rPr sz="1150" b="1" spc="70">
                <a:latin typeface="Times New Roman"/>
                <a:cs typeface="Times New Roman"/>
              </a:rPr>
              <a:t> </a:t>
            </a:r>
            <a:r>
              <a:rPr sz="1150" b="1">
                <a:latin typeface="Times New Roman"/>
                <a:cs typeface="Times New Roman"/>
              </a:rPr>
              <a:t>Words</a:t>
            </a:r>
            <a:r>
              <a:rPr sz="1150" b="1" spc="70">
                <a:latin typeface="Times New Roman"/>
                <a:cs typeface="Times New Roman"/>
              </a:rPr>
              <a:t> </a:t>
            </a:r>
            <a:r>
              <a:rPr sz="1150" b="1">
                <a:latin typeface="Times New Roman"/>
                <a:cs typeface="Times New Roman"/>
              </a:rPr>
              <a:t>with</a:t>
            </a:r>
            <a:r>
              <a:rPr sz="1150" b="1" spc="70">
                <a:latin typeface="Times New Roman"/>
                <a:cs typeface="Times New Roman"/>
              </a:rPr>
              <a:t> </a:t>
            </a:r>
            <a:r>
              <a:rPr sz="1150" b="1">
                <a:latin typeface="Times New Roman"/>
                <a:cs typeface="Times New Roman"/>
              </a:rPr>
              <a:t>Subword</a:t>
            </a:r>
            <a:r>
              <a:rPr sz="1150" b="1" spc="70">
                <a:latin typeface="Times New Roman"/>
                <a:cs typeface="Times New Roman"/>
              </a:rPr>
              <a:t> </a:t>
            </a:r>
            <a:r>
              <a:rPr sz="1150" b="1" spc="-10">
                <a:latin typeface="Times New Roman"/>
                <a:cs typeface="Times New Roman"/>
              </a:rPr>
              <a:t>Units</a:t>
            </a:r>
            <a:endParaRPr sz="1150">
              <a:latin typeface="Times New Roman"/>
              <a:cs typeface="Times New Roman"/>
            </a:endParaRPr>
          </a:p>
          <a:p>
            <a:pPr>
              <a:lnSpc>
                <a:spcPct val="100000"/>
              </a:lnSpc>
              <a:spcBef>
                <a:spcPts val="950"/>
              </a:spcBef>
            </a:pPr>
            <a:endParaRPr sz="1150">
              <a:latin typeface="Times New Roman"/>
              <a:cs typeface="Times New Roman"/>
            </a:endParaRPr>
          </a:p>
          <a:p>
            <a:pPr marL="62230" algn="ctr">
              <a:lnSpc>
                <a:spcPct val="100000"/>
              </a:lnSpc>
            </a:pPr>
            <a:r>
              <a:rPr sz="950" b="1">
                <a:latin typeface="Times New Roman"/>
                <a:cs typeface="Times New Roman"/>
              </a:rPr>
              <a:t>Rico</a:t>
            </a:r>
            <a:r>
              <a:rPr sz="950" b="1" spc="60">
                <a:latin typeface="Times New Roman"/>
                <a:cs typeface="Times New Roman"/>
              </a:rPr>
              <a:t> </a:t>
            </a:r>
            <a:r>
              <a:rPr sz="950" b="1">
                <a:latin typeface="Times New Roman"/>
                <a:cs typeface="Times New Roman"/>
              </a:rPr>
              <a:t>Sennrich</a:t>
            </a:r>
            <a:r>
              <a:rPr sz="950" b="1" spc="370">
                <a:latin typeface="Times New Roman"/>
                <a:cs typeface="Times New Roman"/>
              </a:rPr>
              <a:t> </a:t>
            </a:r>
            <a:r>
              <a:rPr sz="950">
                <a:latin typeface="Times New Roman"/>
                <a:cs typeface="Times New Roman"/>
              </a:rPr>
              <a:t>and</a:t>
            </a:r>
            <a:r>
              <a:rPr sz="950" spc="365">
                <a:latin typeface="Times New Roman"/>
                <a:cs typeface="Times New Roman"/>
              </a:rPr>
              <a:t> </a:t>
            </a:r>
            <a:r>
              <a:rPr sz="950" b="1">
                <a:latin typeface="Times New Roman"/>
                <a:cs typeface="Times New Roman"/>
              </a:rPr>
              <a:t>Barry</a:t>
            </a:r>
            <a:r>
              <a:rPr sz="950" b="1" spc="65">
                <a:latin typeface="Times New Roman"/>
                <a:cs typeface="Times New Roman"/>
              </a:rPr>
              <a:t> </a:t>
            </a:r>
            <a:r>
              <a:rPr sz="950" b="1">
                <a:latin typeface="Times New Roman"/>
                <a:cs typeface="Times New Roman"/>
              </a:rPr>
              <a:t>Haddow</a:t>
            </a:r>
            <a:r>
              <a:rPr sz="950" b="1" spc="370">
                <a:latin typeface="Times New Roman"/>
                <a:cs typeface="Times New Roman"/>
              </a:rPr>
              <a:t> </a:t>
            </a:r>
            <a:r>
              <a:rPr sz="950">
                <a:latin typeface="Times New Roman"/>
                <a:cs typeface="Times New Roman"/>
              </a:rPr>
              <a:t>and</a:t>
            </a:r>
            <a:r>
              <a:rPr sz="950" spc="365">
                <a:latin typeface="Times New Roman"/>
                <a:cs typeface="Times New Roman"/>
              </a:rPr>
              <a:t> </a:t>
            </a:r>
            <a:r>
              <a:rPr sz="950" b="1">
                <a:latin typeface="Times New Roman"/>
                <a:cs typeface="Times New Roman"/>
              </a:rPr>
              <a:t>Alexandra</a:t>
            </a:r>
            <a:r>
              <a:rPr sz="950" b="1" spc="65">
                <a:latin typeface="Times New Roman"/>
                <a:cs typeface="Times New Roman"/>
              </a:rPr>
              <a:t> </a:t>
            </a:r>
            <a:r>
              <a:rPr sz="950" b="1" spc="-20">
                <a:latin typeface="Times New Roman"/>
                <a:cs typeface="Times New Roman"/>
              </a:rPr>
              <a:t>Birch</a:t>
            </a:r>
            <a:endParaRPr sz="950">
              <a:latin typeface="Times New Roman"/>
              <a:cs typeface="Times New Roman"/>
            </a:endParaRPr>
          </a:p>
          <a:p>
            <a:pPr marL="31115" algn="ctr">
              <a:lnSpc>
                <a:spcPct val="100000"/>
              </a:lnSpc>
              <a:spcBef>
                <a:spcPts val="15"/>
              </a:spcBef>
            </a:pPr>
            <a:r>
              <a:rPr sz="950">
                <a:latin typeface="Times New Roman"/>
                <a:cs typeface="Times New Roman"/>
              </a:rPr>
              <a:t>School</a:t>
            </a:r>
            <a:r>
              <a:rPr sz="950" spc="95">
                <a:latin typeface="Times New Roman"/>
                <a:cs typeface="Times New Roman"/>
              </a:rPr>
              <a:t> </a:t>
            </a:r>
            <a:r>
              <a:rPr sz="950">
                <a:latin typeface="Times New Roman"/>
                <a:cs typeface="Times New Roman"/>
              </a:rPr>
              <a:t>of</a:t>
            </a:r>
            <a:r>
              <a:rPr sz="950" spc="100">
                <a:latin typeface="Times New Roman"/>
                <a:cs typeface="Times New Roman"/>
              </a:rPr>
              <a:t> </a:t>
            </a:r>
            <a:r>
              <a:rPr sz="950">
                <a:latin typeface="Times New Roman"/>
                <a:cs typeface="Times New Roman"/>
              </a:rPr>
              <a:t>Informatics,</a:t>
            </a:r>
            <a:r>
              <a:rPr sz="950" spc="100">
                <a:latin typeface="Times New Roman"/>
                <a:cs typeface="Times New Roman"/>
              </a:rPr>
              <a:t> </a:t>
            </a:r>
            <a:r>
              <a:rPr sz="950">
                <a:latin typeface="Times New Roman"/>
                <a:cs typeface="Times New Roman"/>
              </a:rPr>
              <a:t>University</a:t>
            </a:r>
            <a:r>
              <a:rPr sz="950" spc="100">
                <a:latin typeface="Times New Roman"/>
                <a:cs typeface="Times New Roman"/>
              </a:rPr>
              <a:t> </a:t>
            </a:r>
            <a:r>
              <a:rPr sz="950">
                <a:latin typeface="Times New Roman"/>
                <a:cs typeface="Times New Roman"/>
              </a:rPr>
              <a:t>of</a:t>
            </a:r>
            <a:r>
              <a:rPr sz="950" spc="100">
                <a:latin typeface="Times New Roman"/>
                <a:cs typeface="Times New Roman"/>
              </a:rPr>
              <a:t> </a:t>
            </a:r>
            <a:r>
              <a:rPr sz="950" spc="-10">
                <a:latin typeface="Times New Roman"/>
                <a:cs typeface="Times New Roman"/>
              </a:rPr>
              <a:t>Edinburgh</a:t>
            </a:r>
            <a:endParaRPr sz="950">
              <a:latin typeface="Times New Roman"/>
              <a:cs typeface="Times New Roman"/>
            </a:endParaRPr>
          </a:p>
          <a:p>
            <a:pPr marL="31115" algn="ctr">
              <a:lnSpc>
                <a:spcPct val="100000"/>
              </a:lnSpc>
              <a:spcBef>
                <a:spcPts val="10"/>
              </a:spcBef>
            </a:pPr>
            <a:r>
              <a:rPr sz="950" spc="10">
                <a:latin typeface="Courier New"/>
                <a:cs typeface="Courier New"/>
              </a:rPr>
              <a:t>{rico.sennrich,a.birch}@ed.ac.uk</a:t>
            </a:r>
            <a:r>
              <a:rPr sz="950" spc="10">
                <a:latin typeface="Times New Roman"/>
                <a:cs typeface="Times New Roman"/>
              </a:rPr>
              <a:t>,</a:t>
            </a:r>
            <a:r>
              <a:rPr sz="950" spc="229">
                <a:latin typeface="Times New Roman"/>
                <a:cs typeface="Times New Roman"/>
              </a:rPr>
              <a:t> </a:t>
            </a:r>
            <a:r>
              <a:rPr sz="950" spc="-10">
                <a:latin typeface="Courier New"/>
                <a:cs typeface="Courier New"/>
                <a:hlinkClick r:id="rId2"/>
              </a:rPr>
              <a:t>bhaddow@inf.ed.ac.uk</a:t>
            </a:r>
            <a:endParaRPr sz="950">
              <a:latin typeface="Courier New"/>
              <a:cs typeface="Courier New"/>
            </a:endParaRPr>
          </a:p>
        </p:txBody>
      </p:sp>
      <p:pic>
        <p:nvPicPr>
          <p:cNvPr id="5" name="object 5"/>
          <p:cNvPicPr/>
          <p:nvPr/>
        </p:nvPicPr>
        <p:blipFill>
          <a:blip r:embed="rId3" cstate="print"/>
          <a:stretch>
            <a:fillRect/>
          </a:stretch>
        </p:blipFill>
        <p:spPr>
          <a:xfrm>
            <a:off x="5075943" y="2163009"/>
            <a:ext cx="4685485" cy="1677239"/>
          </a:xfrm>
          <a:prstGeom prst="rect">
            <a:avLst/>
          </a:prstGeom>
        </p:spPr>
      </p:pic>
      <p:pic>
        <p:nvPicPr>
          <p:cNvPr id="6" name="object 6"/>
          <p:cNvPicPr/>
          <p:nvPr/>
        </p:nvPicPr>
        <p:blipFill>
          <a:blip r:embed="rId4" cstate="print"/>
          <a:stretch>
            <a:fillRect/>
          </a:stretch>
        </p:blipFill>
        <p:spPr>
          <a:xfrm>
            <a:off x="5547911" y="3886200"/>
            <a:ext cx="3741550" cy="2287845"/>
          </a:xfrm>
          <a:prstGeom prst="rect">
            <a:avLst/>
          </a:prstGeom>
        </p:spPr>
      </p:pic>
      <p:sp>
        <p:nvSpPr>
          <p:cNvPr id="7" name="object 7"/>
          <p:cNvSpPr txBox="1"/>
          <p:nvPr/>
        </p:nvSpPr>
        <p:spPr>
          <a:xfrm>
            <a:off x="5682551" y="3988405"/>
            <a:ext cx="3407410" cy="1960245"/>
          </a:xfrm>
          <a:prstGeom prst="rect">
            <a:avLst/>
          </a:prstGeom>
        </p:spPr>
        <p:txBody>
          <a:bodyPr vert="horz" wrap="square" lIns="0" tIns="37465" rIns="0" bIns="0" rtlCol="0">
            <a:spAutoFit/>
          </a:bodyPr>
          <a:lstStyle/>
          <a:p>
            <a:pPr marL="12700" marR="5080">
              <a:lnSpc>
                <a:spcPts val="1880"/>
              </a:lnSpc>
              <a:spcBef>
                <a:spcPts val="295"/>
              </a:spcBef>
            </a:pPr>
            <a:r>
              <a:rPr sz="1700">
                <a:latin typeface="Arial"/>
                <a:cs typeface="Arial"/>
              </a:rPr>
              <a:t>The</a:t>
            </a:r>
            <a:r>
              <a:rPr sz="1700" spc="20">
                <a:latin typeface="Arial"/>
                <a:cs typeface="Arial"/>
              </a:rPr>
              <a:t> </a:t>
            </a:r>
            <a:r>
              <a:rPr sz="1700">
                <a:latin typeface="Arial"/>
                <a:cs typeface="Arial"/>
              </a:rPr>
              <a:t>main</a:t>
            </a:r>
            <a:r>
              <a:rPr sz="1700" spc="20">
                <a:latin typeface="Arial"/>
                <a:cs typeface="Arial"/>
              </a:rPr>
              <a:t> </a:t>
            </a:r>
            <a:r>
              <a:rPr sz="1700">
                <a:latin typeface="Arial"/>
                <a:cs typeface="Arial"/>
              </a:rPr>
              <a:t>motivation</a:t>
            </a:r>
            <a:r>
              <a:rPr sz="1700" spc="25">
                <a:latin typeface="Arial"/>
                <a:cs typeface="Arial"/>
              </a:rPr>
              <a:t> </a:t>
            </a:r>
            <a:r>
              <a:rPr sz="1700">
                <a:latin typeface="Arial"/>
                <a:cs typeface="Arial"/>
              </a:rPr>
              <a:t>behind</a:t>
            </a:r>
            <a:r>
              <a:rPr sz="1700" spc="20">
                <a:latin typeface="Arial"/>
                <a:cs typeface="Arial"/>
              </a:rPr>
              <a:t> </a:t>
            </a:r>
            <a:r>
              <a:rPr sz="1700" spc="-20">
                <a:latin typeface="Arial"/>
                <a:cs typeface="Arial"/>
              </a:rPr>
              <a:t>this </a:t>
            </a:r>
            <a:r>
              <a:rPr sz="1700">
                <a:latin typeface="Arial"/>
                <a:cs typeface="Arial"/>
              </a:rPr>
              <a:t>paper</a:t>
            </a:r>
            <a:r>
              <a:rPr sz="1700" spc="35">
                <a:latin typeface="Arial"/>
                <a:cs typeface="Arial"/>
              </a:rPr>
              <a:t> </a:t>
            </a:r>
            <a:r>
              <a:rPr sz="1700">
                <a:latin typeface="Arial"/>
                <a:cs typeface="Arial"/>
              </a:rPr>
              <a:t>is</a:t>
            </a:r>
            <a:r>
              <a:rPr sz="1700" spc="35">
                <a:latin typeface="Arial"/>
                <a:cs typeface="Arial"/>
              </a:rPr>
              <a:t> </a:t>
            </a:r>
            <a:r>
              <a:rPr sz="1700">
                <a:latin typeface="Arial"/>
                <a:cs typeface="Arial"/>
              </a:rPr>
              <a:t>that</a:t>
            </a:r>
            <a:r>
              <a:rPr sz="1700" spc="35">
                <a:latin typeface="Arial"/>
                <a:cs typeface="Arial"/>
              </a:rPr>
              <a:t> </a:t>
            </a:r>
            <a:r>
              <a:rPr sz="1700">
                <a:latin typeface="Arial"/>
                <a:cs typeface="Arial"/>
              </a:rPr>
              <a:t>the</a:t>
            </a:r>
            <a:r>
              <a:rPr sz="1700" spc="35">
                <a:latin typeface="Arial"/>
                <a:cs typeface="Arial"/>
              </a:rPr>
              <a:t> </a:t>
            </a:r>
            <a:r>
              <a:rPr sz="1700">
                <a:latin typeface="Arial"/>
                <a:cs typeface="Arial"/>
              </a:rPr>
              <a:t>translation</a:t>
            </a:r>
            <a:r>
              <a:rPr sz="1700" spc="35">
                <a:latin typeface="Arial"/>
                <a:cs typeface="Arial"/>
              </a:rPr>
              <a:t> </a:t>
            </a:r>
            <a:r>
              <a:rPr sz="1700" spc="-25">
                <a:latin typeface="Arial"/>
                <a:cs typeface="Arial"/>
              </a:rPr>
              <a:t>of </a:t>
            </a:r>
            <a:r>
              <a:rPr sz="1700">
                <a:latin typeface="Arial"/>
                <a:cs typeface="Arial"/>
              </a:rPr>
              <a:t>some</a:t>
            </a:r>
            <a:r>
              <a:rPr sz="1700" spc="10">
                <a:latin typeface="Arial"/>
                <a:cs typeface="Arial"/>
              </a:rPr>
              <a:t> </a:t>
            </a:r>
            <a:r>
              <a:rPr sz="1700">
                <a:latin typeface="Arial"/>
                <a:cs typeface="Arial"/>
              </a:rPr>
              <a:t>words</a:t>
            </a:r>
            <a:r>
              <a:rPr sz="1700" spc="10">
                <a:latin typeface="Arial"/>
                <a:cs typeface="Arial"/>
              </a:rPr>
              <a:t> </a:t>
            </a:r>
            <a:r>
              <a:rPr sz="1700">
                <a:latin typeface="Arial"/>
                <a:cs typeface="Arial"/>
              </a:rPr>
              <a:t>is</a:t>
            </a:r>
            <a:r>
              <a:rPr sz="1700" spc="10">
                <a:latin typeface="Arial"/>
                <a:cs typeface="Arial"/>
              </a:rPr>
              <a:t> </a:t>
            </a:r>
            <a:r>
              <a:rPr sz="1700">
                <a:latin typeface="Arial"/>
                <a:cs typeface="Arial"/>
              </a:rPr>
              <a:t>transparent</a:t>
            </a:r>
            <a:r>
              <a:rPr sz="1700" spc="10">
                <a:latin typeface="Arial"/>
                <a:cs typeface="Arial"/>
              </a:rPr>
              <a:t> </a:t>
            </a:r>
            <a:r>
              <a:rPr sz="1700">
                <a:latin typeface="Arial"/>
                <a:cs typeface="Arial"/>
              </a:rPr>
              <a:t>in</a:t>
            </a:r>
            <a:r>
              <a:rPr sz="1700" spc="10">
                <a:latin typeface="Arial"/>
                <a:cs typeface="Arial"/>
              </a:rPr>
              <a:t> </a:t>
            </a:r>
            <a:r>
              <a:rPr sz="1700" spc="-20">
                <a:latin typeface="Arial"/>
                <a:cs typeface="Arial"/>
              </a:rPr>
              <a:t>that </a:t>
            </a:r>
            <a:r>
              <a:rPr sz="1700">
                <a:latin typeface="Arial"/>
                <a:cs typeface="Arial"/>
              </a:rPr>
              <a:t>they</a:t>
            </a:r>
            <a:r>
              <a:rPr sz="1700" spc="-20">
                <a:latin typeface="Arial"/>
                <a:cs typeface="Arial"/>
              </a:rPr>
              <a:t> </a:t>
            </a:r>
            <a:r>
              <a:rPr sz="1700">
                <a:latin typeface="Arial"/>
                <a:cs typeface="Arial"/>
              </a:rPr>
              <a:t>are</a:t>
            </a:r>
            <a:r>
              <a:rPr sz="1700" spc="-15">
                <a:latin typeface="Arial"/>
                <a:cs typeface="Arial"/>
              </a:rPr>
              <a:t> </a:t>
            </a:r>
            <a:r>
              <a:rPr sz="1700">
                <a:latin typeface="Arial"/>
                <a:cs typeface="Arial"/>
              </a:rPr>
              <a:t>translatable</a:t>
            </a:r>
            <a:r>
              <a:rPr sz="1700" spc="-15">
                <a:latin typeface="Arial"/>
                <a:cs typeface="Arial"/>
              </a:rPr>
              <a:t> </a:t>
            </a:r>
            <a:r>
              <a:rPr sz="1700">
                <a:latin typeface="Arial"/>
                <a:cs typeface="Arial"/>
              </a:rPr>
              <a:t>by</a:t>
            </a:r>
            <a:r>
              <a:rPr sz="1700" spc="-15">
                <a:latin typeface="Arial"/>
                <a:cs typeface="Arial"/>
              </a:rPr>
              <a:t> </a:t>
            </a:r>
            <a:r>
              <a:rPr sz="1700" spc="-50">
                <a:latin typeface="Arial"/>
                <a:cs typeface="Arial"/>
              </a:rPr>
              <a:t>a </a:t>
            </a:r>
            <a:r>
              <a:rPr sz="1700">
                <a:latin typeface="Arial"/>
                <a:cs typeface="Arial"/>
              </a:rPr>
              <a:t>competent</a:t>
            </a:r>
            <a:r>
              <a:rPr sz="1700" spc="35">
                <a:latin typeface="Arial"/>
                <a:cs typeface="Arial"/>
              </a:rPr>
              <a:t> </a:t>
            </a:r>
            <a:r>
              <a:rPr sz="1700">
                <a:latin typeface="Arial"/>
                <a:cs typeface="Arial"/>
              </a:rPr>
              <a:t>translator</a:t>
            </a:r>
            <a:r>
              <a:rPr sz="1700" spc="35">
                <a:latin typeface="Arial"/>
                <a:cs typeface="Arial"/>
              </a:rPr>
              <a:t> </a:t>
            </a:r>
            <a:r>
              <a:rPr sz="1700">
                <a:latin typeface="Arial"/>
                <a:cs typeface="Arial"/>
              </a:rPr>
              <a:t>even</a:t>
            </a:r>
            <a:r>
              <a:rPr sz="1700" spc="35">
                <a:latin typeface="Arial"/>
                <a:cs typeface="Arial"/>
              </a:rPr>
              <a:t> </a:t>
            </a:r>
            <a:r>
              <a:rPr sz="1700">
                <a:latin typeface="Arial"/>
                <a:cs typeface="Arial"/>
              </a:rPr>
              <a:t>if</a:t>
            </a:r>
            <a:r>
              <a:rPr sz="1700" spc="35">
                <a:latin typeface="Arial"/>
                <a:cs typeface="Arial"/>
              </a:rPr>
              <a:t> </a:t>
            </a:r>
            <a:r>
              <a:rPr sz="1700" spc="-20">
                <a:latin typeface="Arial"/>
                <a:cs typeface="Arial"/>
              </a:rPr>
              <a:t>they </a:t>
            </a:r>
            <a:r>
              <a:rPr sz="1700">
                <a:latin typeface="Arial"/>
                <a:cs typeface="Arial"/>
              </a:rPr>
              <a:t>are</a:t>
            </a:r>
            <a:r>
              <a:rPr sz="1700" spc="-10">
                <a:latin typeface="Arial"/>
                <a:cs typeface="Arial"/>
              </a:rPr>
              <a:t> </a:t>
            </a:r>
            <a:r>
              <a:rPr sz="1700">
                <a:latin typeface="Arial"/>
                <a:cs typeface="Arial"/>
              </a:rPr>
              <a:t>novel</a:t>
            </a:r>
            <a:r>
              <a:rPr sz="1700" spc="-10">
                <a:latin typeface="Arial"/>
                <a:cs typeface="Arial"/>
              </a:rPr>
              <a:t> </a:t>
            </a:r>
            <a:r>
              <a:rPr sz="1700">
                <a:latin typeface="Arial"/>
                <a:cs typeface="Arial"/>
              </a:rPr>
              <a:t>to</a:t>
            </a:r>
            <a:r>
              <a:rPr sz="1700" spc="-10">
                <a:latin typeface="Arial"/>
                <a:cs typeface="Arial"/>
              </a:rPr>
              <a:t> </a:t>
            </a:r>
            <a:r>
              <a:rPr sz="1700">
                <a:latin typeface="Arial"/>
                <a:cs typeface="Arial"/>
              </a:rPr>
              <a:t>him</a:t>
            </a:r>
            <a:r>
              <a:rPr sz="1700" spc="-10">
                <a:latin typeface="Arial"/>
                <a:cs typeface="Arial"/>
              </a:rPr>
              <a:t> </a:t>
            </a:r>
            <a:r>
              <a:rPr sz="1700">
                <a:latin typeface="Arial"/>
                <a:cs typeface="Arial"/>
              </a:rPr>
              <a:t>or</a:t>
            </a:r>
            <a:r>
              <a:rPr sz="1700" spc="-10">
                <a:latin typeface="Arial"/>
                <a:cs typeface="Arial"/>
              </a:rPr>
              <a:t> </a:t>
            </a:r>
            <a:r>
              <a:rPr sz="1700" spc="-35">
                <a:latin typeface="Arial"/>
                <a:cs typeface="Arial"/>
              </a:rPr>
              <a:t>her,</a:t>
            </a:r>
            <a:r>
              <a:rPr sz="1700" spc="-10">
                <a:latin typeface="Arial"/>
                <a:cs typeface="Arial"/>
              </a:rPr>
              <a:t> </a:t>
            </a:r>
            <a:r>
              <a:rPr sz="1700">
                <a:latin typeface="Arial"/>
                <a:cs typeface="Arial"/>
              </a:rPr>
              <a:t>based</a:t>
            </a:r>
            <a:r>
              <a:rPr sz="1700" spc="-10">
                <a:latin typeface="Arial"/>
                <a:cs typeface="Arial"/>
              </a:rPr>
              <a:t> </a:t>
            </a:r>
            <a:r>
              <a:rPr sz="1700">
                <a:latin typeface="Arial"/>
                <a:cs typeface="Arial"/>
              </a:rPr>
              <a:t>on</a:t>
            </a:r>
            <a:r>
              <a:rPr sz="1700" spc="-10">
                <a:latin typeface="Arial"/>
                <a:cs typeface="Arial"/>
              </a:rPr>
              <a:t> </a:t>
            </a:r>
            <a:r>
              <a:rPr sz="1700" spc="-50">
                <a:latin typeface="Arial"/>
                <a:cs typeface="Arial"/>
              </a:rPr>
              <a:t>a </a:t>
            </a:r>
            <a:r>
              <a:rPr sz="1700">
                <a:latin typeface="Arial"/>
                <a:cs typeface="Arial"/>
              </a:rPr>
              <a:t>translation</a:t>
            </a:r>
            <a:r>
              <a:rPr sz="1700" spc="85">
                <a:latin typeface="Arial"/>
                <a:cs typeface="Arial"/>
              </a:rPr>
              <a:t> </a:t>
            </a:r>
            <a:r>
              <a:rPr sz="1700">
                <a:latin typeface="Arial"/>
                <a:cs typeface="Arial"/>
              </a:rPr>
              <a:t>of</a:t>
            </a:r>
            <a:r>
              <a:rPr sz="1700" spc="90">
                <a:latin typeface="Arial"/>
                <a:cs typeface="Arial"/>
              </a:rPr>
              <a:t> </a:t>
            </a:r>
            <a:r>
              <a:rPr sz="1700">
                <a:latin typeface="Arial"/>
                <a:cs typeface="Arial"/>
              </a:rPr>
              <a:t>known</a:t>
            </a:r>
            <a:r>
              <a:rPr sz="1700" spc="85">
                <a:latin typeface="Arial"/>
                <a:cs typeface="Arial"/>
              </a:rPr>
              <a:t> </a:t>
            </a:r>
            <a:r>
              <a:rPr sz="1700">
                <a:latin typeface="Arial"/>
                <a:cs typeface="Arial"/>
              </a:rPr>
              <a:t>subword</a:t>
            </a:r>
            <a:r>
              <a:rPr sz="1700" spc="90">
                <a:latin typeface="Arial"/>
                <a:cs typeface="Arial"/>
              </a:rPr>
              <a:t> </a:t>
            </a:r>
            <a:r>
              <a:rPr sz="1700" spc="-10">
                <a:latin typeface="Arial"/>
                <a:cs typeface="Arial"/>
              </a:rPr>
              <a:t>units </a:t>
            </a:r>
            <a:r>
              <a:rPr sz="1700">
                <a:latin typeface="Arial"/>
                <a:cs typeface="Arial"/>
              </a:rPr>
              <a:t>such</a:t>
            </a:r>
            <a:r>
              <a:rPr sz="1700" spc="30">
                <a:latin typeface="Arial"/>
                <a:cs typeface="Arial"/>
              </a:rPr>
              <a:t> </a:t>
            </a:r>
            <a:r>
              <a:rPr sz="1700">
                <a:latin typeface="Arial"/>
                <a:cs typeface="Arial"/>
              </a:rPr>
              <a:t>as</a:t>
            </a:r>
            <a:r>
              <a:rPr sz="1700" spc="30">
                <a:latin typeface="Arial"/>
                <a:cs typeface="Arial"/>
              </a:rPr>
              <a:t> </a:t>
            </a:r>
            <a:r>
              <a:rPr sz="1700">
                <a:latin typeface="Arial"/>
                <a:cs typeface="Arial"/>
              </a:rPr>
              <a:t>morphemes</a:t>
            </a:r>
            <a:r>
              <a:rPr sz="1700" spc="30">
                <a:latin typeface="Arial"/>
                <a:cs typeface="Arial"/>
              </a:rPr>
              <a:t> </a:t>
            </a:r>
            <a:r>
              <a:rPr sz="1700">
                <a:latin typeface="Arial"/>
                <a:cs typeface="Arial"/>
              </a:rPr>
              <a:t>or</a:t>
            </a:r>
            <a:r>
              <a:rPr sz="1700" spc="30">
                <a:latin typeface="Arial"/>
                <a:cs typeface="Arial"/>
              </a:rPr>
              <a:t> </a:t>
            </a:r>
            <a:r>
              <a:rPr sz="1700" spc="-10">
                <a:latin typeface="Arial"/>
                <a:cs typeface="Arial"/>
              </a:rPr>
              <a:t>phonemes.</a:t>
            </a:r>
            <a:endParaRPr sz="1700">
              <a:latin typeface="Arial"/>
              <a:cs typeface="Arial"/>
            </a:endParaRPr>
          </a:p>
        </p:txBody>
      </p:sp>
      <p:sp>
        <p:nvSpPr>
          <p:cNvPr id="8" name="object 8"/>
          <p:cNvSpPr txBox="1">
            <a:spLocks noGrp="1"/>
          </p:cNvSpPr>
          <p:nvPr>
            <p:ph type="sldNum" sz="quarter" idx="7"/>
          </p:nvPr>
        </p:nvSpPr>
        <p:spPr>
          <a:prstGeom prst="rect">
            <a:avLst/>
          </a:prstGeom>
        </p:spPr>
        <p:txBody>
          <a:bodyPr vert="horz" wrap="square" lIns="0" tIns="6985" rIns="0" bIns="0" rtlCol="0">
            <a:spAutoFit/>
          </a:bodyPr>
          <a:lstStyle/>
          <a:p>
            <a:pPr marL="38100">
              <a:lnSpc>
                <a:spcPct val="100000"/>
              </a:lnSpc>
              <a:spcBef>
                <a:spcPts val="55"/>
              </a:spcBef>
            </a:pPr>
            <a:fld id="{81D60167-4931-47E6-BA6A-407CBD079E47}" type="slidenum">
              <a:rPr spc="-25" dirty="0"/>
              <a:t>12</a:t>
            </a:fld>
            <a:endParaRPr spc="-25"/>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txBox="1">
            <a:spLocks noGrp="1"/>
          </p:cNvSpPr>
          <p:nvPr>
            <p:ph type="sldNum" sz="quarter" idx="7"/>
          </p:nvPr>
        </p:nvSpPr>
        <p:spPr>
          <a:prstGeom prst="rect">
            <a:avLst/>
          </a:prstGeom>
        </p:spPr>
        <p:txBody>
          <a:bodyPr vert="horz" wrap="square" lIns="0" tIns="6985" rIns="0" bIns="0" rtlCol="0">
            <a:spAutoFit/>
          </a:bodyPr>
          <a:lstStyle/>
          <a:p>
            <a:pPr marL="38100">
              <a:lnSpc>
                <a:spcPct val="100000"/>
              </a:lnSpc>
              <a:spcBef>
                <a:spcPts val="55"/>
              </a:spcBef>
            </a:pPr>
            <a:fld id="{81D60167-4931-47E6-BA6A-407CBD079E47}" type="slidenum">
              <a:rPr spc="-25" dirty="0"/>
              <a:t>13</a:t>
            </a:fld>
            <a:endParaRPr spc="-25"/>
          </a:p>
        </p:txBody>
      </p:sp>
      <p:sp>
        <p:nvSpPr>
          <p:cNvPr id="5" name="object 5"/>
          <p:cNvSpPr txBox="1"/>
          <p:nvPr/>
        </p:nvSpPr>
        <p:spPr>
          <a:xfrm>
            <a:off x="5562139" y="7457345"/>
            <a:ext cx="4424680" cy="174625"/>
          </a:xfrm>
          <a:prstGeom prst="rect">
            <a:avLst/>
          </a:prstGeom>
        </p:spPr>
        <p:txBody>
          <a:bodyPr vert="horz" wrap="square" lIns="0" tIns="6985" rIns="0" bIns="0" rtlCol="0">
            <a:spAutoFit/>
          </a:bodyPr>
          <a:lstStyle/>
          <a:p>
            <a:pPr marL="12700">
              <a:lnSpc>
                <a:spcPct val="100000"/>
              </a:lnSpc>
              <a:spcBef>
                <a:spcPts val="55"/>
              </a:spcBef>
            </a:pPr>
            <a:r>
              <a:rPr sz="1000">
                <a:latin typeface="Arial"/>
                <a:cs typeface="Arial"/>
              </a:rPr>
              <a:t>Example</a:t>
            </a:r>
            <a:r>
              <a:rPr sz="1000" spc="290">
                <a:latin typeface="Arial"/>
                <a:cs typeface="Arial"/>
              </a:rPr>
              <a:t> </a:t>
            </a:r>
            <a:r>
              <a:rPr sz="1000">
                <a:latin typeface="Arial"/>
                <a:cs typeface="Arial"/>
              </a:rPr>
              <a:t>from:</a:t>
            </a:r>
            <a:r>
              <a:rPr sz="1000" spc="290">
                <a:latin typeface="Arial"/>
                <a:cs typeface="Arial"/>
              </a:rPr>
              <a:t> </a:t>
            </a:r>
            <a:r>
              <a:rPr sz="1000" u="sng" spc="-10">
                <a:uFill>
                  <a:solidFill>
                    <a:srgbClr val="000000"/>
                  </a:solidFill>
                </a:uFill>
                <a:latin typeface="Arial"/>
                <a:cs typeface="Arial"/>
                <a:hlinkClick r:id="rId2"/>
              </a:rPr>
              <a:t>https://huggingface.co/docs/transformers/tokenizer_summary</a:t>
            </a:r>
            <a:endParaRPr sz="1000">
              <a:latin typeface="Arial"/>
              <a:cs typeface="Arial"/>
            </a:endParaRPr>
          </a:p>
        </p:txBody>
      </p:sp>
      <p:sp>
        <p:nvSpPr>
          <p:cNvPr id="2" name="object 2"/>
          <p:cNvSpPr txBox="1"/>
          <p:nvPr/>
        </p:nvSpPr>
        <p:spPr>
          <a:xfrm>
            <a:off x="566836" y="2416754"/>
            <a:ext cx="4409440" cy="4593590"/>
          </a:xfrm>
          <a:prstGeom prst="rect">
            <a:avLst/>
          </a:prstGeom>
        </p:spPr>
        <p:txBody>
          <a:bodyPr vert="horz" wrap="square" lIns="0" tIns="39370" rIns="0" bIns="0" rtlCol="0">
            <a:spAutoFit/>
          </a:bodyPr>
          <a:lstStyle/>
          <a:p>
            <a:pPr marL="233679" marR="276860" indent="-221615">
              <a:lnSpc>
                <a:spcPct val="91700"/>
              </a:lnSpc>
              <a:spcBef>
                <a:spcPts val="310"/>
              </a:spcBef>
              <a:buSzPct val="102380"/>
              <a:buFont typeface="Arial"/>
              <a:buChar char="•"/>
              <a:tabLst>
                <a:tab pos="233679" algn="l"/>
              </a:tabLst>
            </a:pPr>
            <a:r>
              <a:rPr sz="2100" spc="525">
                <a:latin typeface="Cambria"/>
                <a:cs typeface="Cambria"/>
              </a:rPr>
              <a:t>𝒱</a:t>
            </a:r>
            <a:r>
              <a:rPr sz="2100" spc="110">
                <a:latin typeface="Cambria"/>
                <a:cs typeface="Cambria"/>
              </a:rPr>
              <a:t> </a:t>
            </a:r>
            <a:r>
              <a:rPr sz="2100" spc="175">
                <a:latin typeface="Cambria"/>
                <a:cs typeface="Cambria"/>
              </a:rPr>
              <a:t>←</a:t>
            </a:r>
            <a:r>
              <a:rPr sz="2100" spc="110">
                <a:latin typeface="Cambria"/>
                <a:cs typeface="Cambria"/>
              </a:rPr>
              <a:t> </a:t>
            </a:r>
            <a:r>
              <a:rPr sz="1750">
                <a:latin typeface="Arial"/>
                <a:cs typeface="Arial"/>
              </a:rPr>
              <a:t>All</a:t>
            </a:r>
            <a:r>
              <a:rPr sz="1750" spc="-10">
                <a:latin typeface="Arial"/>
                <a:cs typeface="Arial"/>
              </a:rPr>
              <a:t> </a:t>
            </a:r>
            <a:r>
              <a:rPr sz="1750">
                <a:latin typeface="Arial"/>
                <a:cs typeface="Arial"/>
              </a:rPr>
              <a:t>characters</a:t>
            </a:r>
            <a:r>
              <a:rPr sz="1750" spc="-10">
                <a:latin typeface="Arial"/>
                <a:cs typeface="Arial"/>
              </a:rPr>
              <a:t> </a:t>
            </a:r>
            <a:r>
              <a:rPr sz="1750">
                <a:latin typeface="Arial"/>
                <a:cs typeface="Arial"/>
              </a:rPr>
              <a:t>in</a:t>
            </a:r>
            <a:r>
              <a:rPr sz="1750" spc="-15">
                <a:latin typeface="Arial"/>
                <a:cs typeface="Arial"/>
              </a:rPr>
              <a:t> </a:t>
            </a:r>
            <a:r>
              <a:rPr sz="1750">
                <a:latin typeface="Arial"/>
                <a:cs typeface="Arial"/>
              </a:rPr>
              <a:t>the</a:t>
            </a:r>
            <a:r>
              <a:rPr sz="1750" spc="-10">
                <a:latin typeface="Arial"/>
                <a:cs typeface="Arial"/>
              </a:rPr>
              <a:t> </a:t>
            </a:r>
            <a:r>
              <a:rPr sz="1750">
                <a:latin typeface="Arial"/>
                <a:cs typeface="Arial"/>
              </a:rPr>
              <a:t>training</a:t>
            </a:r>
            <a:r>
              <a:rPr sz="1750" spc="-10">
                <a:latin typeface="Arial"/>
                <a:cs typeface="Arial"/>
              </a:rPr>
              <a:t> </a:t>
            </a:r>
            <a:r>
              <a:rPr sz="1750" spc="-20">
                <a:latin typeface="Arial"/>
                <a:cs typeface="Arial"/>
              </a:rPr>
              <a:t>data </a:t>
            </a:r>
            <a:r>
              <a:rPr sz="1750" spc="-45">
                <a:latin typeface="Arial"/>
                <a:cs typeface="Arial"/>
              </a:rPr>
              <a:t>(as</a:t>
            </a:r>
            <a:r>
              <a:rPr sz="1750" spc="-55">
                <a:latin typeface="Arial"/>
                <a:cs typeface="Arial"/>
              </a:rPr>
              <a:t> </a:t>
            </a:r>
            <a:r>
              <a:rPr sz="1750">
                <a:latin typeface="Arial"/>
                <a:cs typeface="Arial"/>
              </a:rPr>
              <a:t>base</a:t>
            </a:r>
            <a:r>
              <a:rPr sz="1750" spc="-55">
                <a:latin typeface="Arial"/>
                <a:cs typeface="Arial"/>
              </a:rPr>
              <a:t> </a:t>
            </a:r>
            <a:r>
              <a:rPr sz="1750" b="1" spc="-10">
                <a:latin typeface="Arial"/>
                <a:cs typeface="Arial"/>
              </a:rPr>
              <a:t>tokens</a:t>
            </a:r>
            <a:r>
              <a:rPr sz="1750" spc="-10">
                <a:latin typeface="Arial"/>
                <a:cs typeface="Arial"/>
              </a:rPr>
              <a:t>)</a:t>
            </a:r>
            <a:endParaRPr sz="1750">
              <a:latin typeface="Arial"/>
              <a:cs typeface="Arial"/>
            </a:endParaRPr>
          </a:p>
          <a:p>
            <a:pPr marL="233679" indent="-220979">
              <a:lnSpc>
                <a:spcPct val="100000"/>
              </a:lnSpc>
              <a:spcBef>
                <a:spcPts val="1625"/>
              </a:spcBef>
              <a:buSzPct val="122857"/>
              <a:buChar char="•"/>
              <a:tabLst>
                <a:tab pos="233679" algn="l"/>
              </a:tabLst>
            </a:pPr>
            <a:r>
              <a:rPr sz="1750">
                <a:latin typeface="Arial"/>
                <a:cs typeface="Arial"/>
              </a:rPr>
              <a:t>For</a:t>
            </a:r>
            <a:r>
              <a:rPr sz="1750" spc="-50">
                <a:latin typeface="Arial"/>
                <a:cs typeface="Arial"/>
              </a:rPr>
              <a:t> </a:t>
            </a:r>
            <a:r>
              <a:rPr sz="2100" i="1">
                <a:latin typeface="Times New Roman"/>
                <a:cs typeface="Times New Roman"/>
              </a:rPr>
              <a:t>k</a:t>
            </a:r>
            <a:r>
              <a:rPr sz="2100" i="1" spc="-90">
                <a:latin typeface="Times New Roman"/>
                <a:cs typeface="Times New Roman"/>
              </a:rPr>
              <a:t> </a:t>
            </a:r>
            <a:r>
              <a:rPr sz="1750" spc="-10">
                <a:latin typeface="Arial"/>
                <a:cs typeface="Arial"/>
              </a:rPr>
              <a:t>steps:</a:t>
            </a:r>
            <a:endParaRPr sz="1750">
              <a:latin typeface="Arial"/>
              <a:cs typeface="Arial"/>
            </a:endParaRPr>
          </a:p>
          <a:p>
            <a:pPr marL="528320" marR="257810" lvl="1" indent="-221615">
              <a:lnSpc>
                <a:spcPct val="86400"/>
              </a:lnSpc>
              <a:spcBef>
                <a:spcPts val="1555"/>
              </a:spcBef>
              <a:buSzPct val="122857"/>
              <a:buChar char="-"/>
              <a:tabLst>
                <a:tab pos="528320" algn="l"/>
              </a:tabLst>
            </a:pPr>
            <a:r>
              <a:rPr sz="1750" spc="-40">
                <a:latin typeface="Arial"/>
                <a:cs typeface="Arial"/>
              </a:rPr>
              <a:t>Tokenize</a:t>
            </a:r>
            <a:r>
              <a:rPr sz="1750" spc="-5">
                <a:latin typeface="Arial"/>
                <a:cs typeface="Arial"/>
              </a:rPr>
              <a:t> </a:t>
            </a:r>
            <a:r>
              <a:rPr sz="1750">
                <a:latin typeface="Arial"/>
                <a:cs typeface="Arial"/>
              </a:rPr>
              <a:t>the</a:t>
            </a:r>
            <a:r>
              <a:rPr sz="1750" spc="-5">
                <a:latin typeface="Arial"/>
                <a:cs typeface="Arial"/>
              </a:rPr>
              <a:t> </a:t>
            </a:r>
            <a:r>
              <a:rPr sz="1750">
                <a:latin typeface="Arial"/>
                <a:cs typeface="Arial"/>
              </a:rPr>
              <a:t>data,</a:t>
            </a:r>
            <a:r>
              <a:rPr sz="1750" spc="-5">
                <a:latin typeface="Arial"/>
                <a:cs typeface="Arial"/>
              </a:rPr>
              <a:t> </a:t>
            </a:r>
            <a:r>
              <a:rPr sz="1750">
                <a:latin typeface="Arial"/>
                <a:cs typeface="Arial"/>
              </a:rPr>
              <a:t>taking</a:t>
            </a:r>
            <a:r>
              <a:rPr sz="1750" spc="-5">
                <a:latin typeface="Arial"/>
                <a:cs typeface="Arial"/>
              </a:rPr>
              <a:t> </a:t>
            </a:r>
            <a:r>
              <a:rPr sz="1750">
                <a:latin typeface="Arial"/>
                <a:cs typeface="Arial"/>
              </a:rPr>
              <a:t>the</a:t>
            </a:r>
            <a:r>
              <a:rPr sz="1750" spc="-5">
                <a:latin typeface="Arial"/>
                <a:cs typeface="Arial"/>
              </a:rPr>
              <a:t> </a:t>
            </a:r>
            <a:r>
              <a:rPr sz="1750" spc="-10">
                <a:latin typeface="Arial"/>
                <a:cs typeface="Arial"/>
              </a:rPr>
              <a:t>longest </a:t>
            </a:r>
            <a:r>
              <a:rPr sz="1750">
                <a:latin typeface="Arial"/>
                <a:cs typeface="Arial"/>
              </a:rPr>
              <a:t>prefix</a:t>
            </a:r>
            <a:r>
              <a:rPr sz="1750" spc="-20">
                <a:latin typeface="Arial"/>
                <a:cs typeface="Arial"/>
              </a:rPr>
              <a:t> </a:t>
            </a:r>
            <a:r>
              <a:rPr sz="1750">
                <a:latin typeface="Arial"/>
                <a:cs typeface="Arial"/>
              </a:rPr>
              <a:t>each</a:t>
            </a:r>
            <a:r>
              <a:rPr sz="1750" spc="-15">
                <a:latin typeface="Arial"/>
                <a:cs typeface="Arial"/>
              </a:rPr>
              <a:t> </a:t>
            </a:r>
            <a:r>
              <a:rPr sz="1750" spc="-20">
                <a:latin typeface="Arial"/>
                <a:cs typeface="Arial"/>
              </a:rPr>
              <a:t>time</a:t>
            </a:r>
            <a:endParaRPr sz="1750">
              <a:latin typeface="Arial"/>
              <a:cs typeface="Arial"/>
            </a:endParaRPr>
          </a:p>
          <a:p>
            <a:pPr marL="528320" marR="81915" lvl="1" indent="-221615">
              <a:lnSpc>
                <a:spcPct val="86400"/>
              </a:lnSpc>
              <a:spcBef>
                <a:spcPts val="1595"/>
              </a:spcBef>
              <a:buSzPct val="122857"/>
              <a:buChar char="-"/>
              <a:tabLst>
                <a:tab pos="528320" algn="l"/>
              </a:tabLst>
            </a:pPr>
            <a:r>
              <a:rPr sz="1750">
                <a:latin typeface="Arial"/>
                <a:cs typeface="Arial"/>
              </a:rPr>
              <a:t>Count</a:t>
            </a:r>
            <a:r>
              <a:rPr sz="1750" spc="5">
                <a:latin typeface="Arial"/>
                <a:cs typeface="Arial"/>
              </a:rPr>
              <a:t> </a:t>
            </a:r>
            <a:r>
              <a:rPr sz="1750">
                <a:latin typeface="Arial"/>
                <a:cs typeface="Arial"/>
              </a:rPr>
              <a:t>the</a:t>
            </a:r>
            <a:r>
              <a:rPr sz="1750" spc="10">
                <a:latin typeface="Arial"/>
                <a:cs typeface="Arial"/>
              </a:rPr>
              <a:t> </a:t>
            </a:r>
            <a:r>
              <a:rPr sz="1750">
                <a:latin typeface="Arial"/>
                <a:cs typeface="Arial"/>
              </a:rPr>
              <a:t>frequency</a:t>
            </a:r>
            <a:r>
              <a:rPr sz="1750" spc="5">
                <a:latin typeface="Arial"/>
                <a:cs typeface="Arial"/>
              </a:rPr>
              <a:t> </a:t>
            </a:r>
            <a:r>
              <a:rPr sz="1750">
                <a:latin typeface="Arial"/>
                <a:cs typeface="Arial"/>
              </a:rPr>
              <a:t>of</a:t>
            </a:r>
            <a:r>
              <a:rPr sz="1750" spc="10">
                <a:latin typeface="Arial"/>
                <a:cs typeface="Arial"/>
              </a:rPr>
              <a:t> </a:t>
            </a:r>
            <a:r>
              <a:rPr sz="1750">
                <a:latin typeface="Arial"/>
                <a:cs typeface="Arial"/>
              </a:rPr>
              <a:t>adjacent</a:t>
            </a:r>
            <a:r>
              <a:rPr sz="1750" spc="10">
                <a:latin typeface="Arial"/>
                <a:cs typeface="Arial"/>
              </a:rPr>
              <a:t> </a:t>
            </a:r>
            <a:r>
              <a:rPr sz="1750" spc="-20">
                <a:latin typeface="Arial"/>
                <a:cs typeface="Arial"/>
              </a:rPr>
              <a:t>token </a:t>
            </a:r>
            <a:r>
              <a:rPr sz="1750">
                <a:latin typeface="Arial"/>
                <a:cs typeface="Arial"/>
              </a:rPr>
              <a:t>pairs</a:t>
            </a:r>
            <a:r>
              <a:rPr sz="1750" spc="-10">
                <a:latin typeface="Arial"/>
                <a:cs typeface="Arial"/>
              </a:rPr>
              <a:t> </a:t>
            </a:r>
            <a:r>
              <a:rPr sz="1750">
                <a:latin typeface="Arial"/>
                <a:cs typeface="Arial"/>
              </a:rPr>
              <a:t>in</a:t>
            </a:r>
            <a:r>
              <a:rPr sz="1750" spc="-10">
                <a:latin typeface="Arial"/>
                <a:cs typeface="Arial"/>
              </a:rPr>
              <a:t> </a:t>
            </a:r>
            <a:r>
              <a:rPr sz="1750">
                <a:latin typeface="Arial"/>
                <a:cs typeface="Arial"/>
              </a:rPr>
              <a:t>the</a:t>
            </a:r>
            <a:r>
              <a:rPr sz="1750" spc="-10">
                <a:latin typeface="Arial"/>
                <a:cs typeface="Arial"/>
              </a:rPr>
              <a:t> </a:t>
            </a:r>
            <a:r>
              <a:rPr sz="1750" spc="-20">
                <a:latin typeface="Arial"/>
                <a:cs typeface="Arial"/>
              </a:rPr>
              <a:t>data</a:t>
            </a:r>
            <a:endParaRPr sz="1750">
              <a:latin typeface="Arial"/>
              <a:cs typeface="Arial"/>
            </a:endParaRPr>
          </a:p>
          <a:p>
            <a:pPr marL="528320" marR="5080" lvl="1" indent="-221615">
              <a:lnSpc>
                <a:spcPct val="89300"/>
              </a:lnSpc>
              <a:spcBef>
                <a:spcPts val="1845"/>
              </a:spcBef>
              <a:buSzPct val="122857"/>
              <a:buChar char="-"/>
              <a:tabLst>
                <a:tab pos="528320" algn="l"/>
              </a:tabLst>
            </a:pPr>
            <a:r>
              <a:rPr sz="1750">
                <a:latin typeface="Arial"/>
                <a:cs typeface="Arial"/>
              </a:rPr>
              <a:t>Choose</a:t>
            </a:r>
            <a:r>
              <a:rPr sz="1750" spc="20">
                <a:latin typeface="Arial"/>
                <a:cs typeface="Arial"/>
              </a:rPr>
              <a:t> </a:t>
            </a:r>
            <a:r>
              <a:rPr sz="1750">
                <a:latin typeface="Arial"/>
                <a:cs typeface="Arial"/>
              </a:rPr>
              <a:t>the</a:t>
            </a:r>
            <a:r>
              <a:rPr sz="1750" spc="25">
                <a:latin typeface="Arial"/>
                <a:cs typeface="Arial"/>
              </a:rPr>
              <a:t> </a:t>
            </a:r>
            <a:r>
              <a:rPr sz="1750">
                <a:latin typeface="Arial"/>
                <a:cs typeface="Arial"/>
              </a:rPr>
              <a:t>pair</a:t>
            </a:r>
            <a:r>
              <a:rPr sz="1750" spc="25">
                <a:latin typeface="Arial"/>
                <a:cs typeface="Arial"/>
              </a:rPr>
              <a:t> </a:t>
            </a:r>
            <a:r>
              <a:rPr sz="2100" spc="60">
                <a:latin typeface="Cambria"/>
                <a:cs typeface="Cambria"/>
              </a:rPr>
              <a:t>⟨</a:t>
            </a:r>
            <a:r>
              <a:rPr sz="2100" i="1" spc="60">
                <a:latin typeface="Times New Roman"/>
                <a:cs typeface="Times New Roman"/>
              </a:rPr>
              <a:t>l</a:t>
            </a:r>
            <a:r>
              <a:rPr sz="2100" spc="60">
                <a:latin typeface="Cambria"/>
                <a:cs typeface="Cambria"/>
              </a:rPr>
              <a:t>,</a:t>
            </a:r>
            <a:r>
              <a:rPr sz="2100" spc="-95">
                <a:latin typeface="Cambria"/>
                <a:cs typeface="Cambria"/>
              </a:rPr>
              <a:t> </a:t>
            </a:r>
            <a:r>
              <a:rPr sz="2100" i="1">
                <a:latin typeface="Times New Roman"/>
                <a:cs typeface="Times New Roman"/>
              </a:rPr>
              <a:t>r</a:t>
            </a:r>
            <a:r>
              <a:rPr sz="2100">
                <a:latin typeface="Cambria"/>
                <a:cs typeface="Cambria"/>
              </a:rPr>
              <a:t>⟩</a:t>
            </a:r>
            <a:r>
              <a:rPr sz="2100" spc="50">
                <a:latin typeface="Cambria"/>
                <a:cs typeface="Cambria"/>
              </a:rPr>
              <a:t> </a:t>
            </a:r>
            <a:r>
              <a:rPr sz="1750">
                <a:latin typeface="Arial"/>
                <a:cs typeface="Arial"/>
              </a:rPr>
              <a:t>that</a:t>
            </a:r>
            <a:r>
              <a:rPr sz="1750" spc="20">
                <a:latin typeface="Arial"/>
                <a:cs typeface="Arial"/>
              </a:rPr>
              <a:t> </a:t>
            </a:r>
            <a:r>
              <a:rPr sz="1750">
                <a:latin typeface="Arial"/>
                <a:cs typeface="Arial"/>
              </a:rPr>
              <a:t>occurs</a:t>
            </a:r>
            <a:r>
              <a:rPr sz="1750" spc="25">
                <a:latin typeface="Arial"/>
                <a:cs typeface="Arial"/>
              </a:rPr>
              <a:t> </a:t>
            </a:r>
            <a:r>
              <a:rPr sz="1750" spc="-20">
                <a:latin typeface="Arial"/>
                <a:cs typeface="Arial"/>
              </a:rPr>
              <a:t>most </a:t>
            </a:r>
            <a:r>
              <a:rPr sz="1750" spc="-10">
                <a:latin typeface="Arial"/>
                <a:cs typeface="Arial"/>
              </a:rPr>
              <a:t>frequently</a:t>
            </a:r>
            <a:endParaRPr sz="1750">
              <a:latin typeface="Arial"/>
              <a:cs typeface="Arial"/>
            </a:endParaRPr>
          </a:p>
          <a:p>
            <a:pPr marL="528320" marR="417830" lvl="1" indent="-221615">
              <a:lnSpc>
                <a:spcPts val="2220"/>
              </a:lnSpc>
              <a:spcBef>
                <a:spcPts val="1614"/>
              </a:spcBef>
              <a:buSzPct val="122857"/>
              <a:buChar char="-"/>
              <a:tabLst>
                <a:tab pos="528320" algn="l"/>
              </a:tabLst>
            </a:pPr>
            <a:r>
              <a:rPr sz="1750">
                <a:latin typeface="Arial"/>
                <a:cs typeface="Arial"/>
              </a:rPr>
              <a:t>Add</a:t>
            </a:r>
            <a:r>
              <a:rPr sz="1750" spc="5">
                <a:latin typeface="Arial"/>
                <a:cs typeface="Arial"/>
              </a:rPr>
              <a:t> </a:t>
            </a:r>
            <a:r>
              <a:rPr sz="1750">
                <a:latin typeface="Arial"/>
                <a:cs typeface="Arial"/>
              </a:rPr>
              <a:t>the</a:t>
            </a:r>
            <a:r>
              <a:rPr sz="1750" spc="5">
                <a:latin typeface="Arial"/>
                <a:cs typeface="Arial"/>
              </a:rPr>
              <a:t> </a:t>
            </a:r>
            <a:r>
              <a:rPr sz="1750">
                <a:latin typeface="Arial"/>
                <a:cs typeface="Arial"/>
              </a:rPr>
              <a:t>pair</a:t>
            </a:r>
            <a:r>
              <a:rPr sz="1750" spc="5">
                <a:latin typeface="Arial"/>
                <a:cs typeface="Arial"/>
              </a:rPr>
              <a:t> </a:t>
            </a:r>
            <a:r>
              <a:rPr sz="1750">
                <a:latin typeface="Arial"/>
                <a:cs typeface="Arial"/>
              </a:rPr>
              <a:t>to</a:t>
            </a:r>
            <a:r>
              <a:rPr sz="1750" spc="10">
                <a:latin typeface="Arial"/>
                <a:cs typeface="Arial"/>
              </a:rPr>
              <a:t> </a:t>
            </a:r>
            <a:r>
              <a:rPr sz="1750">
                <a:latin typeface="Arial"/>
                <a:cs typeface="Arial"/>
              </a:rPr>
              <a:t>the</a:t>
            </a:r>
            <a:r>
              <a:rPr sz="1750" spc="5">
                <a:latin typeface="Arial"/>
                <a:cs typeface="Arial"/>
              </a:rPr>
              <a:t> </a:t>
            </a:r>
            <a:r>
              <a:rPr sz="1750">
                <a:latin typeface="Arial"/>
                <a:cs typeface="Arial"/>
              </a:rPr>
              <a:t>vocabulary</a:t>
            </a:r>
            <a:r>
              <a:rPr sz="1750" spc="5">
                <a:latin typeface="Arial"/>
                <a:cs typeface="Arial"/>
              </a:rPr>
              <a:t> </a:t>
            </a:r>
            <a:r>
              <a:rPr sz="1750">
                <a:latin typeface="Arial"/>
                <a:cs typeface="Arial"/>
              </a:rPr>
              <a:t>as</a:t>
            </a:r>
            <a:r>
              <a:rPr sz="1750" spc="5">
                <a:latin typeface="Arial"/>
                <a:cs typeface="Arial"/>
              </a:rPr>
              <a:t> </a:t>
            </a:r>
            <a:r>
              <a:rPr sz="1750" spc="-50">
                <a:latin typeface="Arial"/>
                <a:cs typeface="Arial"/>
              </a:rPr>
              <a:t>a </a:t>
            </a:r>
            <a:r>
              <a:rPr sz="1750">
                <a:latin typeface="Arial"/>
                <a:cs typeface="Arial"/>
              </a:rPr>
              <a:t>new token</a:t>
            </a:r>
            <a:r>
              <a:rPr sz="1750" spc="5">
                <a:latin typeface="Arial"/>
                <a:cs typeface="Arial"/>
              </a:rPr>
              <a:t> </a:t>
            </a:r>
            <a:r>
              <a:rPr sz="2100" spc="525">
                <a:latin typeface="Cambria"/>
                <a:cs typeface="Cambria"/>
              </a:rPr>
              <a:t>𝒱</a:t>
            </a:r>
            <a:r>
              <a:rPr sz="2100" spc="130">
                <a:latin typeface="Cambria"/>
                <a:cs typeface="Cambria"/>
              </a:rPr>
              <a:t> </a:t>
            </a:r>
            <a:r>
              <a:rPr sz="2100" spc="175">
                <a:latin typeface="Cambria"/>
                <a:cs typeface="Cambria"/>
              </a:rPr>
              <a:t>←</a:t>
            </a:r>
            <a:r>
              <a:rPr sz="2100" spc="130">
                <a:latin typeface="Cambria"/>
                <a:cs typeface="Cambria"/>
              </a:rPr>
              <a:t> </a:t>
            </a:r>
            <a:r>
              <a:rPr sz="2100" spc="525">
                <a:latin typeface="Cambria"/>
                <a:cs typeface="Cambria"/>
              </a:rPr>
              <a:t>𝒱</a:t>
            </a:r>
            <a:r>
              <a:rPr sz="2100" spc="5">
                <a:latin typeface="Cambria"/>
                <a:cs typeface="Cambria"/>
              </a:rPr>
              <a:t> </a:t>
            </a:r>
            <a:r>
              <a:rPr sz="2100" spc="-130">
                <a:latin typeface="Cambria"/>
                <a:cs typeface="Cambria"/>
              </a:rPr>
              <a:t>∪</a:t>
            </a:r>
            <a:r>
              <a:rPr sz="2100" spc="10">
                <a:latin typeface="Cambria"/>
                <a:cs typeface="Cambria"/>
              </a:rPr>
              <a:t> </a:t>
            </a:r>
            <a:r>
              <a:rPr sz="2100" spc="75">
                <a:latin typeface="Cambria"/>
                <a:cs typeface="Cambria"/>
              </a:rPr>
              <a:t>{</a:t>
            </a:r>
            <a:r>
              <a:rPr sz="2100" i="1" spc="75">
                <a:latin typeface="Times New Roman"/>
                <a:cs typeface="Times New Roman"/>
              </a:rPr>
              <a:t>lr</a:t>
            </a:r>
            <a:r>
              <a:rPr sz="2100" spc="75">
                <a:latin typeface="Cambria"/>
                <a:cs typeface="Cambria"/>
              </a:rPr>
              <a:t>}</a:t>
            </a:r>
            <a:endParaRPr sz="2100">
              <a:latin typeface="Cambria"/>
              <a:cs typeface="Cambria"/>
            </a:endParaRPr>
          </a:p>
          <a:p>
            <a:pPr marL="233679" indent="-220979">
              <a:lnSpc>
                <a:spcPct val="100000"/>
              </a:lnSpc>
              <a:spcBef>
                <a:spcPts val="1565"/>
              </a:spcBef>
              <a:buSzPct val="122857"/>
              <a:buChar char="•"/>
              <a:tabLst>
                <a:tab pos="233679" algn="l"/>
              </a:tabLst>
            </a:pPr>
            <a:r>
              <a:rPr sz="1750">
                <a:latin typeface="Arial"/>
                <a:cs typeface="Arial"/>
              </a:rPr>
              <a:t>Return</a:t>
            </a:r>
            <a:r>
              <a:rPr sz="1750" spc="-75">
                <a:latin typeface="Arial"/>
                <a:cs typeface="Arial"/>
              </a:rPr>
              <a:t> </a:t>
            </a:r>
            <a:r>
              <a:rPr sz="2100" spc="475">
                <a:latin typeface="Cambria"/>
                <a:cs typeface="Cambria"/>
              </a:rPr>
              <a:t>𝒱</a:t>
            </a:r>
            <a:endParaRPr sz="2100">
              <a:latin typeface="Cambria"/>
              <a:cs typeface="Cambria"/>
            </a:endParaRPr>
          </a:p>
        </p:txBody>
      </p:sp>
      <p:sp>
        <p:nvSpPr>
          <p:cNvPr id="3" name="object 3" descr="$PPTXTitle"/>
          <p:cNvSpPr txBox="1">
            <a:spLocks noGrp="1"/>
          </p:cNvSpPr>
          <p:nvPr>
            <p:ph type="title"/>
          </p:nvPr>
        </p:nvSpPr>
        <p:spPr>
          <a:prstGeom prst="rect">
            <a:avLst/>
          </a:prstGeom>
        </p:spPr>
        <p:txBody>
          <a:bodyPr vert="horz" wrap="square" lIns="0" tIns="88466" rIns="0" bIns="0" rtlCol="0">
            <a:spAutoFit/>
          </a:bodyPr>
          <a:lstStyle/>
          <a:p>
            <a:pPr marL="12700">
              <a:lnSpc>
                <a:spcPct val="100000"/>
              </a:lnSpc>
              <a:spcBef>
                <a:spcPts val="95"/>
              </a:spcBef>
            </a:pPr>
            <a:r>
              <a:rPr spc="-125"/>
              <a:t>Byte</a:t>
            </a:r>
            <a:r>
              <a:rPr spc="-190"/>
              <a:t> </a:t>
            </a:r>
            <a:r>
              <a:rPr spc="-80"/>
              <a:t>Pair</a:t>
            </a:r>
            <a:r>
              <a:rPr spc="-185"/>
              <a:t> </a:t>
            </a:r>
            <a:r>
              <a:rPr spc="-140"/>
              <a:t>Encoding</a:t>
            </a:r>
            <a:r>
              <a:rPr spc="-185"/>
              <a:t> </a:t>
            </a:r>
            <a:r>
              <a:rPr spc="-130"/>
              <a:t>(BPE)</a:t>
            </a:r>
          </a:p>
        </p:txBody>
      </p:sp>
      <p:graphicFrame>
        <p:nvGraphicFramePr>
          <p:cNvPr id="7" name="object 5">
            <a:extLst>
              <a:ext uri="{FF2B5EF4-FFF2-40B4-BE49-F238E27FC236}">
                <a16:creationId xmlns:a16="http://schemas.microsoft.com/office/drawing/2014/main" id="{38E990E0-F6A4-70F3-0C66-2C0FA669EA4E}"/>
              </a:ext>
            </a:extLst>
          </p:cNvPr>
          <p:cNvGraphicFramePr>
            <a:graphicFrameLocks noGrp="1"/>
          </p:cNvGraphicFramePr>
          <p:nvPr>
            <p:extLst>
              <p:ext uri="{D42A27DB-BD31-4B8C-83A1-F6EECF244321}">
                <p14:modId xmlns:p14="http://schemas.microsoft.com/office/powerpoint/2010/main" val="1908521901"/>
              </p:ext>
            </p:extLst>
          </p:nvPr>
        </p:nvGraphicFramePr>
        <p:xfrm>
          <a:off x="6040933" y="3239742"/>
          <a:ext cx="3069590" cy="2015490"/>
        </p:xfrm>
        <a:graphic>
          <a:graphicData uri="http://schemas.openxmlformats.org/drawingml/2006/table">
            <a:tbl>
              <a:tblPr firstRow="1" bandRow="1">
                <a:tableStyleId>{2D5ABB26-0587-4C30-8999-92F81FD0307C}</a:tableStyleId>
              </a:tblPr>
              <a:tblGrid>
                <a:gridCol w="1404620">
                  <a:extLst>
                    <a:ext uri="{9D8B030D-6E8A-4147-A177-3AD203B41FA5}">
                      <a16:colId xmlns:a16="http://schemas.microsoft.com/office/drawing/2014/main" val="20000"/>
                    </a:ext>
                  </a:extLst>
                </a:gridCol>
                <a:gridCol w="1664970">
                  <a:extLst>
                    <a:ext uri="{9D8B030D-6E8A-4147-A177-3AD203B41FA5}">
                      <a16:colId xmlns:a16="http://schemas.microsoft.com/office/drawing/2014/main" val="20001"/>
                    </a:ext>
                  </a:extLst>
                </a:gridCol>
              </a:tblGrid>
              <a:tr h="345440">
                <a:tc>
                  <a:txBody>
                    <a:bodyPr/>
                    <a:lstStyle/>
                    <a:p>
                      <a:pPr marL="129539" algn="ctr">
                        <a:lnSpc>
                          <a:spcPct val="100000"/>
                        </a:lnSpc>
                        <a:spcBef>
                          <a:spcPts val="395"/>
                        </a:spcBef>
                      </a:pPr>
                      <a:r>
                        <a:rPr sz="1600" b="1" spc="-20">
                          <a:latin typeface="Arial"/>
                          <a:cs typeface="Arial"/>
                        </a:rPr>
                        <a:t>Word</a:t>
                      </a:r>
                      <a:endParaRPr sz="1600">
                        <a:latin typeface="Arial"/>
                        <a:cs typeface="Arial"/>
                      </a:endParaRPr>
                    </a:p>
                  </a:txBody>
                  <a:tcPr marL="0" marR="0" marT="50165" marB="0">
                    <a:lnB w="12700">
                      <a:solidFill>
                        <a:srgbClr val="536773"/>
                      </a:solidFill>
                      <a:prstDash val="solid"/>
                    </a:lnB>
                    <a:solidFill>
                      <a:srgbClr val="56C1FF"/>
                    </a:solidFill>
                  </a:tcPr>
                </a:tc>
                <a:tc>
                  <a:txBody>
                    <a:bodyPr/>
                    <a:lstStyle/>
                    <a:p>
                      <a:pPr marL="129539" algn="ctr">
                        <a:lnSpc>
                          <a:spcPct val="100000"/>
                        </a:lnSpc>
                        <a:spcBef>
                          <a:spcPts val="395"/>
                        </a:spcBef>
                      </a:pPr>
                      <a:r>
                        <a:rPr sz="1600" b="1" spc="-10">
                          <a:latin typeface="Arial"/>
                          <a:cs typeface="Arial"/>
                        </a:rPr>
                        <a:t>Frequency</a:t>
                      </a:r>
                      <a:endParaRPr sz="1600">
                        <a:latin typeface="Arial"/>
                        <a:cs typeface="Arial"/>
                      </a:endParaRPr>
                    </a:p>
                  </a:txBody>
                  <a:tcPr marL="0" marR="0" marT="50165" marB="0">
                    <a:lnB w="12700">
                      <a:solidFill>
                        <a:srgbClr val="536773"/>
                      </a:solidFill>
                      <a:prstDash val="solid"/>
                    </a:lnB>
                    <a:solidFill>
                      <a:srgbClr val="56C1FF"/>
                    </a:solidFill>
                  </a:tcPr>
                </a:tc>
                <a:extLst>
                  <a:ext uri="{0D108BD9-81ED-4DB2-BD59-A6C34878D82A}">
                    <a16:rowId xmlns:a16="http://schemas.microsoft.com/office/drawing/2014/main" val="10000"/>
                  </a:ext>
                </a:extLst>
              </a:tr>
              <a:tr h="345440">
                <a:tc>
                  <a:txBody>
                    <a:bodyPr/>
                    <a:lstStyle/>
                    <a:p>
                      <a:pPr marL="129539" algn="ctr">
                        <a:lnSpc>
                          <a:spcPct val="100000"/>
                        </a:lnSpc>
                        <a:spcBef>
                          <a:spcPts val="365"/>
                        </a:spcBef>
                      </a:pPr>
                      <a:r>
                        <a:rPr sz="1600" spc="-25">
                          <a:latin typeface="Arial"/>
                          <a:cs typeface="Arial"/>
                        </a:rPr>
                        <a:t>hug</a:t>
                      </a:r>
                      <a:endParaRPr sz="1600">
                        <a:latin typeface="Arial"/>
                        <a:cs typeface="Arial"/>
                      </a:endParaRPr>
                    </a:p>
                  </a:txBody>
                  <a:tcPr marL="0" marR="0" marT="46355" marB="0">
                    <a:lnT w="12700">
                      <a:solidFill>
                        <a:srgbClr val="536773"/>
                      </a:solidFill>
                      <a:prstDash val="solid"/>
                    </a:lnT>
                  </a:tcPr>
                </a:tc>
                <a:tc>
                  <a:txBody>
                    <a:bodyPr/>
                    <a:lstStyle/>
                    <a:p>
                      <a:pPr marL="129539" algn="ctr">
                        <a:lnSpc>
                          <a:spcPct val="100000"/>
                        </a:lnSpc>
                        <a:spcBef>
                          <a:spcPts val="365"/>
                        </a:spcBef>
                      </a:pPr>
                      <a:r>
                        <a:rPr sz="1600" spc="-25">
                          <a:latin typeface="Arial"/>
                          <a:cs typeface="Arial"/>
                        </a:rPr>
                        <a:t>10</a:t>
                      </a:r>
                      <a:endParaRPr sz="1600">
                        <a:latin typeface="Arial"/>
                        <a:cs typeface="Arial"/>
                      </a:endParaRPr>
                    </a:p>
                  </a:txBody>
                  <a:tcPr marL="0" marR="0" marT="46355" marB="0">
                    <a:lnT w="12700">
                      <a:solidFill>
                        <a:srgbClr val="536773"/>
                      </a:solidFill>
                      <a:prstDash val="solid"/>
                    </a:lnT>
                  </a:tcPr>
                </a:tc>
                <a:extLst>
                  <a:ext uri="{0D108BD9-81ED-4DB2-BD59-A6C34878D82A}">
                    <a16:rowId xmlns:a16="http://schemas.microsoft.com/office/drawing/2014/main" val="10001"/>
                  </a:ext>
                </a:extLst>
              </a:tr>
              <a:tr h="345440">
                <a:tc>
                  <a:txBody>
                    <a:bodyPr/>
                    <a:lstStyle/>
                    <a:p>
                      <a:pPr marL="129539" algn="ctr">
                        <a:lnSpc>
                          <a:spcPct val="100000"/>
                        </a:lnSpc>
                        <a:spcBef>
                          <a:spcPts val="325"/>
                        </a:spcBef>
                      </a:pPr>
                      <a:r>
                        <a:rPr sz="1600" spc="-25">
                          <a:latin typeface="Arial"/>
                          <a:cs typeface="Arial"/>
                        </a:rPr>
                        <a:t>pug</a:t>
                      </a:r>
                      <a:endParaRPr sz="1600">
                        <a:latin typeface="Arial"/>
                        <a:cs typeface="Arial"/>
                      </a:endParaRPr>
                    </a:p>
                  </a:txBody>
                  <a:tcPr marL="0" marR="0" marT="41275" marB="0">
                    <a:solidFill>
                      <a:srgbClr val="E3E5E8"/>
                    </a:solidFill>
                  </a:tcPr>
                </a:tc>
                <a:tc>
                  <a:txBody>
                    <a:bodyPr/>
                    <a:lstStyle/>
                    <a:p>
                      <a:pPr marL="129539" algn="ctr">
                        <a:lnSpc>
                          <a:spcPct val="100000"/>
                        </a:lnSpc>
                        <a:spcBef>
                          <a:spcPts val="325"/>
                        </a:spcBef>
                      </a:pPr>
                      <a:r>
                        <a:rPr sz="1600" spc="-50">
                          <a:latin typeface="Arial"/>
                          <a:cs typeface="Arial"/>
                        </a:rPr>
                        <a:t>5</a:t>
                      </a:r>
                      <a:endParaRPr sz="1600">
                        <a:latin typeface="Arial"/>
                        <a:cs typeface="Arial"/>
                      </a:endParaRPr>
                    </a:p>
                  </a:txBody>
                  <a:tcPr marL="0" marR="0" marT="41275" marB="0">
                    <a:solidFill>
                      <a:srgbClr val="E3E5E8"/>
                    </a:solidFill>
                  </a:tcPr>
                </a:tc>
                <a:extLst>
                  <a:ext uri="{0D108BD9-81ED-4DB2-BD59-A6C34878D82A}">
                    <a16:rowId xmlns:a16="http://schemas.microsoft.com/office/drawing/2014/main" val="10002"/>
                  </a:ext>
                </a:extLst>
              </a:tr>
              <a:tr h="345440">
                <a:tc>
                  <a:txBody>
                    <a:bodyPr/>
                    <a:lstStyle/>
                    <a:p>
                      <a:pPr marL="129539" algn="ctr">
                        <a:lnSpc>
                          <a:spcPct val="100000"/>
                        </a:lnSpc>
                        <a:spcBef>
                          <a:spcPts val="325"/>
                        </a:spcBef>
                      </a:pPr>
                      <a:r>
                        <a:rPr sz="1600" spc="-25">
                          <a:latin typeface="Arial"/>
                          <a:cs typeface="Arial"/>
                        </a:rPr>
                        <a:t>pun</a:t>
                      </a:r>
                      <a:endParaRPr sz="1600">
                        <a:latin typeface="Arial"/>
                        <a:cs typeface="Arial"/>
                      </a:endParaRPr>
                    </a:p>
                  </a:txBody>
                  <a:tcPr marL="0" marR="0" marT="41275" marB="0"/>
                </a:tc>
                <a:tc>
                  <a:txBody>
                    <a:bodyPr/>
                    <a:lstStyle/>
                    <a:p>
                      <a:pPr marL="129539" algn="ctr">
                        <a:lnSpc>
                          <a:spcPct val="100000"/>
                        </a:lnSpc>
                        <a:spcBef>
                          <a:spcPts val="325"/>
                        </a:spcBef>
                      </a:pPr>
                      <a:r>
                        <a:rPr sz="1600" spc="-25">
                          <a:latin typeface="Arial"/>
                          <a:cs typeface="Arial"/>
                        </a:rPr>
                        <a:t>12</a:t>
                      </a:r>
                      <a:endParaRPr sz="1600">
                        <a:latin typeface="Arial"/>
                        <a:cs typeface="Arial"/>
                      </a:endParaRPr>
                    </a:p>
                  </a:txBody>
                  <a:tcPr marL="0" marR="0" marT="41275" marB="0"/>
                </a:tc>
                <a:extLst>
                  <a:ext uri="{0D108BD9-81ED-4DB2-BD59-A6C34878D82A}">
                    <a16:rowId xmlns:a16="http://schemas.microsoft.com/office/drawing/2014/main" val="10003"/>
                  </a:ext>
                </a:extLst>
              </a:tr>
              <a:tr h="345440">
                <a:tc>
                  <a:txBody>
                    <a:bodyPr/>
                    <a:lstStyle/>
                    <a:p>
                      <a:pPr marL="129539" algn="ctr">
                        <a:lnSpc>
                          <a:spcPct val="100000"/>
                        </a:lnSpc>
                        <a:spcBef>
                          <a:spcPts val="325"/>
                        </a:spcBef>
                      </a:pPr>
                      <a:r>
                        <a:rPr sz="1600" spc="-25">
                          <a:latin typeface="Arial"/>
                          <a:cs typeface="Arial"/>
                        </a:rPr>
                        <a:t>bun</a:t>
                      </a:r>
                      <a:endParaRPr sz="1600">
                        <a:latin typeface="Arial"/>
                        <a:cs typeface="Arial"/>
                      </a:endParaRPr>
                    </a:p>
                  </a:txBody>
                  <a:tcPr marL="0" marR="0" marT="41275" marB="0">
                    <a:solidFill>
                      <a:srgbClr val="E3E5E8"/>
                    </a:solidFill>
                  </a:tcPr>
                </a:tc>
                <a:tc>
                  <a:txBody>
                    <a:bodyPr/>
                    <a:lstStyle/>
                    <a:p>
                      <a:pPr marL="129539" algn="ctr">
                        <a:lnSpc>
                          <a:spcPct val="100000"/>
                        </a:lnSpc>
                        <a:spcBef>
                          <a:spcPts val="325"/>
                        </a:spcBef>
                      </a:pPr>
                      <a:r>
                        <a:rPr sz="1600" spc="-50">
                          <a:latin typeface="Arial"/>
                          <a:cs typeface="Arial"/>
                        </a:rPr>
                        <a:t>4</a:t>
                      </a:r>
                      <a:endParaRPr sz="1600">
                        <a:latin typeface="Arial"/>
                        <a:cs typeface="Arial"/>
                      </a:endParaRPr>
                    </a:p>
                  </a:txBody>
                  <a:tcPr marL="0" marR="0" marT="41275" marB="0">
                    <a:solidFill>
                      <a:srgbClr val="E3E5E8"/>
                    </a:solidFill>
                  </a:tcPr>
                </a:tc>
                <a:extLst>
                  <a:ext uri="{0D108BD9-81ED-4DB2-BD59-A6C34878D82A}">
                    <a16:rowId xmlns:a16="http://schemas.microsoft.com/office/drawing/2014/main" val="10004"/>
                  </a:ext>
                </a:extLst>
              </a:tr>
              <a:tr h="288290">
                <a:tc>
                  <a:txBody>
                    <a:bodyPr/>
                    <a:lstStyle/>
                    <a:p>
                      <a:pPr marL="129539" algn="ctr">
                        <a:lnSpc>
                          <a:spcPts val="1845"/>
                        </a:lnSpc>
                        <a:spcBef>
                          <a:spcPts val="325"/>
                        </a:spcBef>
                      </a:pPr>
                      <a:r>
                        <a:rPr sz="1600" spc="-20">
                          <a:latin typeface="Arial"/>
                          <a:cs typeface="Arial"/>
                        </a:rPr>
                        <a:t>hugs</a:t>
                      </a:r>
                      <a:endParaRPr sz="1600">
                        <a:latin typeface="Arial"/>
                        <a:cs typeface="Arial"/>
                      </a:endParaRPr>
                    </a:p>
                  </a:txBody>
                  <a:tcPr marL="0" marR="0" marT="41275" marB="0"/>
                </a:tc>
                <a:tc>
                  <a:txBody>
                    <a:bodyPr/>
                    <a:lstStyle/>
                    <a:p>
                      <a:pPr marL="129539" algn="ctr">
                        <a:lnSpc>
                          <a:spcPts val="1845"/>
                        </a:lnSpc>
                        <a:spcBef>
                          <a:spcPts val="325"/>
                        </a:spcBef>
                      </a:pPr>
                      <a:r>
                        <a:rPr sz="1600" spc="-50">
                          <a:latin typeface="Arial"/>
                          <a:cs typeface="Arial"/>
                        </a:rPr>
                        <a:t>5</a:t>
                      </a:r>
                      <a:endParaRPr sz="1600">
                        <a:latin typeface="Arial"/>
                        <a:cs typeface="Arial"/>
                      </a:endParaRPr>
                    </a:p>
                  </a:txBody>
                  <a:tcPr marL="0" marR="0" marT="41275" marB="0"/>
                </a:tc>
                <a:extLst>
                  <a:ext uri="{0D108BD9-81ED-4DB2-BD59-A6C34878D82A}">
                    <a16:rowId xmlns:a16="http://schemas.microsoft.com/office/drawing/2014/main" val="10005"/>
                  </a:ext>
                </a:extLst>
              </a:tr>
            </a:tbl>
          </a:graphicData>
        </a:graphic>
      </p:graphicFrame>
      <p:sp>
        <p:nvSpPr>
          <p:cNvPr id="12" name="object 2">
            <a:extLst>
              <a:ext uri="{FF2B5EF4-FFF2-40B4-BE49-F238E27FC236}">
                <a16:creationId xmlns:a16="http://schemas.microsoft.com/office/drawing/2014/main" id="{A6145911-0F41-7D3F-1A04-81714D9327A9}"/>
              </a:ext>
            </a:extLst>
          </p:cNvPr>
          <p:cNvSpPr txBox="1"/>
          <p:nvPr/>
        </p:nvSpPr>
        <p:spPr>
          <a:xfrm>
            <a:off x="6772021" y="2566921"/>
            <a:ext cx="4398010" cy="306944"/>
          </a:xfrm>
          <a:prstGeom prst="rect">
            <a:avLst/>
          </a:prstGeom>
        </p:spPr>
        <p:txBody>
          <a:bodyPr vert="horz" wrap="square" lIns="0" tIns="42545" rIns="0" bIns="0" rtlCol="0" anchor="t">
            <a:spAutoFit/>
          </a:bodyPr>
          <a:lstStyle/>
          <a:p>
            <a:pPr marL="11430" marR="71755">
              <a:lnSpc>
                <a:spcPts val="1880"/>
              </a:lnSpc>
              <a:spcBef>
                <a:spcPts val="335"/>
              </a:spcBef>
              <a:buSzPct val="122857"/>
              <a:tabLst>
                <a:tab pos="233679" algn="l"/>
              </a:tabLst>
            </a:pPr>
            <a:r>
              <a:rPr lang="en-US" sz="2200">
                <a:latin typeface="Calibri"/>
                <a:ea typeface="Calibri"/>
                <a:cs typeface="Calibri"/>
              </a:rPr>
              <a:t>Training Data</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0" y="2402978"/>
            <a:ext cx="5142230" cy="676275"/>
          </a:xfrm>
          <a:prstGeom prst="rect">
            <a:avLst/>
          </a:prstGeom>
          <a:solidFill>
            <a:srgbClr val="FFD932">
              <a:alpha val="42759"/>
            </a:srgbClr>
          </a:solidFill>
        </p:spPr>
        <p:txBody>
          <a:bodyPr vert="horz" wrap="square" lIns="0" tIns="53340" rIns="0" bIns="0" rtlCol="0">
            <a:spAutoFit/>
          </a:bodyPr>
          <a:lstStyle/>
          <a:p>
            <a:pPr marL="800100" marR="443230" indent="-221615">
              <a:lnSpc>
                <a:spcPct val="91700"/>
              </a:lnSpc>
              <a:spcBef>
                <a:spcPts val="420"/>
              </a:spcBef>
              <a:buSzPct val="102380"/>
              <a:buFont typeface="Arial"/>
              <a:buChar char="•"/>
              <a:tabLst>
                <a:tab pos="800100" algn="l"/>
              </a:tabLst>
            </a:pPr>
            <a:r>
              <a:rPr sz="2100" spc="525">
                <a:latin typeface="Cambria"/>
                <a:cs typeface="Cambria"/>
              </a:rPr>
              <a:t>𝒱</a:t>
            </a:r>
            <a:r>
              <a:rPr sz="2100" spc="110">
                <a:latin typeface="Cambria"/>
                <a:cs typeface="Cambria"/>
              </a:rPr>
              <a:t> </a:t>
            </a:r>
            <a:r>
              <a:rPr sz="2100" spc="175">
                <a:latin typeface="Cambria"/>
                <a:cs typeface="Cambria"/>
              </a:rPr>
              <a:t>←</a:t>
            </a:r>
            <a:r>
              <a:rPr sz="2100" spc="110">
                <a:latin typeface="Cambria"/>
                <a:cs typeface="Cambria"/>
              </a:rPr>
              <a:t> </a:t>
            </a:r>
            <a:r>
              <a:rPr sz="1750">
                <a:latin typeface="Arial"/>
                <a:cs typeface="Arial"/>
              </a:rPr>
              <a:t>All</a:t>
            </a:r>
            <a:r>
              <a:rPr sz="1750" spc="-10">
                <a:latin typeface="Arial"/>
                <a:cs typeface="Arial"/>
              </a:rPr>
              <a:t> </a:t>
            </a:r>
            <a:r>
              <a:rPr sz="1750">
                <a:latin typeface="Arial"/>
                <a:cs typeface="Arial"/>
              </a:rPr>
              <a:t>characters</a:t>
            </a:r>
            <a:r>
              <a:rPr sz="1750" spc="-10">
                <a:latin typeface="Arial"/>
                <a:cs typeface="Arial"/>
              </a:rPr>
              <a:t> </a:t>
            </a:r>
            <a:r>
              <a:rPr sz="1750">
                <a:latin typeface="Arial"/>
                <a:cs typeface="Arial"/>
              </a:rPr>
              <a:t>in</a:t>
            </a:r>
            <a:r>
              <a:rPr sz="1750" spc="-15">
                <a:latin typeface="Arial"/>
                <a:cs typeface="Arial"/>
              </a:rPr>
              <a:t> </a:t>
            </a:r>
            <a:r>
              <a:rPr sz="1750">
                <a:latin typeface="Arial"/>
                <a:cs typeface="Arial"/>
              </a:rPr>
              <a:t>the</a:t>
            </a:r>
            <a:r>
              <a:rPr sz="1750" spc="-10">
                <a:latin typeface="Arial"/>
                <a:cs typeface="Arial"/>
              </a:rPr>
              <a:t> </a:t>
            </a:r>
            <a:r>
              <a:rPr sz="1750">
                <a:latin typeface="Arial"/>
                <a:cs typeface="Arial"/>
              </a:rPr>
              <a:t>training</a:t>
            </a:r>
            <a:r>
              <a:rPr sz="1750" spc="-10">
                <a:latin typeface="Arial"/>
                <a:cs typeface="Arial"/>
              </a:rPr>
              <a:t> </a:t>
            </a:r>
            <a:r>
              <a:rPr sz="1750" spc="-20">
                <a:latin typeface="Arial"/>
                <a:cs typeface="Arial"/>
              </a:rPr>
              <a:t>data </a:t>
            </a:r>
            <a:r>
              <a:rPr sz="1750" spc="-45">
                <a:latin typeface="Arial"/>
                <a:cs typeface="Arial"/>
              </a:rPr>
              <a:t>(as</a:t>
            </a:r>
            <a:r>
              <a:rPr sz="1750" spc="-55">
                <a:latin typeface="Arial"/>
                <a:cs typeface="Arial"/>
              </a:rPr>
              <a:t> </a:t>
            </a:r>
            <a:r>
              <a:rPr sz="1750">
                <a:latin typeface="Arial"/>
                <a:cs typeface="Arial"/>
              </a:rPr>
              <a:t>base</a:t>
            </a:r>
            <a:r>
              <a:rPr sz="1750" spc="-55">
                <a:latin typeface="Arial"/>
                <a:cs typeface="Arial"/>
              </a:rPr>
              <a:t> </a:t>
            </a:r>
            <a:r>
              <a:rPr sz="1750" b="1" spc="-10">
                <a:latin typeface="Arial"/>
                <a:cs typeface="Arial"/>
              </a:rPr>
              <a:t>tokens</a:t>
            </a:r>
            <a:r>
              <a:rPr sz="1750" spc="-10">
                <a:latin typeface="Arial"/>
                <a:cs typeface="Arial"/>
              </a:rPr>
              <a:t>)</a:t>
            </a:r>
            <a:endParaRPr sz="1750">
              <a:latin typeface="Arial"/>
              <a:cs typeface="Arial"/>
            </a:endParaRPr>
          </a:p>
        </p:txBody>
      </p:sp>
      <p:sp>
        <p:nvSpPr>
          <p:cNvPr id="3" name="object 3"/>
          <p:cNvSpPr txBox="1"/>
          <p:nvPr/>
        </p:nvSpPr>
        <p:spPr>
          <a:xfrm>
            <a:off x="566836" y="3035134"/>
            <a:ext cx="4409440" cy="3975100"/>
          </a:xfrm>
          <a:prstGeom prst="rect">
            <a:avLst/>
          </a:prstGeom>
        </p:spPr>
        <p:txBody>
          <a:bodyPr vert="horz" wrap="square" lIns="0" tIns="164465" rIns="0" bIns="0" rtlCol="0">
            <a:spAutoFit/>
          </a:bodyPr>
          <a:lstStyle/>
          <a:p>
            <a:pPr marL="233679" indent="-220979">
              <a:lnSpc>
                <a:spcPct val="100000"/>
              </a:lnSpc>
              <a:spcBef>
                <a:spcPts val="1295"/>
              </a:spcBef>
              <a:buSzPct val="122857"/>
              <a:buChar char="•"/>
              <a:tabLst>
                <a:tab pos="233679" algn="l"/>
              </a:tabLst>
            </a:pPr>
            <a:r>
              <a:rPr sz="1750">
                <a:latin typeface="Arial"/>
                <a:cs typeface="Arial"/>
              </a:rPr>
              <a:t>For</a:t>
            </a:r>
            <a:r>
              <a:rPr sz="1750" spc="-50">
                <a:latin typeface="Arial"/>
                <a:cs typeface="Arial"/>
              </a:rPr>
              <a:t> </a:t>
            </a:r>
            <a:r>
              <a:rPr sz="2100" i="1">
                <a:latin typeface="Times New Roman"/>
                <a:cs typeface="Times New Roman"/>
              </a:rPr>
              <a:t>k</a:t>
            </a:r>
            <a:r>
              <a:rPr sz="2100" i="1" spc="-90">
                <a:latin typeface="Times New Roman"/>
                <a:cs typeface="Times New Roman"/>
              </a:rPr>
              <a:t> </a:t>
            </a:r>
            <a:r>
              <a:rPr sz="1750" spc="-10">
                <a:latin typeface="Arial"/>
                <a:cs typeface="Arial"/>
              </a:rPr>
              <a:t>steps:</a:t>
            </a:r>
            <a:endParaRPr sz="1750">
              <a:latin typeface="Arial"/>
              <a:cs typeface="Arial"/>
            </a:endParaRPr>
          </a:p>
          <a:p>
            <a:pPr marL="528320" marR="257810" lvl="1" indent="-221615">
              <a:lnSpc>
                <a:spcPct val="86400"/>
              </a:lnSpc>
              <a:spcBef>
                <a:spcPts val="1555"/>
              </a:spcBef>
              <a:buSzPct val="122857"/>
              <a:buChar char="-"/>
              <a:tabLst>
                <a:tab pos="528320" algn="l"/>
              </a:tabLst>
            </a:pPr>
            <a:r>
              <a:rPr sz="1750" spc="-40">
                <a:latin typeface="Arial"/>
                <a:cs typeface="Arial"/>
              </a:rPr>
              <a:t>Tokenize</a:t>
            </a:r>
            <a:r>
              <a:rPr sz="1750" spc="-5">
                <a:latin typeface="Arial"/>
                <a:cs typeface="Arial"/>
              </a:rPr>
              <a:t> </a:t>
            </a:r>
            <a:r>
              <a:rPr sz="1750">
                <a:latin typeface="Arial"/>
                <a:cs typeface="Arial"/>
              </a:rPr>
              <a:t>the</a:t>
            </a:r>
            <a:r>
              <a:rPr sz="1750" spc="-5">
                <a:latin typeface="Arial"/>
                <a:cs typeface="Arial"/>
              </a:rPr>
              <a:t> </a:t>
            </a:r>
            <a:r>
              <a:rPr sz="1750">
                <a:latin typeface="Arial"/>
                <a:cs typeface="Arial"/>
              </a:rPr>
              <a:t>data,</a:t>
            </a:r>
            <a:r>
              <a:rPr sz="1750" spc="-5">
                <a:latin typeface="Arial"/>
                <a:cs typeface="Arial"/>
              </a:rPr>
              <a:t> </a:t>
            </a:r>
            <a:r>
              <a:rPr sz="1750">
                <a:latin typeface="Arial"/>
                <a:cs typeface="Arial"/>
              </a:rPr>
              <a:t>taking</a:t>
            </a:r>
            <a:r>
              <a:rPr sz="1750" spc="-5">
                <a:latin typeface="Arial"/>
                <a:cs typeface="Arial"/>
              </a:rPr>
              <a:t> </a:t>
            </a:r>
            <a:r>
              <a:rPr sz="1750">
                <a:latin typeface="Arial"/>
                <a:cs typeface="Arial"/>
              </a:rPr>
              <a:t>the</a:t>
            </a:r>
            <a:r>
              <a:rPr sz="1750" spc="-5">
                <a:latin typeface="Arial"/>
                <a:cs typeface="Arial"/>
              </a:rPr>
              <a:t> </a:t>
            </a:r>
            <a:r>
              <a:rPr sz="1750" spc="-10">
                <a:latin typeface="Arial"/>
                <a:cs typeface="Arial"/>
              </a:rPr>
              <a:t>longest </a:t>
            </a:r>
            <a:r>
              <a:rPr sz="1750">
                <a:latin typeface="Arial"/>
                <a:cs typeface="Arial"/>
              </a:rPr>
              <a:t>prefix</a:t>
            </a:r>
            <a:r>
              <a:rPr sz="1750" spc="-20">
                <a:latin typeface="Arial"/>
                <a:cs typeface="Arial"/>
              </a:rPr>
              <a:t> </a:t>
            </a:r>
            <a:r>
              <a:rPr sz="1750">
                <a:latin typeface="Arial"/>
                <a:cs typeface="Arial"/>
              </a:rPr>
              <a:t>each</a:t>
            </a:r>
            <a:r>
              <a:rPr sz="1750" spc="-15">
                <a:latin typeface="Arial"/>
                <a:cs typeface="Arial"/>
              </a:rPr>
              <a:t> </a:t>
            </a:r>
            <a:r>
              <a:rPr sz="1750" spc="-20">
                <a:latin typeface="Arial"/>
                <a:cs typeface="Arial"/>
              </a:rPr>
              <a:t>time</a:t>
            </a:r>
            <a:endParaRPr sz="1750">
              <a:latin typeface="Arial"/>
              <a:cs typeface="Arial"/>
            </a:endParaRPr>
          </a:p>
          <a:p>
            <a:pPr marL="528320" marR="81915" lvl="1" indent="-221615">
              <a:lnSpc>
                <a:spcPct val="86400"/>
              </a:lnSpc>
              <a:spcBef>
                <a:spcPts val="1595"/>
              </a:spcBef>
              <a:buSzPct val="122857"/>
              <a:buChar char="-"/>
              <a:tabLst>
                <a:tab pos="528320" algn="l"/>
              </a:tabLst>
            </a:pPr>
            <a:r>
              <a:rPr sz="1750">
                <a:latin typeface="Arial"/>
                <a:cs typeface="Arial"/>
              </a:rPr>
              <a:t>Count</a:t>
            </a:r>
            <a:r>
              <a:rPr sz="1750" spc="5">
                <a:latin typeface="Arial"/>
                <a:cs typeface="Arial"/>
              </a:rPr>
              <a:t> </a:t>
            </a:r>
            <a:r>
              <a:rPr sz="1750">
                <a:latin typeface="Arial"/>
                <a:cs typeface="Arial"/>
              </a:rPr>
              <a:t>the</a:t>
            </a:r>
            <a:r>
              <a:rPr sz="1750" spc="10">
                <a:latin typeface="Arial"/>
                <a:cs typeface="Arial"/>
              </a:rPr>
              <a:t> </a:t>
            </a:r>
            <a:r>
              <a:rPr sz="1750">
                <a:latin typeface="Arial"/>
                <a:cs typeface="Arial"/>
              </a:rPr>
              <a:t>frequency</a:t>
            </a:r>
            <a:r>
              <a:rPr sz="1750" spc="5">
                <a:latin typeface="Arial"/>
                <a:cs typeface="Arial"/>
              </a:rPr>
              <a:t> </a:t>
            </a:r>
            <a:r>
              <a:rPr sz="1750">
                <a:latin typeface="Arial"/>
                <a:cs typeface="Arial"/>
              </a:rPr>
              <a:t>of</a:t>
            </a:r>
            <a:r>
              <a:rPr sz="1750" spc="10">
                <a:latin typeface="Arial"/>
                <a:cs typeface="Arial"/>
              </a:rPr>
              <a:t> </a:t>
            </a:r>
            <a:r>
              <a:rPr sz="1750">
                <a:latin typeface="Arial"/>
                <a:cs typeface="Arial"/>
              </a:rPr>
              <a:t>adjacent</a:t>
            </a:r>
            <a:r>
              <a:rPr sz="1750" spc="10">
                <a:latin typeface="Arial"/>
                <a:cs typeface="Arial"/>
              </a:rPr>
              <a:t> </a:t>
            </a:r>
            <a:r>
              <a:rPr sz="1750" spc="-20">
                <a:latin typeface="Arial"/>
                <a:cs typeface="Arial"/>
              </a:rPr>
              <a:t>token </a:t>
            </a:r>
            <a:r>
              <a:rPr sz="1750">
                <a:latin typeface="Arial"/>
                <a:cs typeface="Arial"/>
              </a:rPr>
              <a:t>pairs</a:t>
            </a:r>
            <a:r>
              <a:rPr sz="1750" spc="-10">
                <a:latin typeface="Arial"/>
                <a:cs typeface="Arial"/>
              </a:rPr>
              <a:t> </a:t>
            </a:r>
            <a:r>
              <a:rPr sz="1750">
                <a:latin typeface="Arial"/>
                <a:cs typeface="Arial"/>
              </a:rPr>
              <a:t>in</a:t>
            </a:r>
            <a:r>
              <a:rPr sz="1750" spc="-10">
                <a:latin typeface="Arial"/>
                <a:cs typeface="Arial"/>
              </a:rPr>
              <a:t> </a:t>
            </a:r>
            <a:r>
              <a:rPr sz="1750">
                <a:latin typeface="Arial"/>
                <a:cs typeface="Arial"/>
              </a:rPr>
              <a:t>the</a:t>
            </a:r>
            <a:r>
              <a:rPr sz="1750" spc="-10">
                <a:latin typeface="Arial"/>
                <a:cs typeface="Arial"/>
              </a:rPr>
              <a:t> </a:t>
            </a:r>
            <a:r>
              <a:rPr sz="1750" spc="-20">
                <a:latin typeface="Arial"/>
                <a:cs typeface="Arial"/>
              </a:rPr>
              <a:t>data</a:t>
            </a:r>
            <a:endParaRPr sz="1750">
              <a:latin typeface="Arial"/>
              <a:cs typeface="Arial"/>
            </a:endParaRPr>
          </a:p>
          <a:p>
            <a:pPr marL="528320" marR="5080" lvl="1" indent="-221615">
              <a:lnSpc>
                <a:spcPct val="89300"/>
              </a:lnSpc>
              <a:spcBef>
                <a:spcPts val="1850"/>
              </a:spcBef>
              <a:buSzPct val="122857"/>
              <a:buChar char="-"/>
              <a:tabLst>
                <a:tab pos="528320" algn="l"/>
              </a:tabLst>
            </a:pPr>
            <a:r>
              <a:rPr sz="1750">
                <a:latin typeface="Arial"/>
                <a:cs typeface="Arial"/>
              </a:rPr>
              <a:t>Choose</a:t>
            </a:r>
            <a:r>
              <a:rPr sz="1750" spc="20">
                <a:latin typeface="Arial"/>
                <a:cs typeface="Arial"/>
              </a:rPr>
              <a:t> </a:t>
            </a:r>
            <a:r>
              <a:rPr sz="1750">
                <a:latin typeface="Arial"/>
                <a:cs typeface="Arial"/>
              </a:rPr>
              <a:t>the</a:t>
            </a:r>
            <a:r>
              <a:rPr sz="1750" spc="25">
                <a:latin typeface="Arial"/>
                <a:cs typeface="Arial"/>
              </a:rPr>
              <a:t> </a:t>
            </a:r>
            <a:r>
              <a:rPr sz="1750">
                <a:latin typeface="Arial"/>
                <a:cs typeface="Arial"/>
              </a:rPr>
              <a:t>pair</a:t>
            </a:r>
            <a:r>
              <a:rPr sz="1750" spc="25">
                <a:latin typeface="Arial"/>
                <a:cs typeface="Arial"/>
              </a:rPr>
              <a:t> </a:t>
            </a:r>
            <a:r>
              <a:rPr sz="2100" spc="60">
                <a:latin typeface="Cambria"/>
                <a:cs typeface="Cambria"/>
              </a:rPr>
              <a:t>⟨</a:t>
            </a:r>
            <a:r>
              <a:rPr sz="2100" i="1" spc="60">
                <a:latin typeface="Times New Roman"/>
                <a:cs typeface="Times New Roman"/>
              </a:rPr>
              <a:t>l</a:t>
            </a:r>
            <a:r>
              <a:rPr sz="2100" spc="60">
                <a:latin typeface="Cambria"/>
                <a:cs typeface="Cambria"/>
              </a:rPr>
              <a:t>,</a:t>
            </a:r>
            <a:r>
              <a:rPr sz="2100" spc="-95">
                <a:latin typeface="Cambria"/>
                <a:cs typeface="Cambria"/>
              </a:rPr>
              <a:t> </a:t>
            </a:r>
            <a:r>
              <a:rPr sz="2100" i="1">
                <a:latin typeface="Times New Roman"/>
                <a:cs typeface="Times New Roman"/>
              </a:rPr>
              <a:t>r</a:t>
            </a:r>
            <a:r>
              <a:rPr sz="2100">
                <a:latin typeface="Cambria"/>
                <a:cs typeface="Cambria"/>
              </a:rPr>
              <a:t>⟩</a:t>
            </a:r>
            <a:r>
              <a:rPr sz="2100" spc="50">
                <a:latin typeface="Cambria"/>
                <a:cs typeface="Cambria"/>
              </a:rPr>
              <a:t> </a:t>
            </a:r>
            <a:r>
              <a:rPr sz="1750">
                <a:latin typeface="Arial"/>
                <a:cs typeface="Arial"/>
              </a:rPr>
              <a:t>that</a:t>
            </a:r>
            <a:r>
              <a:rPr sz="1750" spc="20">
                <a:latin typeface="Arial"/>
                <a:cs typeface="Arial"/>
              </a:rPr>
              <a:t> </a:t>
            </a:r>
            <a:r>
              <a:rPr sz="1750">
                <a:latin typeface="Arial"/>
                <a:cs typeface="Arial"/>
              </a:rPr>
              <a:t>occurs</a:t>
            </a:r>
            <a:r>
              <a:rPr sz="1750" spc="25">
                <a:latin typeface="Arial"/>
                <a:cs typeface="Arial"/>
              </a:rPr>
              <a:t> </a:t>
            </a:r>
            <a:r>
              <a:rPr sz="1750" spc="-20">
                <a:latin typeface="Arial"/>
                <a:cs typeface="Arial"/>
              </a:rPr>
              <a:t>most </a:t>
            </a:r>
            <a:r>
              <a:rPr sz="1750" spc="-10">
                <a:latin typeface="Arial"/>
                <a:cs typeface="Arial"/>
              </a:rPr>
              <a:t>frequently</a:t>
            </a:r>
            <a:endParaRPr sz="1750">
              <a:latin typeface="Arial"/>
              <a:cs typeface="Arial"/>
            </a:endParaRPr>
          </a:p>
          <a:p>
            <a:pPr marL="528320" marR="417830" lvl="1" indent="-221615">
              <a:lnSpc>
                <a:spcPts val="2220"/>
              </a:lnSpc>
              <a:spcBef>
                <a:spcPts val="1610"/>
              </a:spcBef>
              <a:buSzPct val="122857"/>
              <a:buChar char="-"/>
              <a:tabLst>
                <a:tab pos="528320" algn="l"/>
              </a:tabLst>
            </a:pPr>
            <a:r>
              <a:rPr sz="1750">
                <a:latin typeface="Arial"/>
                <a:cs typeface="Arial"/>
              </a:rPr>
              <a:t>Add</a:t>
            </a:r>
            <a:r>
              <a:rPr sz="1750" spc="5">
                <a:latin typeface="Arial"/>
                <a:cs typeface="Arial"/>
              </a:rPr>
              <a:t> </a:t>
            </a:r>
            <a:r>
              <a:rPr sz="1750">
                <a:latin typeface="Arial"/>
                <a:cs typeface="Arial"/>
              </a:rPr>
              <a:t>the</a:t>
            </a:r>
            <a:r>
              <a:rPr sz="1750" spc="5">
                <a:latin typeface="Arial"/>
                <a:cs typeface="Arial"/>
              </a:rPr>
              <a:t> </a:t>
            </a:r>
            <a:r>
              <a:rPr sz="1750">
                <a:latin typeface="Arial"/>
                <a:cs typeface="Arial"/>
              </a:rPr>
              <a:t>pair</a:t>
            </a:r>
            <a:r>
              <a:rPr sz="1750" spc="5">
                <a:latin typeface="Arial"/>
                <a:cs typeface="Arial"/>
              </a:rPr>
              <a:t> </a:t>
            </a:r>
            <a:r>
              <a:rPr sz="1750">
                <a:latin typeface="Arial"/>
                <a:cs typeface="Arial"/>
              </a:rPr>
              <a:t>to</a:t>
            </a:r>
            <a:r>
              <a:rPr sz="1750" spc="10">
                <a:latin typeface="Arial"/>
                <a:cs typeface="Arial"/>
              </a:rPr>
              <a:t> </a:t>
            </a:r>
            <a:r>
              <a:rPr sz="1750">
                <a:latin typeface="Arial"/>
                <a:cs typeface="Arial"/>
              </a:rPr>
              <a:t>the</a:t>
            </a:r>
            <a:r>
              <a:rPr sz="1750" spc="5">
                <a:latin typeface="Arial"/>
                <a:cs typeface="Arial"/>
              </a:rPr>
              <a:t> </a:t>
            </a:r>
            <a:r>
              <a:rPr sz="1750">
                <a:latin typeface="Arial"/>
                <a:cs typeface="Arial"/>
              </a:rPr>
              <a:t>vocabulary</a:t>
            </a:r>
            <a:r>
              <a:rPr sz="1750" spc="5">
                <a:latin typeface="Arial"/>
                <a:cs typeface="Arial"/>
              </a:rPr>
              <a:t> </a:t>
            </a:r>
            <a:r>
              <a:rPr sz="1750">
                <a:latin typeface="Arial"/>
                <a:cs typeface="Arial"/>
              </a:rPr>
              <a:t>as</a:t>
            </a:r>
            <a:r>
              <a:rPr sz="1750" spc="5">
                <a:latin typeface="Arial"/>
                <a:cs typeface="Arial"/>
              </a:rPr>
              <a:t> </a:t>
            </a:r>
            <a:r>
              <a:rPr sz="1750" spc="-50">
                <a:latin typeface="Arial"/>
                <a:cs typeface="Arial"/>
              </a:rPr>
              <a:t>a </a:t>
            </a:r>
            <a:r>
              <a:rPr sz="1750">
                <a:latin typeface="Arial"/>
                <a:cs typeface="Arial"/>
              </a:rPr>
              <a:t>new token</a:t>
            </a:r>
            <a:r>
              <a:rPr sz="1750" spc="5">
                <a:latin typeface="Arial"/>
                <a:cs typeface="Arial"/>
              </a:rPr>
              <a:t> </a:t>
            </a:r>
            <a:r>
              <a:rPr sz="2100" spc="525">
                <a:latin typeface="Cambria"/>
                <a:cs typeface="Cambria"/>
              </a:rPr>
              <a:t>𝒱</a:t>
            </a:r>
            <a:r>
              <a:rPr sz="2100" spc="130">
                <a:latin typeface="Cambria"/>
                <a:cs typeface="Cambria"/>
              </a:rPr>
              <a:t> </a:t>
            </a:r>
            <a:r>
              <a:rPr sz="2100" spc="175">
                <a:latin typeface="Cambria"/>
                <a:cs typeface="Cambria"/>
              </a:rPr>
              <a:t>←</a:t>
            </a:r>
            <a:r>
              <a:rPr sz="2100" spc="130">
                <a:latin typeface="Cambria"/>
                <a:cs typeface="Cambria"/>
              </a:rPr>
              <a:t> </a:t>
            </a:r>
            <a:r>
              <a:rPr sz="2100" spc="525">
                <a:latin typeface="Cambria"/>
                <a:cs typeface="Cambria"/>
              </a:rPr>
              <a:t>𝒱</a:t>
            </a:r>
            <a:r>
              <a:rPr sz="2100" spc="5">
                <a:latin typeface="Cambria"/>
                <a:cs typeface="Cambria"/>
              </a:rPr>
              <a:t> </a:t>
            </a:r>
            <a:r>
              <a:rPr sz="2100" spc="-130">
                <a:latin typeface="Cambria"/>
                <a:cs typeface="Cambria"/>
              </a:rPr>
              <a:t>∪</a:t>
            </a:r>
            <a:r>
              <a:rPr sz="2100" spc="10">
                <a:latin typeface="Cambria"/>
                <a:cs typeface="Cambria"/>
              </a:rPr>
              <a:t> </a:t>
            </a:r>
            <a:r>
              <a:rPr sz="2100" spc="75">
                <a:latin typeface="Cambria"/>
                <a:cs typeface="Cambria"/>
              </a:rPr>
              <a:t>{</a:t>
            </a:r>
            <a:r>
              <a:rPr sz="2100" i="1" spc="75">
                <a:latin typeface="Times New Roman"/>
                <a:cs typeface="Times New Roman"/>
              </a:rPr>
              <a:t>lr</a:t>
            </a:r>
            <a:r>
              <a:rPr sz="2100" spc="75">
                <a:latin typeface="Cambria"/>
                <a:cs typeface="Cambria"/>
              </a:rPr>
              <a:t>}</a:t>
            </a:r>
            <a:endParaRPr sz="2100">
              <a:latin typeface="Cambria"/>
              <a:cs typeface="Cambria"/>
            </a:endParaRPr>
          </a:p>
          <a:p>
            <a:pPr marL="233679" indent="-220979">
              <a:lnSpc>
                <a:spcPct val="100000"/>
              </a:lnSpc>
              <a:spcBef>
                <a:spcPts val="1565"/>
              </a:spcBef>
              <a:buSzPct val="122857"/>
              <a:buChar char="•"/>
              <a:tabLst>
                <a:tab pos="233679" algn="l"/>
              </a:tabLst>
            </a:pPr>
            <a:r>
              <a:rPr sz="1750">
                <a:latin typeface="Arial"/>
                <a:cs typeface="Arial"/>
              </a:rPr>
              <a:t>Return</a:t>
            </a:r>
            <a:r>
              <a:rPr sz="1750" spc="-75">
                <a:latin typeface="Arial"/>
                <a:cs typeface="Arial"/>
              </a:rPr>
              <a:t> </a:t>
            </a:r>
            <a:r>
              <a:rPr sz="2100" spc="475">
                <a:latin typeface="Cambria"/>
                <a:cs typeface="Cambria"/>
              </a:rPr>
              <a:t>𝒱</a:t>
            </a:r>
            <a:endParaRPr sz="2100">
              <a:latin typeface="Cambria"/>
              <a:cs typeface="Cambria"/>
            </a:endParaRPr>
          </a:p>
        </p:txBody>
      </p:sp>
      <p:sp>
        <p:nvSpPr>
          <p:cNvPr id="4" name="object 4" descr="$PPTXTitle"/>
          <p:cNvSpPr txBox="1">
            <a:spLocks noGrp="1"/>
          </p:cNvSpPr>
          <p:nvPr>
            <p:ph type="title"/>
          </p:nvPr>
        </p:nvSpPr>
        <p:spPr>
          <a:prstGeom prst="rect">
            <a:avLst/>
          </a:prstGeom>
        </p:spPr>
        <p:txBody>
          <a:bodyPr vert="horz" wrap="square" lIns="0" tIns="88466" rIns="0" bIns="0" rtlCol="0">
            <a:spAutoFit/>
          </a:bodyPr>
          <a:lstStyle/>
          <a:p>
            <a:pPr marL="12700">
              <a:lnSpc>
                <a:spcPct val="100000"/>
              </a:lnSpc>
              <a:spcBef>
                <a:spcPts val="95"/>
              </a:spcBef>
            </a:pPr>
            <a:r>
              <a:rPr spc="-125"/>
              <a:t>Byte</a:t>
            </a:r>
            <a:r>
              <a:rPr spc="-190"/>
              <a:t> </a:t>
            </a:r>
            <a:r>
              <a:rPr spc="-80"/>
              <a:t>Pair</a:t>
            </a:r>
            <a:r>
              <a:rPr spc="-185"/>
              <a:t> </a:t>
            </a:r>
            <a:r>
              <a:rPr spc="-140"/>
              <a:t>Encoding</a:t>
            </a:r>
            <a:r>
              <a:rPr spc="-185"/>
              <a:t> </a:t>
            </a:r>
            <a:r>
              <a:rPr spc="-130"/>
              <a:t>(BPE)</a:t>
            </a:r>
          </a:p>
        </p:txBody>
      </p:sp>
      <p:graphicFrame>
        <p:nvGraphicFramePr>
          <p:cNvPr id="5" name="object 5"/>
          <p:cNvGraphicFramePr>
            <a:graphicFrameLocks noGrp="1"/>
          </p:cNvGraphicFramePr>
          <p:nvPr/>
        </p:nvGraphicFramePr>
        <p:xfrm>
          <a:off x="6040933" y="2609254"/>
          <a:ext cx="3069590" cy="2015490"/>
        </p:xfrm>
        <a:graphic>
          <a:graphicData uri="http://schemas.openxmlformats.org/drawingml/2006/table">
            <a:tbl>
              <a:tblPr firstRow="1" bandRow="1">
                <a:tableStyleId>{2D5ABB26-0587-4C30-8999-92F81FD0307C}</a:tableStyleId>
              </a:tblPr>
              <a:tblGrid>
                <a:gridCol w="1404620">
                  <a:extLst>
                    <a:ext uri="{9D8B030D-6E8A-4147-A177-3AD203B41FA5}">
                      <a16:colId xmlns:a16="http://schemas.microsoft.com/office/drawing/2014/main" val="20000"/>
                    </a:ext>
                  </a:extLst>
                </a:gridCol>
                <a:gridCol w="1664970">
                  <a:extLst>
                    <a:ext uri="{9D8B030D-6E8A-4147-A177-3AD203B41FA5}">
                      <a16:colId xmlns:a16="http://schemas.microsoft.com/office/drawing/2014/main" val="20001"/>
                    </a:ext>
                  </a:extLst>
                </a:gridCol>
              </a:tblGrid>
              <a:tr h="345440">
                <a:tc>
                  <a:txBody>
                    <a:bodyPr/>
                    <a:lstStyle/>
                    <a:p>
                      <a:pPr marL="129539" algn="ctr">
                        <a:lnSpc>
                          <a:spcPct val="100000"/>
                        </a:lnSpc>
                        <a:spcBef>
                          <a:spcPts val="395"/>
                        </a:spcBef>
                      </a:pPr>
                      <a:r>
                        <a:rPr sz="1600" b="1" spc="-20">
                          <a:latin typeface="Arial"/>
                          <a:cs typeface="Arial"/>
                        </a:rPr>
                        <a:t>Word</a:t>
                      </a:r>
                      <a:endParaRPr sz="1600">
                        <a:latin typeface="Arial"/>
                        <a:cs typeface="Arial"/>
                      </a:endParaRPr>
                    </a:p>
                  </a:txBody>
                  <a:tcPr marL="0" marR="0" marT="50165" marB="0">
                    <a:lnB w="12700">
                      <a:solidFill>
                        <a:srgbClr val="536773"/>
                      </a:solidFill>
                      <a:prstDash val="solid"/>
                    </a:lnB>
                    <a:solidFill>
                      <a:srgbClr val="56C1FF"/>
                    </a:solidFill>
                  </a:tcPr>
                </a:tc>
                <a:tc>
                  <a:txBody>
                    <a:bodyPr/>
                    <a:lstStyle/>
                    <a:p>
                      <a:pPr marL="129539" algn="ctr">
                        <a:lnSpc>
                          <a:spcPct val="100000"/>
                        </a:lnSpc>
                        <a:spcBef>
                          <a:spcPts val="395"/>
                        </a:spcBef>
                      </a:pPr>
                      <a:r>
                        <a:rPr sz="1600" b="1" spc="-10">
                          <a:latin typeface="Arial"/>
                          <a:cs typeface="Arial"/>
                        </a:rPr>
                        <a:t>Frequency</a:t>
                      </a:r>
                      <a:endParaRPr sz="1600">
                        <a:latin typeface="Arial"/>
                        <a:cs typeface="Arial"/>
                      </a:endParaRPr>
                    </a:p>
                  </a:txBody>
                  <a:tcPr marL="0" marR="0" marT="50165" marB="0">
                    <a:lnB w="12700">
                      <a:solidFill>
                        <a:srgbClr val="536773"/>
                      </a:solidFill>
                      <a:prstDash val="solid"/>
                    </a:lnB>
                    <a:solidFill>
                      <a:srgbClr val="56C1FF"/>
                    </a:solidFill>
                  </a:tcPr>
                </a:tc>
                <a:extLst>
                  <a:ext uri="{0D108BD9-81ED-4DB2-BD59-A6C34878D82A}">
                    <a16:rowId xmlns:a16="http://schemas.microsoft.com/office/drawing/2014/main" val="10000"/>
                  </a:ext>
                </a:extLst>
              </a:tr>
              <a:tr h="345440">
                <a:tc>
                  <a:txBody>
                    <a:bodyPr/>
                    <a:lstStyle/>
                    <a:p>
                      <a:pPr marL="129539" algn="ctr">
                        <a:lnSpc>
                          <a:spcPct val="100000"/>
                        </a:lnSpc>
                        <a:spcBef>
                          <a:spcPts val="365"/>
                        </a:spcBef>
                      </a:pPr>
                      <a:r>
                        <a:rPr sz="1600" spc="-25">
                          <a:latin typeface="Arial"/>
                          <a:cs typeface="Arial"/>
                        </a:rPr>
                        <a:t>hug</a:t>
                      </a:r>
                      <a:endParaRPr sz="1600">
                        <a:latin typeface="Arial"/>
                        <a:cs typeface="Arial"/>
                      </a:endParaRPr>
                    </a:p>
                  </a:txBody>
                  <a:tcPr marL="0" marR="0" marT="46355" marB="0">
                    <a:lnT w="12700">
                      <a:solidFill>
                        <a:srgbClr val="536773"/>
                      </a:solidFill>
                      <a:prstDash val="solid"/>
                    </a:lnT>
                  </a:tcPr>
                </a:tc>
                <a:tc>
                  <a:txBody>
                    <a:bodyPr/>
                    <a:lstStyle/>
                    <a:p>
                      <a:pPr marL="129539" algn="ctr">
                        <a:lnSpc>
                          <a:spcPct val="100000"/>
                        </a:lnSpc>
                        <a:spcBef>
                          <a:spcPts val="365"/>
                        </a:spcBef>
                      </a:pPr>
                      <a:r>
                        <a:rPr sz="1600" spc="-25">
                          <a:latin typeface="Arial"/>
                          <a:cs typeface="Arial"/>
                        </a:rPr>
                        <a:t>10</a:t>
                      </a:r>
                      <a:endParaRPr sz="1600">
                        <a:latin typeface="Arial"/>
                        <a:cs typeface="Arial"/>
                      </a:endParaRPr>
                    </a:p>
                  </a:txBody>
                  <a:tcPr marL="0" marR="0" marT="46355" marB="0">
                    <a:lnT w="12700">
                      <a:solidFill>
                        <a:srgbClr val="536773"/>
                      </a:solidFill>
                      <a:prstDash val="solid"/>
                    </a:lnT>
                  </a:tcPr>
                </a:tc>
                <a:extLst>
                  <a:ext uri="{0D108BD9-81ED-4DB2-BD59-A6C34878D82A}">
                    <a16:rowId xmlns:a16="http://schemas.microsoft.com/office/drawing/2014/main" val="10001"/>
                  </a:ext>
                </a:extLst>
              </a:tr>
              <a:tr h="345440">
                <a:tc>
                  <a:txBody>
                    <a:bodyPr/>
                    <a:lstStyle/>
                    <a:p>
                      <a:pPr marL="129539" algn="ctr">
                        <a:lnSpc>
                          <a:spcPct val="100000"/>
                        </a:lnSpc>
                        <a:spcBef>
                          <a:spcPts val="325"/>
                        </a:spcBef>
                      </a:pPr>
                      <a:r>
                        <a:rPr sz="1600" spc="-25">
                          <a:latin typeface="Arial"/>
                          <a:cs typeface="Arial"/>
                        </a:rPr>
                        <a:t>pug</a:t>
                      </a:r>
                      <a:endParaRPr sz="1600">
                        <a:latin typeface="Arial"/>
                        <a:cs typeface="Arial"/>
                      </a:endParaRPr>
                    </a:p>
                  </a:txBody>
                  <a:tcPr marL="0" marR="0" marT="41275" marB="0">
                    <a:solidFill>
                      <a:srgbClr val="E3E5E8"/>
                    </a:solidFill>
                  </a:tcPr>
                </a:tc>
                <a:tc>
                  <a:txBody>
                    <a:bodyPr/>
                    <a:lstStyle/>
                    <a:p>
                      <a:pPr marL="129539" algn="ctr">
                        <a:lnSpc>
                          <a:spcPct val="100000"/>
                        </a:lnSpc>
                        <a:spcBef>
                          <a:spcPts val="325"/>
                        </a:spcBef>
                      </a:pPr>
                      <a:r>
                        <a:rPr sz="1600" spc="-50">
                          <a:latin typeface="Arial"/>
                          <a:cs typeface="Arial"/>
                        </a:rPr>
                        <a:t>5</a:t>
                      </a:r>
                      <a:endParaRPr sz="1600">
                        <a:latin typeface="Arial"/>
                        <a:cs typeface="Arial"/>
                      </a:endParaRPr>
                    </a:p>
                  </a:txBody>
                  <a:tcPr marL="0" marR="0" marT="41275" marB="0">
                    <a:solidFill>
                      <a:srgbClr val="E3E5E8"/>
                    </a:solidFill>
                  </a:tcPr>
                </a:tc>
                <a:extLst>
                  <a:ext uri="{0D108BD9-81ED-4DB2-BD59-A6C34878D82A}">
                    <a16:rowId xmlns:a16="http://schemas.microsoft.com/office/drawing/2014/main" val="10002"/>
                  </a:ext>
                </a:extLst>
              </a:tr>
              <a:tr h="345440">
                <a:tc>
                  <a:txBody>
                    <a:bodyPr/>
                    <a:lstStyle/>
                    <a:p>
                      <a:pPr marL="129539" algn="ctr">
                        <a:lnSpc>
                          <a:spcPct val="100000"/>
                        </a:lnSpc>
                        <a:spcBef>
                          <a:spcPts val="325"/>
                        </a:spcBef>
                      </a:pPr>
                      <a:r>
                        <a:rPr sz="1600" spc="-25">
                          <a:latin typeface="Arial"/>
                          <a:cs typeface="Arial"/>
                        </a:rPr>
                        <a:t>pun</a:t>
                      </a:r>
                      <a:endParaRPr sz="1600">
                        <a:latin typeface="Arial"/>
                        <a:cs typeface="Arial"/>
                      </a:endParaRPr>
                    </a:p>
                  </a:txBody>
                  <a:tcPr marL="0" marR="0" marT="41275" marB="0"/>
                </a:tc>
                <a:tc>
                  <a:txBody>
                    <a:bodyPr/>
                    <a:lstStyle/>
                    <a:p>
                      <a:pPr marL="129539" algn="ctr">
                        <a:lnSpc>
                          <a:spcPct val="100000"/>
                        </a:lnSpc>
                        <a:spcBef>
                          <a:spcPts val="325"/>
                        </a:spcBef>
                      </a:pPr>
                      <a:r>
                        <a:rPr sz="1600" spc="-25">
                          <a:latin typeface="Arial"/>
                          <a:cs typeface="Arial"/>
                        </a:rPr>
                        <a:t>12</a:t>
                      </a:r>
                      <a:endParaRPr sz="1600">
                        <a:latin typeface="Arial"/>
                        <a:cs typeface="Arial"/>
                      </a:endParaRPr>
                    </a:p>
                  </a:txBody>
                  <a:tcPr marL="0" marR="0" marT="41275" marB="0"/>
                </a:tc>
                <a:extLst>
                  <a:ext uri="{0D108BD9-81ED-4DB2-BD59-A6C34878D82A}">
                    <a16:rowId xmlns:a16="http://schemas.microsoft.com/office/drawing/2014/main" val="10003"/>
                  </a:ext>
                </a:extLst>
              </a:tr>
              <a:tr h="345440">
                <a:tc>
                  <a:txBody>
                    <a:bodyPr/>
                    <a:lstStyle/>
                    <a:p>
                      <a:pPr marL="129539" algn="ctr">
                        <a:lnSpc>
                          <a:spcPct val="100000"/>
                        </a:lnSpc>
                        <a:spcBef>
                          <a:spcPts val="325"/>
                        </a:spcBef>
                      </a:pPr>
                      <a:r>
                        <a:rPr sz="1600" spc="-25">
                          <a:latin typeface="Arial"/>
                          <a:cs typeface="Arial"/>
                        </a:rPr>
                        <a:t>bun</a:t>
                      </a:r>
                      <a:endParaRPr sz="1600">
                        <a:latin typeface="Arial"/>
                        <a:cs typeface="Arial"/>
                      </a:endParaRPr>
                    </a:p>
                  </a:txBody>
                  <a:tcPr marL="0" marR="0" marT="41275" marB="0">
                    <a:solidFill>
                      <a:srgbClr val="E3E5E8"/>
                    </a:solidFill>
                  </a:tcPr>
                </a:tc>
                <a:tc>
                  <a:txBody>
                    <a:bodyPr/>
                    <a:lstStyle/>
                    <a:p>
                      <a:pPr marL="129539" algn="ctr">
                        <a:lnSpc>
                          <a:spcPct val="100000"/>
                        </a:lnSpc>
                        <a:spcBef>
                          <a:spcPts val="325"/>
                        </a:spcBef>
                      </a:pPr>
                      <a:r>
                        <a:rPr sz="1600" spc="-50">
                          <a:latin typeface="Arial"/>
                          <a:cs typeface="Arial"/>
                        </a:rPr>
                        <a:t>4</a:t>
                      </a:r>
                      <a:endParaRPr sz="1600">
                        <a:latin typeface="Arial"/>
                        <a:cs typeface="Arial"/>
                      </a:endParaRPr>
                    </a:p>
                  </a:txBody>
                  <a:tcPr marL="0" marR="0" marT="41275" marB="0">
                    <a:solidFill>
                      <a:srgbClr val="E3E5E8"/>
                    </a:solidFill>
                  </a:tcPr>
                </a:tc>
                <a:extLst>
                  <a:ext uri="{0D108BD9-81ED-4DB2-BD59-A6C34878D82A}">
                    <a16:rowId xmlns:a16="http://schemas.microsoft.com/office/drawing/2014/main" val="10004"/>
                  </a:ext>
                </a:extLst>
              </a:tr>
              <a:tr h="288290">
                <a:tc>
                  <a:txBody>
                    <a:bodyPr/>
                    <a:lstStyle/>
                    <a:p>
                      <a:pPr marL="129539" algn="ctr">
                        <a:lnSpc>
                          <a:spcPts val="1845"/>
                        </a:lnSpc>
                        <a:spcBef>
                          <a:spcPts val="325"/>
                        </a:spcBef>
                      </a:pPr>
                      <a:r>
                        <a:rPr sz="1600" spc="-20">
                          <a:latin typeface="Arial"/>
                          <a:cs typeface="Arial"/>
                        </a:rPr>
                        <a:t>hugs</a:t>
                      </a:r>
                      <a:endParaRPr sz="1600">
                        <a:latin typeface="Arial"/>
                        <a:cs typeface="Arial"/>
                      </a:endParaRPr>
                    </a:p>
                  </a:txBody>
                  <a:tcPr marL="0" marR="0" marT="41275" marB="0"/>
                </a:tc>
                <a:tc>
                  <a:txBody>
                    <a:bodyPr/>
                    <a:lstStyle/>
                    <a:p>
                      <a:pPr marL="129539" algn="ctr">
                        <a:lnSpc>
                          <a:spcPts val="1845"/>
                        </a:lnSpc>
                        <a:spcBef>
                          <a:spcPts val="325"/>
                        </a:spcBef>
                      </a:pPr>
                      <a:r>
                        <a:rPr sz="1600" spc="-50">
                          <a:latin typeface="Arial"/>
                          <a:cs typeface="Arial"/>
                        </a:rPr>
                        <a:t>5</a:t>
                      </a:r>
                      <a:endParaRPr sz="1600">
                        <a:latin typeface="Arial"/>
                        <a:cs typeface="Arial"/>
                      </a:endParaRPr>
                    </a:p>
                  </a:txBody>
                  <a:tcPr marL="0" marR="0" marT="41275" marB="0"/>
                </a:tc>
                <a:extLst>
                  <a:ext uri="{0D108BD9-81ED-4DB2-BD59-A6C34878D82A}">
                    <a16:rowId xmlns:a16="http://schemas.microsoft.com/office/drawing/2014/main" val="10005"/>
                  </a:ext>
                </a:extLst>
              </a:tr>
            </a:tbl>
          </a:graphicData>
        </a:graphic>
      </p:graphicFrame>
      <p:sp>
        <p:nvSpPr>
          <p:cNvPr id="6" name="object 6"/>
          <p:cNvSpPr txBox="1"/>
          <p:nvPr/>
        </p:nvSpPr>
        <p:spPr>
          <a:xfrm>
            <a:off x="6163680" y="5963139"/>
            <a:ext cx="2842895" cy="379095"/>
          </a:xfrm>
          <a:prstGeom prst="rect">
            <a:avLst/>
          </a:prstGeom>
        </p:spPr>
        <p:txBody>
          <a:bodyPr vert="horz" wrap="square" lIns="0" tIns="15240" rIns="0" bIns="0" rtlCol="0">
            <a:spAutoFit/>
          </a:bodyPr>
          <a:lstStyle/>
          <a:p>
            <a:pPr marL="12700">
              <a:lnSpc>
                <a:spcPct val="100000"/>
              </a:lnSpc>
              <a:spcBef>
                <a:spcPts val="120"/>
              </a:spcBef>
            </a:pPr>
            <a:r>
              <a:rPr sz="2300" spc="590">
                <a:latin typeface="Cambria"/>
                <a:cs typeface="Cambria"/>
              </a:rPr>
              <a:t>𝒱</a:t>
            </a:r>
            <a:r>
              <a:rPr sz="2300" spc="140">
                <a:latin typeface="Cambria"/>
                <a:cs typeface="Cambria"/>
              </a:rPr>
              <a:t> </a:t>
            </a:r>
            <a:r>
              <a:rPr sz="2300" spc="305">
                <a:latin typeface="Cambria"/>
                <a:cs typeface="Cambria"/>
              </a:rPr>
              <a:t>=</a:t>
            </a:r>
            <a:r>
              <a:rPr sz="2300" spc="145">
                <a:latin typeface="Cambria"/>
                <a:cs typeface="Cambria"/>
              </a:rPr>
              <a:t> </a:t>
            </a:r>
            <a:r>
              <a:rPr sz="2300" spc="135">
                <a:latin typeface="Cambria"/>
                <a:cs typeface="Cambria"/>
              </a:rPr>
              <a:t>{</a:t>
            </a:r>
            <a:r>
              <a:rPr sz="2300" spc="135">
                <a:latin typeface="Arial"/>
                <a:cs typeface="Arial"/>
              </a:rPr>
              <a:t>b</a:t>
            </a:r>
            <a:r>
              <a:rPr sz="2300" spc="135">
                <a:latin typeface="Cambria"/>
                <a:cs typeface="Cambria"/>
              </a:rPr>
              <a:t>,</a:t>
            </a:r>
            <a:r>
              <a:rPr sz="2300" spc="-114">
                <a:latin typeface="Cambria"/>
                <a:cs typeface="Cambria"/>
              </a:rPr>
              <a:t> </a:t>
            </a:r>
            <a:r>
              <a:rPr sz="2300" spc="75">
                <a:latin typeface="Arial"/>
                <a:cs typeface="Arial"/>
              </a:rPr>
              <a:t>g</a:t>
            </a:r>
            <a:r>
              <a:rPr sz="2300" spc="75">
                <a:latin typeface="Cambria"/>
                <a:cs typeface="Cambria"/>
              </a:rPr>
              <a:t>,</a:t>
            </a:r>
            <a:r>
              <a:rPr sz="2300" spc="-120">
                <a:latin typeface="Cambria"/>
                <a:cs typeface="Cambria"/>
              </a:rPr>
              <a:t> </a:t>
            </a:r>
            <a:r>
              <a:rPr sz="2300" spc="55">
                <a:latin typeface="Arial"/>
                <a:cs typeface="Arial"/>
              </a:rPr>
              <a:t>h</a:t>
            </a:r>
            <a:r>
              <a:rPr sz="2300" spc="55">
                <a:latin typeface="Cambria"/>
                <a:cs typeface="Cambria"/>
              </a:rPr>
              <a:t>,</a:t>
            </a:r>
            <a:r>
              <a:rPr sz="2300" spc="-114">
                <a:latin typeface="Cambria"/>
                <a:cs typeface="Cambria"/>
              </a:rPr>
              <a:t> </a:t>
            </a:r>
            <a:r>
              <a:rPr sz="2300" spc="55">
                <a:latin typeface="Arial"/>
                <a:cs typeface="Arial"/>
              </a:rPr>
              <a:t>n</a:t>
            </a:r>
            <a:r>
              <a:rPr sz="2300" spc="55">
                <a:latin typeface="Cambria"/>
                <a:cs typeface="Cambria"/>
              </a:rPr>
              <a:t>,</a:t>
            </a:r>
            <a:r>
              <a:rPr sz="2300" spc="-114">
                <a:latin typeface="Cambria"/>
                <a:cs typeface="Cambria"/>
              </a:rPr>
              <a:t> </a:t>
            </a:r>
            <a:r>
              <a:rPr sz="2300" spc="95">
                <a:latin typeface="Arial"/>
                <a:cs typeface="Arial"/>
              </a:rPr>
              <a:t>p</a:t>
            </a:r>
            <a:r>
              <a:rPr sz="2300" spc="95">
                <a:latin typeface="Cambria"/>
                <a:cs typeface="Cambria"/>
              </a:rPr>
              <a:t>,</a:t>
            </a:r>
            <a:r>
              <a:rPr sz="2300" spc="-114">
                <a:latin typeface="Cambria"/>
                <a:cs typeface="Cambria"/>
              </a:rPr>
              <a:t> </a:t>
            </a:r>
            <a:r>
              <a:rPr sz="2300" spc="50">
                <a:latin typeface="Arial"/>
                <a:cs typeface="Arial"/>
              </a:rPr>
              <a:t>s</a:t>
            </a:r>
            <a:r>
              <a:rPr sz="2300" spc="50">
                <a:latin typeface="Cambria"/>
                <a:cs typeface="Cambria"/>
              </a:rPr>
              <a:t>,</a:t>
            </a:r>
            <a:r>
              <a:rPr sz="2300" spc="-114">
                <a:latin typeface="Cambria"/>
                <a:cs typeface="Cambria"/>
              </a:rPr>
              <a:t> </a:t>
            </a:r>
            <a:r>
              <a:rPr sz="2300" spc="90">
                <a:latin typeface="Arial"/>
                <a:cs typeface="Arial"/>
              </a:rPr>
              <a:t>u</a:t>
            </a:r>
            <a:r>
              <a:rPr sz="2300" spc="90">
                <a:latin typeface="Cambria"/>
                <a:cs typeface="Cambria"/>
              </a:rPr>
              <a:t>}</a:t>
            </a:r>
            <a:endParaRPr sz="2300">
              <a:latin typeface="Cambria"/>
              <a:cs typeface="Cambria"/>
            </a:endParaRPr>
          </a:p>
        </p:txBody>
      </p:sp>
      <p:sp>
        <p:nvSpPr>
          <p:cNvPr id="7" name="object 7"/>
          <p:cNvSpPr/>
          <p:nvPr/>
        </p:nvSpPr>
        <p:spPr>
          <a:xfrm>
            <a:off x="7202141" y="4979394"/>
            <a:ext cx="746760" cy="786130"/>
          </a:xfrm>
          <a:custGeom>
            <a:avLst/>
            <a:gdLst/>
            <a:ahLst/>
            <a:cxnLst/>
            <a:rect l="l" t="t" r="r" b="b"/>
            <a:pathLst>
              <a:path w="746759" h="786129">
                <a:moveTo>
                  <a:pt x="492772" y="0"/>
                </a:moveTo>
                <a:lnTo>
                  <a:pt x="253852" y="0"/>
                </a:lnTo>
                <a:lnTo>
                  <a:pt x="253852" y="282892"/>
                </a:lnTo>
                <a:lnTo>
                  <a:pt x="0" y="282892"/>
                </a:lnTo>
                <a:lnTo>
                  <a:pt x="373312" y="785812"/>
                </a:lnTo>
                <a:lnTo>
                  <a:pt x="746626" y="282892"/>
                </a:lnTo>
                <a:lnTo>
                  <a:pt x="492772" y="282892"/>
                </a:lnTo>
                <a:lnTo>
                  <a:pt x="492772" y="0"/>
                </a:lnTo>
                <a:close/>
              </a:path>
            </a:pathLst>
          </a:custGeom>
          <a:solidFill>
            <a:srgbClr val="000000"/>
          </a:solidFill>
        </p:spPr>
        <p:txBody>
          <a:bodyPr wrap="square" lIns="0" tIns="0" rIns="0" bIns="0" rtlCol="0"/>
          <a:lstStyle/>
          <a:p>
            <a:endParaRPr/>
          </a:p>
        </p:txBody>
      </p:sp>
      <p:sp>
        <p:nvSpPr>
          <p:cNvPr id="8" name="object 8"/>
          <p:cNvSpPr txBox="1">
            <a:spLocks noGrp="1"/>
          </p:cNvSpPr>
          <p:nvPr>
            <p:ph type="sldNum" sz="quarter" idx="7"/>
          </p:nvPr>
        </p:nvSpPr>
        <p:spPr>
          <a:prstGeom prst="rect">
            <a:avLst/>
          </a:prstGeom>
        </p:spPr>
        <p:txBody>
          <a:bodyPr vert="horz" wrap="square" lIns="0" tIns="6985" rIns="0" bIns="0" rtlCol="0">
            <a:spAutoFit/>
          </a:bodyPr>
          <a:lstStyle/>
          <a:p>
            <a:pPr marL="38100">
              <a:lnSpc>
                <a:spcPct val="100000"/>
              </a:lnSpc>
              <a:spcBef>
                <a:spcPts val="55"/>
              </a:spcBef>
            </a:pPr>
            <a:fld id="{81D60167-4931-47E6-BA6A-407CBD079E47}" type="slidenum">
              <a:rPr spc="-25" dirty="0"/>
              <a:t>14</a:t>
            </a:fld>
            <a:endParaRPr spc="-25"/>
          </a:p>
        </p:txBody>
      </p:sp>
      <p:sp>
        <p:nvSpPr>
          <p:cNvPr id="9" name="object 9"/>
          <p:cNvSpPr txBox="1"/>
          <p:nvPr/>
        </p:nvSpPr>
        <p:spPr>
          <a:xfrm>
            <a:off x="5562139" y="7457345"/>
            <a:ext cx="4424680" cy="174625"/>
          </a:xfrm>
          <a:prstGeom prst="rect">
            <a:avLst/>
          </a:prstGeom>
        </p:spPr>
        <p:txBody>
          <a:bodyPr vert="horz" wrap="square" lIns="0" tIns="6985" rIns="0" bIns="0" rtlCol="0">
            <a:spAutoFit/>
          </a:bodyPr>
          <a:lstStyle/>
          <a:p>
            <a:pPr marL="12700">
              <a:lnSpc>
                <a:spcPct val="100000"/>
              </a:lnSpc>
              <a:spcBef>
                <a:spcPts val="55"/>
              </a:spcBef>
            </a:pPr>
            <a:r>
              <a:rPr sz="1000">
                <a:latin typeface="Arial"/>
                <a:cs typeface="Arial"/>
              </a:rPr>
              <a:t>Example</a:t>
            </a:r>
            <a:r>
              <a:rPr sz="1000" spc="290">
                <a:latin typeface="Arial"/>
                <a:cs typeface="Arial"/>
              </a:rPr>
              <a:t> </a:t>
            </a:r>
            <a:r>
              <a:rPr sz="1000">
                <a:latin typeface="Arial"/>
                <a:cs typeface="Arial"/>
              </a:rPr>
              <a:t>from:</a:t>
            </a:r>
            <a:r>
              <a:rPr sz="1000" spc="290">
                <a:latin typeface="Arial"/>
                <a:cs typeface="Arial"/>
              </a:rPr>
              <a:t> </a:t>
            </a:r>
            <a:r>
              <a:rPr sz="1000" u="sng" spc="-10">
                <a:uFill>
                  <a:solidFill>
                    <a:srgbClr val="000000"/>
                  </a:solidFill>
                </a:uFill>
                <a:latin typeface="Arial"/>
                <a:cs typeface="Arial"/>
                <a:hlinkClick r:id="rId2"/>
              </a:rPr>
              <a:t>https://huggingface.co/docs/transformers/tokenizer_summary</a:t>
            </a:r>
            <a:endParaRPr sz="1000">
              <a:latin typeface="Arial"/>
              <a:cs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 name="object 8"/>
          <p:cNvSpPr txBox="1">
            <a:spLocks noGrp="1"/>
          </p:cNvSpPr>
          <p:nvPr>
            <p:ph type="sldNum" sz="quarter" idx="7"/>
          </p:nvPr>
        </p:nvSpPr>
        <p:spPr>
          <a:prstGeom prst="rect">
            <a:avLst/>
          </a:prstGeom>
        </p:spPr>
        <p:txBody>
          <a:bodyPr vert="horz" wrap="square" lIns="0" tIns="6985" rIns="0" bIns="0" rtlCol="0">
            <a:spAutoFit/>
          </a:bodyPr>
          <a:lstStyle/>
          <a:p>
            <a:pPr marL="38100">
              <a:lnSpc>
                <a:spcPct val="100000"/>
              </a:lnSpc>
              <a:spcBef>
                <a:spcPts val="55"/>
              </a:spcBef>
            </a:pPr>
            <a:fld id="{81D60167-4931-47E6-BA6A-407CBD079E47}" type="slidenum">
              <a:rPr spc="-25" dirty="0"/>
              <a:t>15</a:t>
            </a:fld>
            <a:endParaRPr spc="-25"/>
          </a:p>
        </p:txBody>
      </p:sp>
      <p:sp>
        <p:nvSpPr>
          <p:cNvPr id="9" name="object 9"/>
          <p:cNvSpPr txBox="1"/>
          <p:nvPr/>
        </p:nvSpPr>
        <p:spPr>
          <a:xfrm>
            <a:off x="5562139" y="7457345"/>
            <a:ext cx="4424680" cy="174625"/>
          </a:xfrm>
          <a:prstGeom prst="rect">
            <a:avLst/>
          </a:prstGeom>
        </p:spPr>
        <p:txBody>
          <a:bodyPr vert="horz" wrap="square" lIns="0" tIns="6985" rIns="0" bIns="0" rtlCol="0">
            <a:spAutoFit/>
          </a:bodyPr>
          <a:lstStyle/>
          <a:p>
            <a:pPr marL="12700">
              <a:lnSpc>
                <a:spcPct val="100000"/>
              </a:lnSpc>
              <a:spcBef>
                <a:spcPts val="55"/>
              </a:spcBef>
            </a:pPr>
            <a:r>
              <a:rPr sz="1000">
                <a:latin typeface="Arial"/>
                <a:cs typeface="Arial"/>
              </a:rPr>
              <a:t>Example</a:t>
            </a:r>
            <a:r>
              <a:rPr sz="1000" spc="290">
                <a:latin typeface="Arial"/>
                <a:cs typeface="Arial"/>
              </a:rPr>
              <a:t> </a:t>
            </a:r>
            <a:r>
              <a:rPr sz="1000">
                <a:latin typeface="Arial"/>
                <a:cs typeface="Arial"/>
              </a:rPr>
              <a:t>from:</a:t>
            </a:r>
            <a:r>
              <a:rPr sz="1000" spc="290">
                <a:latin typeface="Arial"/>
                <a:cs typeface="Arial"/>
              </a:rPr>
              <a:t> </a:t>
            </a:r>
            <a:r>
              <a:rPr sz="1000" u="sng" spc="-10">
                <a:uFill>
                  <a:solidFill>
                    <a:srgbClr val="000000"/>
                  </a:solidFill>
                </a:uFill>
                <a:latin typeface="Arial"/>
                <a:cs typeface="Arial"/>
                <a:hlinkClick r:id="rId2"/>
              </a:rPr>
              <a:t>https://huggingface.co/docs/transformers/tokenizer_summary</a:t>
            </a:r>
            <a:endParaRPr sz="1000">
              <a:latin typeface="Arial"/>
              <a:cs typeface="Arial"/>
            </a:endParaRPr>
          </a:p>
        </p:txBody>
      </p:sp>
      <p:sp>
        <p:nvSpPr>
          <p:cNvPr id="2" name="object 2"/>
          <p:cNvSpPr txBox="1"/>
          <p:nvPr/>
        </p:nvSpPr>
        <p:spPr>
          <a:xfrm>
            <a:off x="566836" y="2416754"/>
            <a:ext cx="4137025" cy="1116965"/>
          </a:xfrm>
          <a:prstGeom prst="rect">
            <a:avLst/>
          </a:prstGeom>
        </p:spPr>
        <p:txBody>
          <a:bodyPr vert="horz" wrap="square" lIns="0" tIns="39370" rIns="0" bIns="0" rtlCol="0">
            <a:spAutoFit/>
          </a:bodyPr>
          <a:lstStyle/>
          <a:p>
            <a:pPr marL="233679" marR="5080" indent="-221615">
              <a:lnSpc>
                <a:spcPct val="91700"/>
              </a:lnSpc>
              <a:spcBef>
                <a:spcPts val="310"/>
              </a:spcBef>
              <a:buSzPct val="102380"/>
              <a:buFont typeface="Arial"/>
              <a:buChar char="•"/>
              <a:tabLst>
                <a:tab pos="233679" algn="l"/>
              </a:tabLst>
            </a:pPr>
            <a:r>
              <a:rPr sz="2100" spc="525">
                <a:latin typeface="Cambria"/>
                <a:cs typeface="Cambria"/>
              </a:rPr>
              <a:t>𝒱</a:t>
            </a:r>
            <a:r>
              <a:rPr sz="2100" spc="110">
                <a:latin typeface="Cambria"/>
                <a:cs typeface="Cambria"/>
              </a:rPr>
              <a:t> </a:t>
            </a:r>
            <a:r>
              <a:rPr sz="2100" spc="175">
                <a:latin typeface="Cambria"/>
                <a:cs typeface="Cambria"/>
              </a:rPr>
              <a:t>←</a:t>
            </a:r>
            <a:r>
              <a:rPr sz="2100" spc="110">
                <a:latin typeface="Cambria"/>
                <a:cs typeface="Cambria"/>
              </a:rPr>
              <a:t> </a:t>
            </a:r>
            <a:r>
              <a:rPr sz="1750">
                <a:latin typeface="Arial"/>
                <a:cs typeface="Arial"/>
              </a:rPr>
              <a:t>All</a:t>
            </a:r>
            <a:r>
              <a:rPr sz="1750" spc="-10">
                <a:latin typeface="Arial"/>
                <a:cs typeface="Arial"/>
              </a:rPr>
              <a:t> </a:t>
            </a:r>
            <a:r>
              <a:rPr sz="1750">
                <a:latin typeface="Arial"/>
                <a:cs typeface="Arial"/>
              </a:rPr>
              <a:t>characters</a:t>
            </a:r>
            <a:r>
              <a:rPr sz="1750" spc="-10">
                <a:latin typeface="Arial"/>
                <a:cs typeface="Arial"/>
              </a:rPr>
              <a:t> </a:t>
            </a:r>
            <a:r>
              <a:rPr sz="1750">
                <a:latin typeface="Arial"/>
                <a:cs typeface="Arial"/>
              </a:rPr>
              <a:t>in</a:t>
            </a:r>
            <a:r>
              <a:rPr sz="1750" spc="-15">
                <a:latin typeface="Arial"/>
                <a:cs typeface="Arial"/>
              </a:rPr>
              <a:t> </a:t>
            </a:r>
            <a:r>
              <a:rPr sz="1750">
                <a:latin typeface="Arial"/>
                <a:cs typeface="Arial"/>
              </a:rPr>
              <a:t>the</a:t>
            </a:r>
            <a:r>
              <a:rPr sz="1750" spc="-10">
                <a:latin typeface="Arial"/>
                <a:cs typeface="Arial"/>
              </a:rPr>
              <a:t> </a:t>
            </a:r>
            <a:r>
              <a:rPr sz="1750">
                <a:latin typeface="Arial"/>
                <a:cs typeface="Arial"/>
              </a:rPr>
              <a:t>training</a:t>
            </a:r>
            <a:r>
              <a:rPr sz="1750" spc="-10">
                <a:latin typeface="Arial"/>
                <a:cs typeface="Arial"/>
              </a:rPr>
              <a:t> </a:t>
            </a:r>
            <a:r>
              <a:rPr sz="1750" spc="-20">
                <a:latin typeface="Arial"/>
                <a:cs typeface="Arial"/>
              </a:rPr>
              <a:t>data </a:t>
            </a:r>
            <a:r>
              <a:rPr sz="1750" spc="-45">
                <a:latin typeface="Arial"/>
                <a:cs typeface="Arial"/>
              </a:rPr>
              <a:t>(as</a:t>
            </a:r>
            <a:r>
              <a:rPr sz="1750" spc="-55">
                <a:latin typeface="Arial"/>
                <a:cs typeface="Arial"/>
              </a:rPr>
              <a:t> </a:t>
            </a:r>
            <a:r>
              <a:rPr sz="1750">
                <a:latin typeface="Arial"/>
                <a:cs typeface="Arial"/>
              </a:rPr>
              <a:t>base</a:t>
            </a:r>
            <a:r>
              <a:rPr sz="1750" spc="-55">
                <a:latin typeface="Arial"/>
                <a:cs typeface="Arial"/>
              </a:rPr>
              <a:t> </a:t>
            </a:r>
            <a:r>
              <a:rPr sz="1750" b="1" spc="-10">
                <a:latin typeface="Arial"/>
                <a:cs typeface="Arial"/>
              </a:rPr>
              <a:t>tokens</a:t>
            </a:r>
            <a:r>
              <a:rPr sz="1750" spc="-10">
                <a:latin typeface="Arial"/>
                <a:cs typeface="Arial"/>
              </a:rPr>
              <a:t>)</a:t>
            </a:r>
            <a:endParaRPr sz="1750">
              <a:latin typeface="Arial"/>
              <a:cs typeface="Arial"/>
            </a:endParaRPr>
          </a:p>
          <a:p>
            <a:pPr marL="233679" indent="-220979">
              <a:lnSpc>
                <a:spcPct val="100000"/>
              </a:lnSpc>
              <a:spcBef>
                <a:spcPts val="1625"/>
              </a:spcBef>
              <a:buSzPct val="122857"/>
              <a:buChar char="•"/>
              <a:tabLst>
                <a:tab pos="233679" algn="l"/>
              </a:tabLst>
            </a:pPr>
            <a:r>
              <a:rPr sz="1750">
                <a:latin typeface="Arial"/>
                <a:cs typeface="Arial"/>
              </a:rPr>
              <a:t>For</a:t>
            </a:r>
            <a:r>
              <a:rPr sz="1750" spc="-50">
                <a:latin typeface="Arial"/>
                <a:cs typeface="Arial"/>
              </a:rPr>
              <a:t> </a:t>
            </a:r>
            <a:r>
              <a:rPr sz="2100" i="1">
                <a:latin typeface="Times New Roman"/>
                <a:cs typeface="Times New Roman"/>
              </a:rPr>
              <a:t>k</a:t>
            </a:r>
            <a:r>
              <a:rPr sz="2100" i="1" spc="-90">
                <a:latin typeface="Times New Roman"/>
                <a:cs typeface="Times New Roman"/>
              </a:rPr>
              <a:t> </a:t>
            </a:r>
            <a:r>
              <a:rPr sz="1750" spc="-10">
                <a:latin typeface="Arial"/>
                <a:cs typeface="Arial"/>
              </a:rPr>
              <a:t>steps:</a:t>
            </a:r>
            <a:endParaRPr sz="1750">
              <a:latin typeface="Arial"/>
              <a:cs typeface="Arial"/>
            </a:endParaRPr>
          </a:p>
        </p:txBody>
      </p:sp>
      <p:sp>
        <p:nvSpPr>
          <p:cNvPr id="3" name="object 3"/>
          <p:cNvSpPr txBox="1"/>
          <p:nvPr/>
        </p:nvSpPr>
        <p:spPr>
          <a:xfrm>
            <a:off x="0" y="3671970"/>
            <a:ext cx="5142230" cy="676275"/>
          </a:xfrm>
          <a:prstGeom prst="rect">
            <a:avLst/>
          </a:prstGeom>
          <a:solidFill>
            <a:srgbClr val="FFD932">
              <a:alpha val="42759"/>
            </a:srgbClr>
          </a:solidFill>
        </p:spPr>
        <p:txBody>
          <a:bodyPr vert="horz" wrap="square" lIns="0" tIns="45719" rIns="0" bIns="0" rtlCol="0">
            <a:spAutoFit/>
          </a:bodyPr>
          <a:lstStyle/>
          <a:p>
            <a:pPr marL="1094740" marR="424180" indent="-221615">
              <a:lnSpc>
                <a:spcPct val="86400"/>
              </a:lnSpc>
              <a:spcBef>
                <a:spcPts val="359"/>
              </a:spcBef>
            </a:pPr>
            <a:r>
              <a:rPr sz="3225" spc="165" baseline="-3875">
                <a:latin typeface="Arial"/>
                <a:cs typeface="Arial"/>
              </a:rPr>
              <a:t>-</a:t>
            </a:r>
            <a:r>
              <a:rPr sz="3225" spc="465" baseline="-3875">
                <a:latin typeface="Arial"/>
                <a:cs typeface="Arial"/>
              </a:rPr>
              <a:t> </a:t>
            </a:r>
            <a:r>
              <a:rPr sz="1750" spc="-40">
                <a:latin typeface="Arial"/>
                <a:cs typeface="Arial"/>
              </a:rPr>
              <a:t>Tokenize</a:t>
            </a:r>
            <a:r>
              <a:rPr sz="1750" spc="-5">
                <a:latin typeface="Arial"/>
                <a:cs typeface="Arial"/>
              </a:rPr>
              <a:t> </a:t>
            </a:r>
            <a:r>
              <a:rPr sz="1750">
                <a:latin typeface="Arial"/>
                <a:cs typeface="Arial"/>
              </a:rPr>
              <a:t>the</a:t>
            </a:r>
            <a:r>
              <a:rPr sz="1750" spc="-5">
                <a:latin typeface="Arial"/>
                <a:cs typeface="Arial"/>
              </a:rPr>
              <a:t> </a:t>
            </a:r>
            <a:r>
              <a:rPr sz="1750">
                <a:latin typeface="Arial"/>
                <a:cs typeface="Arial"/>
              </a:rPr>
              <a:t>data, taking</a:t>
            </a:r>
            <a:r>
              <a:rPr sz="1750" spc="-5">
                <a:latin typeface="Arial"/>
                <a:cs typeface="Arial"/>
              </a:rPr>
              <a:t> </a:t>
            </a:r>
            <a:r>
              <a:rPr sz="1750">
                <a:latin typeface="Arial"/>
                <a:cs typeface="Arial"/>
              </a:rPr>
              <a:t>the</a:t>
            </a:r>
            <a:r>
              <a:rPr sz="1750" spc="-5">
                <a:latin typeface="Arial"/>
                <a:cs typeface="Arial"/>
              </a:rPr>
              <a:t> </a:t>
            </a:r>
            <a:r>
              <a:rPr sz="1750" spc="-10">
                <a:latin typeface="Arial"/>
                <a:cs typeface="Arial"/>
              </a:rPr>
              <a:t>longest </a:t>
            </a:r>
            <a:r>
              <a:rPr sz="1750">
                <a:latin typeface="Arial"/>
                <a:cs typeface="Arial"/>
              </a:rPr>
              <a:t>prefix</a:t>
            </a:r>
            <a:r>
              <a:rPr sz="1750" spc="-20">
                <a:latin typeface="Arial"/>
                <a:cs typeface="Arial"/>
              </a:rPr>
              <a:t> </a:t>
            </a:r>
            <a:r>
              <a:rPr sz="1750">
                <a:latin typeface="Arial"/>
                <a:cs typeface="Arial"/>
              </a:rPr>
              <a:t>each</a:t>
            </a:r>
            <a:r>
              <a:rPr sz="1750" spc="-15">
                <a:latin typeface="Arial"/>
                <a:cs typeface="Arial"/>
              </a:rPr>
              <a:t> </a:t>
            </a:r>
            <a:r>
              <a:rPr sz="1750" spc="-20">
                <a:latin typeface="Arial"/>
                <a:cs typeface="Arial"/>
              </a:rPr>
              <a:t>time</a:t>
            </a:r>
            <a:endParaRPr sz="1750">
              <a:latin typeface="Arial"/>
              <a:cs typeface="Arial"/>
            </a:endParaRPr>
          </a:p>
        </p:txBody>
      </p:sp>
      <p:sp>
        <p:nvSpPr>
          <p:cNvPr id="4" name="object 4"/>
          <p:cNvSpPr txBox="1"/>
          <p:nvPr/>
        </p:nvSpPr>
        <p:spPr>
          <a:xfrm>
            <a:off x="566836" y="4426734"/>
            <a:ext cx="4409440" cy="2583180"/>
          </a:xfrm>
          <a:prstGeom prst="rect">
            <a:avLst/>
          </a:prstGeom>
        </p:spPr>
        <p:txBody>
          <a:bodyPr vert="horz" wrap="square" lIns="0" tIns="5080" rIns="0" bIns="0" rtlCol="0">
            <a:spAutoFit/>
          </a:bodyPr>
          <a:lstStyle/>
          <a:p>
            <a:pPr marL="528320" marR="81915" indent="-221615">
              <a:lnSpc>
                <a:spcPct val="86400"/>
              </a:lnSpc>
              <a:spcBef>
                <a:spcPts val="40"/>
              </a:spcBef>
              <a:buSzPct val="122857"/>
              <a:buChar char="-"/>
              <a:tabLst>
                <a:tab pos="528320" algn="l"/>
              </a:tabLst>
            </a:pPr>
            <a:r>
              <a:rPr sz="1750">
                <a:latin typeface="Arial"/>
                <a:cs typeface="Arial"/>
              </a:rPr>
              <a:t>Count</a:t>
            </a:r>
            <a:r>
              <a:rPr sz="1750" spc="5">
                <a:latin typeface="Arial"/>
                <a:cs typeface="Arial"/>
              </a:rPr>
              <a:t> </a:t>
            </a:r>
            <a:r>
              <a:rPr sz="1750">
                <a:latin typeface="Arial"/>
                <a:cs typeface="Arial"/>
              </a:rPr>
              <a:t>the</a:t>
            </a:r>
            <a:r>
              <a:rPr sz="1750" spc="10">
                <a:latin typeface="Arial"/>
                <a:cs typeface="Arial"/>
              </a:rPr>
              <a:t> </a:t>
            </a:r>
            <a:r>
              <a:rPr sz="1750">
                <a:latin typeface="Arial"/>
                <a:cs typeface="Arial"/>
              </a:rPr>
              <a:t>frequency</a:t>
            </a:r>
            <a:r>
              <a:rPr sz="1750" spc="5">
                <a:latin typeface="Arial"/>
                <a:cs typeface="Arial"/>
              </a:rPr>
              <a:t> </a:t>
            </a:r>
            <a:r>
              <a:rPr sz="1750">
                <a:latin typeface="Arial"/>
                <a:cs typeface="Arial"/>
              </a:rPr>
              <a:t>of</a:t>
            </a:r>
            <a:r>
              <a:rPr sz="1750" spc="10">
                <a:latin typeface="Arial"/>
                <a:cs typeface="Arial"/>
              </a:rPr>
              <a:t> </a:t>
            </a:r>
            <a:r>
              <a:rPr sz="1750">
                <a:latin typeface="Arial"/>
                <a:cs typeface="Arial"/>
              </a:rPr>
              <a:t>adjacent</a:t>
            </a:r>
            <a:r>
              <a:rPr sz="1750" spc="10">
                <a:latin typeface="Arial"/>
                <a:cs typeface="Arial"/>
              </a:rPr>
              <a:t> </a:t>
            </a:r>
            <a:r>
              <a:rPr sz="1750" spc="-20">
                <a:latin typeface="Arial"/>
                <a:cs typeface="Arial"/>
              </a:rPr>
              <a:t>token </a:t>
            </a:r>
            <a:r>
              <a:rPr sz="1750">
                <a:latin typeface="Arial"/>
                <a:cs typeface="Arial"/>
              </a:rPr>
              <a:t>pairs</a:t>
            </a:r>
            <a:r>
              <a:rPr sz="1750" spc="-10">
                <a:latin typeface="Arial"/>
                <a:cs typeface="Arial"/>
              </a:rPr>
              <a:t> </a:t>
            </a:r>
            <a:r>
              <a:rPr sz="1750">
                <a:latin typeface="Arial"/>
                <a:cs typeface="Arial"/>
              </a:rPr>
              <a:t>in</a:t>
            </a:r>
            <a:r>
              <a:rPr sz="1750" spc="-10">
                <a:latin typeface="Arial"/>
                <a:cs typeface="Arial"/>
              </a:rPr>
              <a:t> </a:t>
            </a:r>
            <a:r>
              <a:rPr sz="1750">
                <a:latin typeface="Arial"/>
                <a:cs typeface="Arial"/>
              </a:rPr>
              <a:t>the</a:t>
            </a:r>
            <a:r>
              <a:rPr sz="1750" spc="-10">
                <a:latin typeface="Arial"/>
                <a:cs typeface="Arial"/>
              </a:rPr>
              <a:t> </a:t>
            </a:r>
            <a:r>
              <a:rPr sz="1750" spc="-20">
                <a:latin typeface="Arial"/>
                <a:cs typeface="Arial"/>
              </a:rPr>
              <a:t>data</a:t>
            </a:r>
            <a:endParaRPr sz="1750">
              <a:latin typeface="Arial"/>
              <a:cs typeface="Arial"/>
            </a:endParaRPr>
          </a:p>
          <a:p>
            <a:pPr marL="528320" marR="5080" indent="-221615">
              <a:lnSpc>
                <a:spcPct val="89300"/>
              </a:lnSpc>
              <a:spcBef>
                <a:spcPts val="1850"/>
              </a:spcBef>
              <a:buSzPct val="122857"/>
              <a:buChar char="-"/>
              <a:tabLst>
                <a:tab pos="528320" algn="l"/>
              </a:tabLst>
            </a:pPr>
            <a:r>
              <a:rPr sz="1750">
                <a:latin typeface="Arial"/>
                <a:cs typeface="Arial"/>
              </a:rPr>
              <a:t>Choose</a:t>
            </a:r>
            <a:r>
              <a:rPr sz="1750" spc="20">
                <a:latin typeface="Arial"/>
                <a:cs typeface="Arial"/>
              </a:rPr>
              <a:t> </a:t>
            </a:r>
            <a:r>
              <a:rPr sz="1750">
                <a:latin typeface="Arial"/>
                <a:cs typeface="Arial"/>
              </a:rPr>
              <a:t>the</a:t>
            </a:r>
            <a:r>
              <a:rPr sz="1750" spc="25">
                <a:latin typeface="Arial"/>
                <a:cs typeface="Arial"/>
              </a:rPr>
              <a:t> </a:t>
            </a:r>
            <a:r>
              <a:rPr sz="1750">
                <a:latin typeface="Arial"/>
                <a:cs typeface="Arial"/>
              </a:rPr>
              <a:t>pair</a:t>
            </a:r>
            <a:r>
              <a:rPr sz="1750" spc="25">
                <a:latin typeface="Arial"/>
                <a:cs typeface="Arial"/>
              </a:rPr>
              <a:t> </a:t>
            </a:r>
            <a:r>
              <a:rPr sz="2100" spc="60">
                <a:latin typeface="Cambria"/>
                <a:cs typeface="Cambria"/>
              </a:rPr>
              <a:t>⟨</a:t>
            </a:r>
            <a:r>
              <a:rPr sz="2100" i="1" spc="60">
                <a:latin typeface="Times New Roman"/>
                <a:cs typeface="Times New Roman"/>
              </a:rPr>
              <a:t>l</a:t>
            </a:r>
            <a:r>
              <a:rPr sz="2100" spc="60">
                <a:latin typeface="Cambria"/>
                <a:cs typeface="Cambria"/>
              </a:rPr>
              <a:t>,</a:t>
            </a:r>
            <a:r>
              <a:rPr sz="2100" spc="-95">
                <a:latin typeface="Cambria"/>
                <a:cs typeface="Cambria"/>
              </a:rPr>
              <a:t> </a:t>
            </a:r>
            <a:r>
              <a:rPr sz="2100" i="1">
                <a:latin typeface="Times New Roman"/>
                <a:cs typeface="Times New Roman"/>
              </a:rPr>
              <a:t>r</a:t>
            </a:r>
            <a:r>
              <a:rPr sz="2100">
                <a:latin typeface="Cambria"/>
                <a:cs typeface="Cambria"/>
              </a:rPr>
              <a:t>⟩</a:t>
            </a:r>
            <a:r>
              <a:rPr sz="2100" spc="50">
                <a:latin typeface="Cambria"/>
                <a:cs typeface="Cambria"/>
              </a:rPr>
              <a:t> </a:t>
            </a:r>
            <a:r>
              <a:rPr sz="1750">
                <a:latin typeface="Arial"/>
                <a:cs typeface="Arial"/>
              </a:rPr>
              <a:t>that</a:t>
            </a:r>
            <a:r>
              <a:rPr sz="1750" spc="20">
                <a:latin typeface="Arial"/>
                <a:cs typeface="Arial"/>
              </a:rPr>
              <a:t> </a:t>
            </a:r>
            <a:r>
              <a:rPr sz="1750">
                <a:latin typeface="Arial"/>
                <a:cs typeface="Arial"/>
              </a:rPr>
              <a:t>occurs</a:t>
            </a:r>
            <a:r>
              <a:rPr sz="1750" spc="25">
                <a:latin typeface="Arial"/>
                <a:cs typeface="Arial"/>
              </a:rPr>
              <a:t> </a:t>
            </a:r>
            <a:r>
              <a:rPr sz="1750" spc="-20">
                <a:latin typeface="Arial"/>
                <a:cs typeface="Arial"/>
              </a:rPr>
              <a:t>most </a:t>
            </a:r>
            <a:r>
              <a:rPr sz="1750" spc="-10">
                <a:latin typeface="Arial"/>
                <a:cs typeface="Arial"/>
              </a:rPr>
              <a:t>frequently</a:t>
            </a:r>
            <a:endParaRPr sz="1750">
              <a:latin typeface="Arial"/>
              <a:cs typeface="Arial"/>
            </a:endParaRPr>
          </a:p>
          <a:p>
            <a:pPr marL="528320" marR="417830" indent="-221615">
              <a:lnSpc>
                <a:spcPts val="2220"/>
              </a:lnSpc>
              <a:spcBef>
                <a:spcPts val="1615"/>
              </a:spcBef>
              <a:buSzPct val="122857"/>
              <a:buChar char="-"/>
              <a:tabLst>
                <a:tab pos="528320" algn="l"/>
              </a:tabLst>
            </a:pPr>
            <a:r>
              <a:rPr sz="1750">
                <a:latin typeface="Arial"/>
                <a:cs typeface="Arial"/>
              </a:rPr>
              <a:t>Add</a:t>
            </a:r>
            <a:r>
              <a:rPr sz="1750" spc="5">
                <a:latin typeface="Arial"/>
                <a:cs typeface="Arial"/>
              </a:rPr>
              <a:t> </a:t>
            </a:r>
            <a:r>
              <a:rPr sz="1750">
                <a:latin typeface="Arial"/>
                <a:cs typeface="Arial"/>
              </a:rPr>
              <a:t>the</a:t>
            </a:r>
            <a:r>
              <a:rPr sz="1750" spc="5">
                <a:latin typeface="Arial"/>
                <a:cs typeface="Arial"/>
              </a:rPr>
              <a:t> </a:t>
            </a:r>
            <a:r>
              <a:rPr sz="1750">
                <a:latin typeface="Arial"/>
                <a:cs typeface="Arial"/>
              </a:rPr>
              <a:t>pair</a:t>
            </a:r>
            <a:r>
              <a:rPr sz="1750" spc="5">
                <a:latin typeface="Arial"/>
                <a:cs typeface="Arial"/>
              </a:rPr>
              <a:t> </a:t>
            </a:r>
            <a:r>
              <a:rPr sz="1750">
                <a:latin typeface="Arial"/>
                <a:cs typeface="Arial"/>
              </a:rPr>
              <a:t>to</a:t>
            </a:r>
            <a:r>
              <a:rPr sz="1750" spc="10">
                <a:latin typeface="Arial"/>
                <a:cs typeface="Arial"/>
              </a:rPr>
              <a:t> </a:t>
            </a:r>
            <a:r>
              <a:rPr sz="1750">
                <a:latin typeface="Arial"/>
                <a:cs typeface="Arial"/>
              </a:rPr>
              <a:t>the</a:t>
            </a:r>
            <a:r>
              <a:rPr sz="1750" spc="5">
                <a:latin typeface="Arial"/>
                <a:cs typeface="Arial"/>
              </a:rPr>
              <a:t> </a:t>
            </a:r>
            <a:r>
              <a:rPr sz="1750">
                <a:latin typeface="Arial"/>
                <a:cs typeface="Arial"/>
              </a:rPr>
              <a:t>vocabulary</a:t>
            </a:r>
            <a:r>
              <a:rPr sz="1750" spc="5">
                <a:latin typeface="Arial"/>
                <a:cs typeface="Arial"/>
              </a:rPr>
              <a:t> </a:t>
            </a:r>
            <a:r>
              <a:rPr sz="1750">
                <a:latin typeface="Arial"/>
                <a:cs typeface="Arial"/>
              </a:rPr>
              <a:t>as</a:t>
            </a:r>
            <a:r>
              <a:rPr sz="1750" spc="5">
                <a:latin typeface="Arial"/>
                <a:cs typeface="Arial"/>
              </a:rPr>
              <a:t> </a:t>
            </a:r>
            <a:r>
              <a:rPr sz="1750" spc="-50">
                <a:latin typeface="Arial"/>
                <a:cs typeface="Arial"/>
              </a:rPr>
              <a:t>a </a:t>
            </a:r>
            <a:r>
              <a:rPr sz="1750">
                <a:latin typeface="Arial"/>
                <a:cs typeface="Arial"/>
              </a:rPr>
              <a:t>new token</a:t>
            </a:r>
            <a:r>
              <a:rPr sz="1750" spc="5">
                <a:latin typeface="Arial"/>
                <a:cs typeface="Arial"/>
              </a:rPr>
              <a:t> </a:t>
            </a:r>
            <a:r>
              <a:rPr sz="2100" spc="525">
                <a:latin typeface="Cambria"/>
                <a:cs typeface="Cambria"/>
              </a:rPr>
              <a:t>𝒱</a:t>
            </a:r>
            <a:r>
              <a:rPr sz="2100" spc="130">
                <a:latin typeface="Cambria"/>
                <a:cs typeface="Cambria"/>
              </a:rPr>
              <a:t> </a:t>
            </a:r>
            <a:r>
              <a:rPr sz="2100" spc="175">
                <a:latin typeface="Cambria"/>
                <a:cs typeface="Cambria"/>
              </a:rPr>
              <a:t>←</a:t>
            </a:r>
            <a:r>
              <a:rPr sz="2100" spc="130">
                <a:latin typeface="Cambria"/>
                <a:cs typeface="Cambria"/>
              </a:rPr>
              <a:t> </a:t>
            </a:r>
            <a:r>
              <a:rPr sz="2100" spc="525">
                <a:latin typeface="Cambria"/>
                <a:cs typeface="Cambria"/>
              </a:rPr>
              <a:t>𝒱</a:t>
            </a:r>
            <a:r>
              <a:rPr sz="2100" spc="5">
                <a:latin typeface="Cambria"/>
                <a:cs typeface="Cambria"/>
              </a:rPr>
              <a:t> </a:t>
            </a:r>
            <a:r>
              <a:rPr sz="2100" spc="-130">
                <a:latin typeface="Cambria"/>
                <a:cs typeface="Cambria"/>
              </a:rPr>
              <a:t>∪</a:t>
            </a:r>
            <a:r>
              <a:rPr sz="2100" spc="10">
                <a:latin typeface="Cambria"/>
                <a:cs typeface="Cambria"/>
              </a:rPr>
              <a:t> </a:t>
            </a:r>
            <a:r>
              <a:rPr sz="2100" spc="75">
                <a:latin typeface="Cambria"/>
                <a:cs typeface="Cambria"/>
              </a:rPr>
              <a:t>{</a:t>
            </a:r>
            <a:r>
              <a:rPr sz="2100" i="1" spc="75">
                <a:latin typeface="Times New Roman"/>
                <a:cs typeface="Times New Roman"/>
              </a:rPr>
              <a:t>lr</a:t>
            </a:r>
            <a:r>
              <a:rPr sz="2100" spc="75">
                <a:latin typeface="Cambria"/>
                <a:cs typeface="Cambria"/>
              </a:rPr>
              <a:t>}</a:t>
            </a:r>
            <a:endParaRPr sz="2100">
              <a:latin typeface="Cambria"/>
              <a:cs typeface="Cambria"/>
            </a:endParaRPr>
          </a:p>
          <a:p>
            <a:pPr marL="233679" indent="-220979">
              <a:lnSpc>
                <a:spcPct val="100000"/>
              </a:lnSpc>
              <a:spcBef>
                <a:spcPts val="1560"/>
              </a:spcBef>
              <a:buSzPct val="122857"/>
              <a:buChar char="•"/>
              <a:tabLst>
                <a:tab pos="233679" algn="l"/>
              </a:tabLst>
            </a:pPr>
            <a:r>
              <a:rPr sz="1750">
                <a:latin typeface="Arial"/>
                <a:cs typeface="Arial"/>
              </a:rPr>
              <a:t>Return</a:t>
            </a:r>
            <a:r>
              <a:rPr sz="1750" spc="-75">
                <a:latin typeface="Arial"/>
                <a:cs typeface="Arial"/>
              </a:rPr>
              <a:t> </a:t>
            </a:r>
            <a:r>
              <a:rPr sz="2100" spc="475">
                <a:latin typeface="Cambria"/>
                <a:cs typeface="Cambria"/>
              </a:rPr>
              <a:t>𝒱</a:t>
            </a:r>
            <a:endParaRPr sz="2100">
              <a:latin typeface="Cambria"/>
              <a:cs typeface="Cambria"/>
            </a:endParaRPr>
          </a:p>
        </p:txBody>
      </p:sp>
      <p:sp>
        <p:nvSpPr>
          <p:cNvPr id="5" name="object 5" descr="$PPTXTitle"/>
          <p:cNvSpPr txBox="1">
            <a:spLocks noGrp="1"/>
          </p:cNvSpPr>
          <p:nvPr>
            <p:ph type="title"/>
          </p:nvPr>
        </p:nvSpPr>
        <p:spPr>
          <a:prstGeom prst="rect">
            <a:avLst/>
          </a:prstGeom>
        </p:spPr>
        <p:txBody>
          <a:bodyPr vert="horz" wrap="square" lIns="0" tIns="88466" rIns="0" bIns="0" rtlCol="0">
            <a:spAutoFit/>
          </a:bodyPr>
          <a:lstStyle/>
          <a:p>
            <a:pPr marL="12700">
              <a:lnSpc>
                <a:spcPct val="100000"/>
              </a:lnSpc>
              <a:spcBef>
                <a:spcPts val="95"/>
              </a:spcBef>
            </a:pPr>
            <a:r>
              <a:rPr spc="-125"/>
              <a:t>Byte</a:t>
            </a:r>
            <a:r>
              <a:rPr spc="-190"/>
              <a:t> </a:t>
            </a:r>
            <a:r>
              <a:rPr spc="-80"/>
              <a:t>Pair</a:t>
            </a:r>
            <a:r>
              <a:rPr spc="-185"/>
              <a:t> </a:t>
            </a:r>
            <a:r>
              <a:rPr spc="-140"/>
              <a:t>Encoding</a:t>
            </a:r>
            <a:r>
              <a:rPr spc="-185"/>
              <a:t> </a:t>
            </a:r>
            <a:r>
              <a:rPr spc="-130"/>
              <a:t>(BPE)</a:t>
            </a:r>
          </a:p>
        </p:txBody>
      </p:sp>
      <p:graphicFrame>
        <p:nvGraphicFramePr>
          <p:cNvPr id="6" name="object 6"/>
          <p:cNvGraphicFramePr>
            <a:graphicFrameLocks noGrp="1"/>
          </p:cNvGraphicFramePr>
          <p:nvPr/>
        </p:nvGraphicFramePr>
        <p:xfrm>
          <a:off x="6021288" y="2983185"/>
          <a:ext cx="3068955" cy="2015490"/>
        </p:xfrm>
        <a:graphic>
          <a:graphicData uri="http://schemas.openxmlformats.org/drawingml/2006/table">
            <a:tbl>
              <a:tblPr firstRow="1" bandRow="1">
                <a:tableStyleId>{2D5ABB26-0587-4C30-8999-92F81FD0307C}</a:tableStyleId>
              </a:tblPr>
              <a:tblGrid>
                <a:gridCol w="1482090">
                  <a:extLst>
                    <a:ext uri="{9D8B030D-6E8A-4147-A177-3AD203B41FA5}">
                      <a16:colId xmlns:a16="http://schemas.microsoft.com/office/drawing/2014/main" val="20000"/>
                    </a:ext>
                  </a:extLst>
                </a:gridCol>
                <a:gridCol w="1586865">
                  <a:extLst>
                    <a:ext uri="{9D8B030D-6E8A-4147-A177-3AD203B41FA5}">
                      <a16:colId xmlns:a16="http://schemas.microsoft.com/office/drawing/2014/main" val="20001"/>
                    </a:ext>
                  </a:extLst>
                </a:gridCol>
              </a:tblGrid>
              <a:tr h="345440">
                <a:tc>
                  <a:txBody>
                    <a:bodyPr/>
                    <a:lstStyle/>
                    <a:p>
                      <a:pPr marL="52069" algn="ctr">
                        <a:lnSpc>
                          <a:spcPct val="100000"/>
                        </a:lnSpc>
                        <a:spcBef>
                          <a:spcPts val="395"/>
                        </a:spcBef>
                      </a:pPr>
                      <a:r>
                        <a:rPr sz="1600" b="1" spc="-20">
                          <a:latin typeface="Arial"/>
                          <a:cs typeface="Arial"/>
                        </a:rPr>
                        <a:t>Word</a:t>
                      </a:r>
                      <a:endParaRPr sz="1600">
                        <a:latin typeface="Arial"/>
                        <a:cs typeface="Arial"/>
                      </a:endParaRPr>
                    </a:p>
                  </a:txBody>
                  <a:tcPr marL="0" marR="0" marT="50165" marB="0">
                    <a:lnB w="12700">
                      <a:solidFill>
                        <a:srgbClr val="536773"/>
                      </a:solidFill>
                      <a:prstDash val="solid"/>
                    </a:lnB>
                    <a:solidFill>
                      <a:srgbClr val="56C1FF"/>
                    </a:solidFill>
                  </a:tcPr>
                </a:tc>
                <a:tc>
                  <a:txBody>
                    <a:bodyPr/>
                    <a:lstStyle/>
                    <a:p>
                      <a:pPr marL="52069" algn="ctr">
                        <a:lnSpc>
                          <a:spcPct val="100000"/>
                        </a:lnSpc>
                        <a:spcBef>
                          <a:spcPts val="395"/>
                        </a:spcBef>
                      </a:pPr>
                      <a:r>
                        <a:rPr sz="1600" b="1" spc="-10">
                          <a:latin typeface="Arial"/>
                          <a:cs typeface="Arial"/>
                        </a:rPr>
                        <a:t>Frequency</a:t>
                      </a:r>
                      <a:endParaRPr sz="1600">
                        <a:latin typeface="Arial"/>
                        <a:cs typeface="Arial"/>
                      </a:endParaRPr>
                    </a:p>
                  </a:txBody>
                  <a:tcPr marL="0" marR="0" marT="50165" marB="0">
                    <a:lnB w="12700">
                      <a:solidFill>
                        <a:srgbClr val="536773"/>
                      </a:solidFill>
                      <a:prstDash val="solid"/>
                    </a:lnB>
                    <a:solidFill>
                      <a:srgbClr val="56C1FF"/>
                    </a:solidFill>
                  </a:tcPr>
                </a:tc>
                <a:extLst>
                  <a:ext uri="{0D108BD9-81ED-4DB2-BD59-A6C34878D82A}">
                    <a16:rowId xmlns:a16="http://schemas.microsoft.com/office/drawing/2014/main" val="10000"/>
                  </a:ext>
                </a:extLst>
              </a:tr>
              <a:tr h="345440">
                <a:tc>
                  <a:txBody>
                    <a:bodyPr/>
                    <a:lstStyle/>
                    <a:p>
                      <a:pPr marL="52069" algn="ctr">
                        <a:lnSpc>
                          <a:spcPct val="100000"/>
                        </a:lnSpc>
                        <a:spcBef>
                          <a:spcPts val="365"/>
                        </a:spcBef>
                      </a:pPr>
                      <a:r>
                        <a:rPr sz="1600" spc="-10">
                          <a:latin typeface="Arial"/>
                          <a:cs typeface="Arial"/>
                        </a:rPr>
                        <a:t>h+u+g</a:t>
                      </a:r>
                      <a:endParaRPr sz="1600">
                        <a:latin typeface="Arial"/>
                        <a:cs typeface="Arial"/>
                      </a:endParaRPr>
                    </a:p>
                  </a:txBody>
                  <a:tcPr marL="0" marR="0" marT="46355" marB="0">
                    <a:lnT w="12700">
                      <a:solidFill>
                        <a:srgbClr val="536773"/>
                      </a:solidFill>
                      <a:prstDash val="solid"/>
                    </a:lnT>
                  </a:tcPr>
                </a:tc>
                <a:tc>
                  <a:txBody>
                    <a:bodyPr/>
                    <a:lstStyle/>
                    <a:p>
                      <a:pPr marL="52069" algn="ctr">
                        <a:lnSpc>
                          <a:spcPct val="100000"/>
                        </a:lnSpc>
                        <a:spcBef>
                          <a:spcPts val="365"/>
                        </a:spcBef>
                      </a:pPr>
                      <a:r>
                        <a:rPr sz="1600" spc="-25">
                          <a:latin typeface="Arial"/>
                          <a:cs typeface="Arial"/>
                        </a:rPr>
                        <a:t>10</a:t>
                      </a:r>
                      <a:endParaRPr sz="1600">
                        <a:latin typeface="Arial"/>
                        <a:cs typeface="Arial"/>
                      </a:endParaRPr>
                    </a:p>
                  </a:txBody>
                  <a:tcPr marL="0" marR="0" marT="46355" marB="0">
                    <a:lnT w="12700">
                      <a:solidFill>
                        <a:srgbClr val="536773"/>
                      </a:solidFill>
                      <a:prstDash val="solid"/>
                    </a:lnT>
                  </a:tcPr>
                </a:tc>
                <a:extLst>
                  <a:ext uri="{0D108BD9-81ED-4DB2-BD59-A6C34878D82A}">
                    <a16:rowId xmlns:a16="http://schemas.microsoft.com/office/drawing/2014/main" val="10001"/>
                  </a:ext>
                </a:extLst>
              </a:tr>
              <a:tr h="345440">
                <a:tc>
                  <a:txBody>
                    <a:bodyPr/>
                    <a:lstStyle/>
                    <a:p>
                      <a:pPr marL="52069" algn="ctr">
                        <a:lnSpc>
                          <a:spcPct val="100000"/>
                        </a:lnSpc>
                        <a:spcBef>
                          <a:spcPts val="325"/>
                        </a:spcBef>
                      </a:pPr>
                      <a:r>
                        <a:rPr sz="1600" spc="-10">
                          <a:latin typeface="Arial"/>
                          <a:cs typeface="Arial"/>
                        </a:rPr>
                        <a:t>p+u+g</a:t>
                      </a:r>
                      <a:endParaRPr sz="1600">
                        <a:latin typeface="Arial"/>
                        <a:cs typeface="Arial"/>
                      </a:endParaRPr>
                    </a:p>
                  </a:txBody>
                  <a:tcPr marL="0" marR="0" marT="41275" marB="0">
                    <a:solidFill>
                      <a:srgbClr val="E3E5E8"/>
                    </a:solidFill>
                  </a:tcPr>
                </a:tc>
                <a:tc>
                  <a:txBody>
                    <a:bodyPr/>
                    <a:lstStyle/>
                    <a:p>
                      <a:pPr marL="52069" algn="ctr">
                        <a:lnSpc>
                          <a:spcPct val="100000"/>
                        </a:lnSpc>
                        <a:spcBef>
                          <a:spcPts val="325"/>
                        </a:spcBef>
                      </a:pPr>
                      <a:r>
                        <a:rPr sz="1600" spc="-50">
                          <a:latin typeface="Arial"/>
                          <a:cs typeface="Arial"/>
                        </a:rPr>
                        <a:t>5</a:t>
                      </a:r>
                      <a:endParaRPr sz="1600">
                        <a:latin typeface="Arial"/>
                        <a:cs typeface="Arial"/>
                      </a:endParaRPr>
                    </a:p>
                  </a:txBody>
                  <a:tcPr marL="0" marR="0" marT="41275" marB="0">
                    <a:solidFill>
                      <a:srgbClr val="E3E5E8"/>
                    </a:solidFill>
                  </a:tcPr>
                </a:tc>
                <a:extLst>
                  <a:ext uri="{0D108BD9-81ED-4DB2-BD59-A6C34878D82A}">
                    <a16:rowId xmlns:a16="http://schemas.microsoft.com/office/drawing/2014/main" val="10002"/>
                  </a:ext>
                </a:extLst>
              </a:tr>
              <a:tr h="345440">
                <a:tc>
                  <a:txBody>
                    <a:bodyPr/>
                    <a:lstStyle/>
                    <a:p>
                      <a:pPr marL="52069" algn="ctr">
                        <a:lnSpc>
                          <a:spcPct val="100000"/>
                        </a:lnSpc>
                        <a:spcBef>
                          <a:spcPts val="325"/>
                        </a:spcBef>
                      </a:pPr>
                      <a:r>
                        <a:rPr sz="1600" spc="-10">
                          <a:latin typeface="Arial"/>
                          <a:cs typeface="Arial"/>
                        </a:rPr>
                        <a:t>p+u+n</a:t>
                      </a:r>
                      <a:endParaRPr sz="1600">
                        <a:latin typeface="Arial"/>
                        <a:cs typeface="Arial"/>
                      </a:endParaRPr>
                    </a:p>
                  </a:txBody>
                  <a:tcPr marL="0" marR="0" marT="41275" marB="0"/>
                </a:tc>
                <a:tc>
                  <a:txBody>
                    <a:bodyPr/>
                    <a:lstStyle/>
                    <a:p>
                      <a:pPr marL="52069" algn="ctr">
                        <a:lnSpc>
                          <a:spcPct val="100000"/>
                        </a:lnSpc>
                        <a:spcBef>
                          <a:spcPts val="325"/>
                        </a:spcBef>
                      </a:pPr>
                      <a:r>
                        <a:rPr sz="1600" spc="-25">
                          <a:latin typeface="Arial"/>
                          <a:cs typeface="Arial"/>
                        </a:rPr>
                        <a:t>12</a:t>
                      </a:r>
                      <a:endParaRPr sz="1600">
                        <a:latin typeface="Arial"/>
                        <a:cs typeface="Arial"/>
                      </a:endParaRPr>
                    </a:p>
                  </a:txBody>
                  <a:tcPr marL="0" marR="0" marT="41275" marB="0"/>
                </a:tc>
                <a:extLst>
                  <a:ext uri="{0D108BD9-81ED-4DB2-BD59-A6C34878D82A}">
                    <a16:rowId xmlns:a16="http://schemas.microsoft.com/office/drawing/2014/main" val="10003"/>
                  </a:ext>
                </a:extLst>
              </a:tr>
              <a:tr h="345440">
                <a:tc>
                  <a:txBody>
                    <a:bodyPr/>
                    <a:lstStyle/>
                    <a:p>
                      <a:pPr marL="52069" algn="ctr">
                        <a:lnSpc>
                          <a:spcPct val="100000"/>
                        </a:lnSpc>
                        <a:spcBef>
                          <a:spcPts val="325"/>
                        </a:spcBef>
                      </a:pPr>
                      <a:r>
                        <a:rPr sz="1600" spc="-10">
                          <a:latin typeface="Arial"/>
                          <a:cs typeface="Arial"/>
                        </a:rPr>
                        <a:t>b+u+n</a:t>
                      </a:r>
                      <a:endParaRPr sz="1600">
                        <a:latin typeface="Arial"/>
                        <a:cs typeface="Arial"/>
                      </a:endParaRPr>
                    </a:p>
                  </a:txBody>
                  <a:tcPr marL="0" marR="0" marT="41275" marB="0">
                    <a:solidFill>
                      <a:srgbClr val="E3E5E8"/>
                    </a:solidFill>
                  </a:tcPr>
                </a:tc>
                <a:tc>
                  <a:txBody>
                    <a:bodyPr/>
                    <a:lstStyle/>
                    <a:p>
                      <a:pPr marL="52069" algn="ctr">
                        <a:lnSpc>
                          <a:spcPct val="100000"/>
                        </a:lnSpc>
                        <a:spcBef>
                          <a:spcPts val="325"/>
                        </a:spcBef>
                      </a:pPr>
                      <a:r>
                        <a:rPr sz="1600" spc="-50">
                          <a:latin typeface="Arial"/>
                          <a:cs typeface="Arial"/>
                        </a:rPr>
                        <a:t>4</a:t>
                      </a:r>
                      <a:endParaRPr sz="1600">
                        <a:latin typeface="Arial"/>
                        <a:cs typeface="Arial"/>
                      </a:endParaRPr>
                    </a:p>
                  </a:txBody>
                  <a:tcPr marL="0" marR="0" marT="41275" marB="0">
                    <a:solidFill>
                      <a:srgbClr val="E3E5E8"/>
                    </a:solidFill>
                  </a:tcPr>
                </a:tc>
                <a:extLst>
                  <a:ext uri="{0D108BD9-81ED-4DB2-BD59-A6C34878D82A}">
                    <a16:rowId xmlns:a16="http://schemas.microsoft.com/office/drawing/2014/main" val="10004"/>
                  </a:ext>
                </a:extLst>
              </a:tr>
              <a:tr h="288290">
                <a:tc>
                  <a:txBody>
                    <a:bodyPr/>
                    <a:lstStyle/>
                    <a:p>
                      <a:pPr marL="52069" algn="ctr">
                        <a:lnSpc>
                          <a:spcPts val="1845"/>
                        </a:lnSpc>
                        <a:spcBef>
                          <a:spcPts val="325"/>
                        </a:spcBef>
                      </a:pPr>
                      <a:r>
                        <a:rPr sz="1600" spc="-10">
                          <a:latin typeface="Arial"/>
                          <a:cs typeface="Arial"/>
                        </a:rPr>
                        <a:t>h+u+g+s</a:t>
                      </a:r>
                      <a:endParaRPr sz="1600">
                        <a:latin typeface="Arial"/>
                        <a:cs typeface="Arial"/>
                      </a:endParaRPr>
                    </a:p>
                  </a:txBody>
                  <a:tcPr marL="0" marR="0" marT="41275" marB="0"/>
                </a:tc>
                <a:tc>
                  <a:txBody>
                    <a:bodyPr/>
                    <a:lstStyle/>
                    <a:p>
                      <a:pPr marL="52069" algn="ctr">
                        <a:lnSpc>
                          <a:spcPts val="1845"/>
                        </a:lnSpc>
                        <a:spcBef>
                          <a:spcPts val="325"/>
                        </a:spcBef>
                      </a:pPr>
                      <a:r>
                        <a:rPr sz="1600" spc="-50">
                          <a:latin typeface="Arial"/>
                          <a:cs typeface="Arial"/>
                        </a:rPr>
                        <a:t>5</a:t>
                      </a:r>
                      <a:endParaRPr sz="1600">
                        <a:latin typeface="Arial"/>
                        <a:cs typeface="Arial"/>
                      </a:endParaRPr>
                    </a:p>
                  </a:txBody>
                  <a:tcPr marL="0" marR="0" marT="41275" marB="0"/>
                </a:tc>
                <a:extLst>
                  <a:ext uri="{0D108BD9-81ED-4DB2-BD59-A6C34878D82A}">
                    <a16:rowId xmlns:a16="http://schemas.microsoft.com/office/drawing/2014/main" val="10005"/>
                  </a:ext>
                </a:extLst>
              </a:tr>
            </a:tbl>
          </a:graphicData>
        </a:graphic>
      </p:graphicFrame>
      <p:sp>
        <p:nvSpPr>
          <p:cNvPr id="7" name="object 7"/>
          <p:cNvSpPr txBox="1"/>
          <p:nvPr/>
        </p:nvSpPr>
        <p:spPr>
          <a:xfrm>
            <a:off x="6144035" y="2305999"/>
            <a:ext cx="2842895" cy="379095"/>
          </a:xfrm>
          <a:prstGeom prst="rect">
            <a:avLst/>
          </a:prstGeom>
        </p:spPr>
        <p:txBody>
          <a:bodyPr vert="horz" wrap="square" lIns="0" tIns="15240" rIns="0" bIns="0" rtlCol="0">
            <a:spAutoFit/>
          </a:bodyPr>
          <a:lstStyle/>
          <a:p>
            <a:pPr marL="12700">
              <a:lnSpc>
                <a:spcPct val="100000"/>
              </a:lnSpc>
              <a:spcBef>
                <a:spcPts val="120"/>
              </a:spcBef>
            </a:pPr>
            <a:r>
              <a:rPr sz="2300" spc="590">
                <a:latin typeface="Cambria"/>
                <a:cs typeface="Cambria"/>
              </a:rPr>
              <a:t>𝒱</a:t>
            </a:r>
            <a:r>
              <a:rPr sz="2300" spc="140">
                <a:latin typeface="Cambria"/>
                <a:cs typeface="Cambria"/>
              </a:rPr>
              <a:t> </a:t>
            </a:r>
            <a:r>
              <a:rPr sz="2300" spc="305">
                <a:latin typeface="Cambria"/>
                <a:cs typeface="Cambria"/>
              </a:rPr>
              <a:t>=</a:t>
            </a:r>
            <a:r>
              <a:rPr sz="2300" spc="145">
                <a:latin typeface="Cambria"/>
                <a:cs typeface="Cambria"/>
              </a:rPr>
              <a:t> </a:t>
            </a:r>
            <a:r>
              <a:rPr sz="2300" spc="135">
                <a:latin typeface="Cambria"/>
                <a:cs typeface="Cambria"/>
              </a:rPr>
              <a:t>{</a:t>
            </a:r>
            <a:r>
              <a:rPr sz="2300" spc="135">
                <a:latin typeface="Arial"/>
                <a:cs typeface="Arial"/>
              </a:rPr>
              <a:t>b</a:t>
            </a:r>
            <a:r>
              <a:rPr sz="2300" spc="135">
                <a:latin typeface="Cambria"/>
                <a:cs typeface="Cambria"/>
              </a:rPr>
              <a:t>,</a:t>
            </a:r>
            <a:r>
              <a:rPr sz="2300" spc="-114">
                <a:latin typeface="Cambria"/>
                <a:cs typeface="Cambria"/>
              </a:rPr>
              <a:t> </a:t>
            </a:r>
            <a:r>
              <a:rPr sz="2300" spc="75">
                <a:latin typeface="Arial"/>
                <a:cs typeface="Arial"/>
              </a:rPr>
              <a:t>g</a:t>
            </a:r>
            <a:r>
              <a:rPr sz="2300" spc="75">
                <a:latin typeface="Cambria"/>
                <a:cs typeface="Cambria"/>
              </a:rPr>
              <a:t>,</a:t>
            </a:r>
            <a:r>
              <a:rPr sz="2300" spc="-120">
                <a:latin typeface="Cambria"/>
                <a:cs typeface="Cambria"/>
              </a:rPr>
              <a:t> </a:t>
            </a:r>
            <a:r>
              <a:rPr sz="2300" spc="55">
                <a:latin typeface="Arial"/>
                <a:cs typeface="Arial"/>
              </a:rPr>
              <a:t>h</a:t>
            </a:r>
            <a:r>
              <a:rPr sz="2300" spc="55">
                <a:latin typeface="Cambria"/>
                <a:cs typeface="Cambria"/>
              </a:rPr>
              <a:t>,</a:t>
            </a:r>
            <a:r>
              <a:rPr sz="2300" spc="-114">
                <a:latin typeface="Cambria"/>
                <a:cs typeface="Cambria"/>
              </a:rPr>
              <a:t> </a:t>
            </a:r>
            <a:r>
              <a:rPr sz="2300" spc="55">
                <a:latin typeface="Arial"/>
                <a:cs typeface="Arial"/>
              </a:rPr>
              <a:t>n</a:t>
            </a:r>
            <a:r>
              <a:rPr sz="2300" spc="55">
                <a:latin typeface="Cambria"/>
                <a:cs typeface="Cambria"/>
              </a:rPr>
              <a:t>,</a:t>
            </a:r>
            <a:r>
              <a:rPr sz="2300" spc="-114">
                <a:latin typeface="Cambria"/>
                <a:cs typeface="Cambria"/>
              </a:rPr>
              <a:t> </a:t>
            </a:r>
            <a:r>
              <a:rPr sz="2300" spc="95">
                <a:latin typeface="Arial"/>
                <a:cs typeface="Arial"/>
              </a:rPr>
              <a:t>p</a:t>
            </a:r>
            <a:r>
              <a:rPr sz="2300" spc="95">
                <a:latin typeface="Cambria"/>
                <a:cs typeface="Cambria"/>
              </a:rPr>
              <a:t>,</a:t>
            </a:r>
            <a:r>
              <a:rPr sz="2300" spc="-114">
                <a:latin typeface="Cambria"/>
                <a:cs typeface="Cambria"/>
              </a:rPr>
              <a:t> </a:t>
            </a:r>
            <a:r>
              <a:rPr sz="2300" spc="50">
                <a:latin typeface="Arial"/>
                <a:cs typeface="Arial"/>
              </a:rPr>
              <a:t>s</a:t>
            </a:r>
            <a:r>
              <a:rPr sz="2300" spc="50">
                <a:latin typeface="Cambria"/>
                <a:cs typeface="Cambria"/>
              </a:rPr>
              <a:t>,</a:t>
            </a:r>
            <a:r>
              <a:rPr sz="2300" spc="-114">
                <a:latin typeface="Cambria"/>
                <a:cs typeface="Cambria"/>
              </a:rPr>
              <a:t> </a:t>
            </a:r>
            <a:r>
              <a:rPr sz="2300" spc="90">
                <a:latin typeface="Arial"/>
                <a:cs typeface="Arial"/>
              </a:rPr>
              <a:t>u</a:t>
            </a:r>
            <a:r>
              <a:rPr sz="2300" spc="90">
                <a:latin typeface="Cambria"/>
                <a:cs typeface="Cambria"/>
              </a:rPr>
              <a:t>}</a:t>
            </a:r>
            <a:endParaRPr sz="2300">
              <a:latin typeface="Cambria"/>
              <a:cs typeface="Cambria"/>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 name="object 9"/>
          <p:cNvSpPr txBox="1"/>
          <p:nvPr/>
        </p:nvSpPr>
        <p:spPr>
          <a:xfrm>
            <a:off x="5562139" y="7457345"/>
            <a:ext cx="4424680" cy="174625"/>
          </a:xfrm>
          <a:prstGeom prst="rect">
            <a:avLst/>
          </a:prstGeom>
        </p:spPr>
        <p:txBody>
          <a:bodyPr vert="horz" wrap="square" lIns="0" tIns="6985" rIns="0" bIns="0" rtlCol="0">
            <a:spAutoFit/>
          </a:bodyPr>
          <a:lstStyle/>
          <a:p>
            <a:pPr marL="12700">
              <a:lnSpc>
                <a:spcPct val="100000"/>
              </a:lnSpc>
              <a:spcBef>
                <a:spcPts val="55"/>
              </a:spcBef>
            </a:pPr>
            <a:r>
              <a:rPr sz="1000">
                <a:latin typeface="Arial"/>
                <a:cs typeface="Arial"/>
              </a:rPr>
              <a:t>Example</a:t>
            </a:r>
            <a:r>
              <a:rPr sz="1000" spc="290">
                <a:latin typeface="Arial"/>
                <a:cs typeface="Arial"/>
              </a:rPr>
              <a:t> </a:t>
            </a:r>
            <a:r>
              <a:rPr sz="1000">
                <a:latin typeface="Arial"/>
                <a:cs typeface="Arial"/>
              </a:rPr>
              <a:t>from:</a:t>
            </a:r>
            <a:r>
              <a:rPr sz="1000" spc="290">
                <a:latin typeface="Arial"/>
                <a:cs typeface="Arial"/>
              </a:rPr>
              <a:t> </a:t>
            </a:r>
            <a:r>
              <a:rPr sz="1000" u="sng" spc="-10">
                <a:uFill>
                  <a:solidFill>
                    <a:srgbClr val="000000"/>
                  </a:solidFill>
                </a:uFill>
                <a:latin typeface="Arial"/>
                <a:cs typeface="Arial"/>
                <a:hlinkClick r:id="rId2"/>
              </a:rPr>
              <a:t>https://huggingface.co/docs/transformers/tokenizer_summary</a:t>
            </a:r>
            <a:endParaRPr sz="1000">
              <a:latin typeface="Arial"/>
              <a:cs typeface="Arial"/>
            </a:endParaRPr>
          </a:p>
        </p:txBody>
      </p:sp>
      <p:sp>
        <p:nvSpPr>
          <p:cNvPr id="2" name="object 2"/>
          <p:cNvSpPr txBox="1">
            <a:spLocks noGrp="1"/>
          </p:cNvSpPr>
          <p:nvPr>
            <p:ph type="body" idx="1"/>
          </p:nvPr>
        </p:nvSpPr>
        <p:spPr>
          <a:prstGeom prst="rect">
            <a:avLst/>
          </a:prstGeom>
        </p:spPr>
        <p:txBody>
          <a:bodyPr vert="horz" wrap="square" lIns="0" tIns="39370" rIns="0" bIns="0" rtlCol="0">
            <a:spAutoFit/>
          </a:bodyPr>
          <a:lstStyle/>
          <a:p>
            <a:pPr marL="233679" marR="23495" indent="-221615">
              <a:lnSpc>
                <a:spcPct val="91700"/>
              </a:lnSpc>
              <a:spcBef>
                <a:spcPts val="310"/>
              </a:spcBef>
              <a:buSzPct val="102380"/>
              <a:buFont typeface="Arial"/>
              <a:buChar char="•"/>
              <a:tabLst>
                <a:tab pos="233679" algn="l"/>
              </a:tabLst>
            </a:pPr>
            <a:r>
              <a:rPr sz="2100" spc="525">
                <a:latin typeface="Cambria"/>
                <a:cs typeface="Cambria"/>
              </a:rPr>
              <a:t>𝒱</a:t>
            </a:r>
            <a:r>
              <a:rPr sz="2100" spc="110">
                <a:latin typeface="Cambria"/>
                <a:cs typeface="Cambria"/>
              </a:rPr>
              <a:t> </a:t>
            </a:r>
            <a:r>
              <a:rPr sz="2100" spc="175">
                <a:latin typeface="Cambria"/>
                <a:cs typeface="Cambria"/>
              </a:rPr>
              <a:t>←</a:t>
            </a:r>
            <a:r>
              <a:rPr sz="2100" spc="110">
                <a:latin typeface="Cambria"/>
                <a:cs typeface="Cambria"/>
              </a:rPr>
              <a:t> </a:t>
            </a:r>
            <a:r>
              <a:rPr sz="1750"/>
              <a:t>All</a:t>
            </a:r>
            <a:r>
              <a:rPr sz="1750" spc="-10"/>
              <a:t> </a:t>
            </a:r>
            <a:r>
              <a:rPr sz="1750"/>
              <a:t>characters</a:t>
            </a:r>
            <a:r>
              <a:rPr sz="1750" spc="-10"/>
              <a:t> </a:t>
            </a:r>
            <a:r>
              <a:rPr sz="1750"/>
              <a:t>in</a:t>
            </a:r>
            <a:r>
              <a:rPr sz="1750" spc="-15"/>
              <a:t> </a:t>
            </a:r>
            <a:r>
              <a:rPr sz="1750"/>
              <a:t>the</a:t>
            </a:r>
            <a:r>
              <a:rPr sz="1750" spc="-10"/>
              <a:t> </a:t>
            </a:r>
            <a:r>
              <a:rPr sz="1750"/>
              <a:t>training</a:t>
            </a:r>
            <a:r>
              <a:rPr sz="1750" spc="-10"/>
              <a:t> </a:t>
            </a:r>
            <a:r>
              <a:rPr sz="1750" spc="-20"/>
              <a:t>data </a:t>
            </a:r>
            <a:r>
              <a:rPr sz="1750" spc="-45"/>
              <a:t>(as</a:t>
            </a:r>
            <a:r>
              <a:rPr sz="1750" spc="-55"/>
              <a:t> </a:t>
            </a:r>
            <a:r>
              <a:rPr sz="1750"/>
              <a:t>base</a:t>
            </a:r>
            <a:r>
              <a:rPr sz="1750" spc="-55"/>
              <a:t> </a:t>
            </a:r>
            <a:r>
              <a:rPr sz="1750" b="1" spc="-10">
                <a:latin typeface="Arial"/>
                <a:cs typeface="Arial"/>
              </a:rPr>
              <a:t>tokens</a:t>
            </a:r>
            <a:r>
              <a:rPr sz="1750" spc="-10"/>
              <a:t>)</a:t>
            </a:r>
            <a:endParaRPr sz="1750">
              <a:latin typeface="Arial"/>
              <a:cs typeface="Arial"/>
            </a:endParaRPr>
          </a:p>
          <a:p>
            <a:pPr marL="233679" indent="-220979">
              <a:lnSpc>
                <a:spcPct val="100000"/>
              </a:lnSpc>
              <a:spcBef>
                <a:spcPts val="1625"/>
              </a:spcBef>
              <a:buSzPct val="122857"/>
              <a:buChar char="•"/>
              <a:tabLst>
                <a:tab pos="233679" algn="l"/>
              </a:tabLst>
            </a:pPr>
            <a:r>
              <a:rPr sz="1750"/>
              <a:t>For</a:t>
            </a:r>
            <a:r>
              <a:rPr sz="1750" spc="-50"/>
              <a:t> </a:t>
            </a:r>
            <a:r>
              <a:rPr sz="2100" i="1">
                <a:latin typeface="Times New Roman"/>
                <a:cs typeface="Times New Roman"/>
              </a:rPr>
              <a:t>k</a:t>
            </a:r>
            <a:r>
              <a:rPr sz="2100" i="1" spc="-90">
                <a:latin typeface="Times New Roman"/>
                <a:cs typeface="Times New Roman"/>
              </a:rPr>
              <a:t> </a:t>
            </a:r>
            <a:r>
              <a:rPr sz="1750" spc="-10"/>
              <a:t>steps:</a:t>
            </a:r>
            <a:endParaRPr sz="1750">
              <a:latin typeface="Times New Roman"/>
              <a:cs typeface="Times New Roman"/>
            </a:endParaRPr>
          </a:p>
          <a:p>
            <a:pPr marL="528320" marR="5080" indent="-221615">
              <a:lnSpc>
                <a:spcPct val="86400"/>
              </a:lnSpc>
              <a:spcBef>
                <a:spcPts val="1555"/>
              </a:spcBef>
            </a:pPr>
            <a:r>
              <a:rPr sz="3225" spc="165" baseline="-3875"/>
              <a:t>-</a:t>
            </a:r>
            <a:r>
              <a:rPr sz="3225" spc="465" baseline="-3875"/>
              <a:t> </a:t>
            </a:r>
            <a:r>
              <a:rPr sz="1750" spc="-40"/>
              <a:t>Tokenize</a:t>
            </a:r>
            <a:r>
              <a:rPr sz="1750" spc="-5"/>
              <a:t> </a:t>
            </a:r>
            <a:r>
              <a:rPr sz="1750"/>
              <a:t>the</a:t>
            </a:r>
            <a:r>
              <a:rPr sz="1750" spc="-5"/>
              <a:t> </a:t>
            </a:r>
            <a:r>
              <a:rPr sz="1750"/>
              <a:t>data, taking</a:t>
            </a:r>
            <a:r>
              <a:rPr sz="1750" spc="-5"/>
              <a:t> </a:t>
            </a:r>
            <a:r>
              <a:rPr sz="1750"/>
              <a:t>the</a:t>
            </a:r>
            <a:r>
              <a:rPr sz="1750" spc="-5"/>
              <a:t> </a:t>
            </a:r>
            <a:r>
              <a:rPr sz="1750" spc="-10"/>
              <a:t>longest </a:t>
            </a:r>
            <a:r>
              <a:rPr sz="1750"/>
              <a:t>prefix</a:t>
            </a:r>
            <a:r>
              <a:rPr sz="1750" spc="-20"/>
              <a:t> </a:t>
            </a:r>
            <a:r>
              <a:rPr sz="1750"/>
              <a:t>each</a:t>
            </a:r>
            <a:r>
              <a:rPr sz="1750" spc="-15"/>
              <a:t> </a:t>
            </a:r>
            <a:r>
              <a:rPr sz="1750" spc="-20"/>
              <a:t>time</a:t>
            </a:r>
            <a:endParaRPr sz="1750"/>
          </a:p>
        </p:txBody>
      </p:sp>
      <p:sp>
        <p:nvSpPr>
          <p:cNvPr id="3" name="object 3"/>
          <p:cNvSpPr txBox="1"/>
          <p:nvPr/>
        </p:nvSpPr>
        <p:spPr>
          <a:xfrm>
            <a:off x="0" y="4369826"/>
            <a:ext cx="5142230" cy="676275"/>
          </a:xfrm>
          <a:prstGeom prst="rect">
            <a:avLst/>
          </a:prstGeom>
          <a:solidFill>
            <a:srgbClr val="FFD932">
              <a:alpha val="42759"/>
            </a:srgbClr>
          </a:solidFill>
        </p:spPr>
        <p:txBody>
          <a:bodyPr vert="horz" wrap="square" lIns="0" tIns="62229" rIns="0" bIns="0" rtlCol="0">
            <a:spAutoFit/>
          </a:bodyPr>
          <a:lstStyle/>
          <a:p>
            <a:pPr marL="1094740" marR="247650" indent="-221615">
              <a:lnSpc>
                <a:spcPct val="86400"/>
              </a:lnSpc>
              <a:spcBef>
                <a:spcPts val="489"/>
              </a:spcBef>
            </a:pPr>
            <a:r>
              <a:rPr sz="3225" spc="165" baseline="-3875">
                <a:latin typeface="Arial"/>
                <a:cs typeface="Arial"/>
              </a:rPr>
              <a:t>-</a:t>
            </a:r>
            <a:r>
              <a:rPr sz="3225" spc="494" baseline="-3875">
                <a:latin typeface="Arial"/>
                <a:cs typeface="Arial"/>
              </a:rPr>
              <a:t> </a:t>
            </a:r>
            <a:r>
              <a:rPr sz="1750">
                <a:latin typeface="Arial"/>
                <a:cs typeface="Arial"/>
              </a:rPr>
              <a:t>Count the</a:t>
            </a:r>
            <a:r>
              <a:rPr sz="1750" spc="5">
                <a:latin typeface="Arial"/>
                <a:cs typeface="Arial"/>
              </a:rPr>
              <a:t> </a:t>
            </a:r>
            <a:r>
              <a:rPr sz="1750">
                <a:latin typeface="Arial"/>
                <a:cs typeface="Arial"/>
              </a:rPr>
              <a:t>frequency</a:t>
            </a:r>
            <a:r>
              <a:rPr sz="1750" spc="5">
                <a:latin typeface="Arial"/>
                <a:cs typeface="Arial"/>
              </a:rPr>
              <a:t> </a:t>
            </a:r>
            <a:r>
              <a:rPr sz="1750">
                <a:latin typeface="Arial"/>
                <a:cs typeface="Arial"/>
              </a:rPr>
              <a:t>of</a:t>
            </a:r>
            <a:r>
              <a:rPr sz="1750" spc="10">
                <a:latin typeface="Arial"/>
                <a:cs typeface="Arial"/>
              </a:rPr>
              <a:t> </a:t>
            </a:r>
            <a:r>
              <a:rPr sz="1750">
                <a:latin typeface="Arial"/>
                <a:cs typeface="Arial"/>
              </a:rPr>
              <a:t>adjacent</a:t>
            </a:r>
            <a:r>
              <a:rPr sz="1750" spc="5">
                <a:latin typeface="Arial"/>
                <a:cs typeface="Arial"/>
              </a:rPr>
              <a:t> </a:t>
            </a:r>
            <a:r>
              <a:rPr sz="1750" spc="-10">
                <a:latin typeface="Arial"/>
                <a:cs typeface="Arial"/>
              </a:rPr>
              <a:t>token </a:t>
            </a:r>
            <a:r>
              <a:rPr sz="1750">
                <a:latin typeface="Arial"/>
                <a:cs typeface="Arial"/>
              </a:rPr>
              <a:t>pairs</a:t>
            </a:r>
            <a:r>
              <a:rPr sz="1750" spc="-10">
                <a:latin typeface="Arial"/>
                <a:cs typeface="Arial"/>
              </a:rPr>
              <a:t> </a:t>
            </a:r>
            <a:r>
              <a:rPr sz="1750">
                <a:latin typeface="Arial"/>
                <a:cs typeface="Arial"/>
              </a:rPr>
              <a:t>in</a:t>
            </a:r>
            <a:r>
              <a:rPr sz="1750" spc="-10">
                <a:latin typeface="Arial"/>
                <a:cs typeface="Arial"/>
              </a:rPr>
              <a:t> </a:t>
            </a:r>
            <a:r>
              <a:rPr sz="1750">
                <a:latin typeface="Arial"/>
                <a:cs typeface="Arial"/>
              </a:rPr>
              <a:t>the</a:t>
            </a:r>
            <a:r>
              <a:rPr sz="1750" spc="-10">
                <a:latin typeface="Arial"/>
                <a:cs typeface="Arial"/>
              </a:rPr>
              <a:t> </a:t>
            </a:r>
            <a:r>
              <a:rPr sz="1750" spc="-20">
                <a:latin typeface="Arial"/>
                <a:cs typeface="Arial"/>
              </a:rPr>
              <a:t>data</a:t>
            </a:r>
            <a:endParaRPr sz="1750">
              <a:latin typeface="Arial"/>
              <a:cs typeface="Arial"/>
            </a:endParaRPr>
          </a:p>
        </p:txBody>
      </p:sp>
      <p:sp>
        <p:nvSpPr>
          <p:cNvPr id="4" name="object 4"/>
          <p:cNvSpPr txBox="1"/>
          <p:nvPr/>
        </p:nvSpPr>
        <p:spPr>
          <a:xfrm>
            <a:off x="566836" y="5137342"/>
            <a:ext cx="4544060" cy="2302510"/>
          </a:xfrm>
          <a:prstGeom prst="rect">
            <a:avLst/>
          </a:prstGeom>
        </p:spPr>
        <p:txBody>
          <a:bodyPr vert="horz" wrap="square" lIns="0" tIns="41275" rIns="0" bIns="0" rtlCol="0">
            <a:spAutoFit/>
          </a:bodyPr>
          <a:lstStyle/>
          <a:p>
            <a:pPr marL="528320" marR="139065" indent="-221615">
              <a:lnSpc>
                <a:spcPct val="89300"/>
              </a:lnSpc>
              <a:spcBef>
                <a:spcPts val="325"/>
              </a:spcBef>
              <a:buSzPct val="122857"/>
              <a:buChar char="-"/>
              <a:tabLst>
                <a:tab pos="528320" algn="l"/>
              </a:tabLst>
            </a:pPr>
            <a:r>
              <a:rPr sz="1750">
                <a:latin typeface="Arial"/>
                <a:cs typeface="Arial"/>
              </a:rPr>
              <a:t>Choose</a:t>
            </a:r>
            <a:r>
              <a:rPr sz="1750" spc="20">
                <a:latin typeface="Arial"/>
                <a:cs typeface="Arial"/>
              </a:rPr>
              <a:t> </a:t>
            </a:r>
            <a:r>
              <a:rPr sz="1750">
                <a:latin typeface="Arial"/>
                <a:cs typeface="Arial"/>
              </a:rPr>
              <a:t>the</a:t>
            </a:r>
            <a:r>
              <a:rPr sz="1750" spc="25">
                <a:latin typeface="Arial"/>
                <a:cs typeface="Arial"/>
              </a:rPr>
              <a:t> </a:t>
            </a:r>
            <a:r>
              <a:rPr sz="1750">
                <a:latin typeface="Arial"/>
                <a:cs typeface="Arial"/>
              </a:rPr>
              <a:t>pair</a:t>
            </a:r>
            <a:r>
              <a:rPr sz="1750" spc="25">
                <a:latin typeface="Arial"/>
                <a:cs typeface="Arial"/>
              </a:rPr>
              <a:t> </a:t>
            </a:r>
            <a:r>
              <a:rPr sz="2100" spc="60">
                <a:latin typeface="Cambria"/>
                <a:cs typeface="Cambria"/>
              </a:rPr>
              <a:t>⟨</a:t>
            </a:r>
            <a:r>
              <a:rPr sz="2100" i="1" spc="60">
                <a:latin typeface="Times New Roman"/>
                <a:cs typeface="Times New Roman"/>
              </a:rPr>
              <a:t>l</a:t>
            </a:r>
            <a:r>
              <a:rPr sz="2100" spc="60">
                <a:latin typeface="Cambria"/>
                <a:cs typeface="Cambria"/>
              </a:rPr>
              <a:t>,</a:t>
            </a:r>
            <a:r>
              <a:rPr sz="2100" spc="-95">
                <a:latin typeface="Cambria"/>
                <a:cs typeface="Cambria"/>
              </a:rPr>
              <a:t> </a:t>
            </a:r>
            <a:r>
              <a:rPr sz="2100" i="1">
                <a:latin typeface="Times New Roman"/>
                <a:cs typeface="Times New Roman"/>
              </a:rPr>
              <a:t>r</a:t>
            </a:r>
            <a:r>
              <a:rPr sz="2100">
                <a:latin typeface="Cambria"/>
                <a:cs typeface="Cambria"/>
              </a:rPr>
              <a:t>⟩</a:t>
            </a:r>
            <a:r>
              <a:rPr sz="2100" spc="50">
                <a:latin typeface="Cambria"/>
                <a:cs typeface="Cambria"/>
              </a:rPr>
              <a:t> </a:t>
            </a:r>
            <a:r>
              <a:rPr sz="1750">
                <a:latin typeface="Arial"/>
                <a:cs typeface="Arial"/>
              </a:rPr>
              <a:t>that</a:t>
            </a:r>
            <a:r>
              <a:rPr sz="1750" spc="20">
                <a:latin typeface="Arial"/>
                <a:cs typeface="Arial"/>
              </a:rPr>
              <a:t> </a:t>
            </a:r>
            <a:r>
              <a:rPr sz="1750">
                <a:latin typeface="Arial"/>
                <a:cs typeface="Arial"/>
              </a:rPr>
              <a:t>occurs</a:t>
            </a:r>
            <a:r>
              <a:rPr sz="1750" spc="25">
                <a:latin typeface="Arial"/>
                <a:cs typeface="Arial"/>
              </a:rPr>
              <a:t> </a:t>
            </a:r>
            <a:r>
              <a:rPr sz="1750" spc="-20">
                <a:latin typeface="Arial"/>
                <a:cs typeface="Arial"/>
              </a:rPr>
              <a:t>most </a:t>
            </a:r>
            <a:r>
              <a:rPr sz="1750" spc="-10">
                <a:latin typeface="Arial"/>
                <a:cs typeface="Arial"/>
              </a:rPr>
              <a:t>frequently</a:t>
            </a:r>
            <a:endParaRPr sz="1750">
              <a:latin typeface="Arial"/>
              <a:cs typeface="Arial"/>
            </a:endParaRPr>
          </a:p>
          <a:p>
            <a:pPr marL="528320" marR="551815" indent="-221615">
              <a:lnSpc>
                <a:spcPts val="2220"/>
              </a:lnSpc>
              <a:spcBef>
                <a:spcPts val="1614"/>
              </a:spcBef>
              <a:buSzPct val="122857"/>
              <a:buChar char="-"/>
              <a:tabLst>
                <a:tab pos="528320" algn="l"/>
              </a:tabLst>
            </a:pPr>
            <a:r>
              <a:rPr sz="1750">
                <a:latin typeface="Arial"/>
                <a:cs typeface="Arial"/>
              </a:rPr>
              <a:t>Add</a:t>
            </a:r>
            <a:r>
              <a:rPr sz="1750" spc="5">
                <a:latin typeface="Arial"/>
                <a:cs typeface="Arial"/>
              </a:rPr>
              <a:t> </a:t>
            </a:r>
            <a:r>
              <a:rPr sz="1750">
                <a:latin typeface="Arial"/>
                <a:cs typeface="Arial"/>
              </a:rPr>
              <a:t>the</a:t>
            </a:r>
            <a:r>
              <a:rPr sz="1750" spc="5">
                <a:latin typeface="Arial"/>
                <a:cs typeface="Arial"/>
              </a:rPr>
              <a:t> </a:t>
            </a:r>
            <a:r>
              <a:rPr sz="1750">
                <a:latin typeface="Arial"/>
                <a:cs typeface="Arial"/>
              </a:rPr>
              <a:t>pair</a:t>
            </a:r>
            <a:r>
              <a:rPr sz="1750" spc="5">
                <a:latin typeface="Arial"/>
                <a:cs typeface="Arial"/>
              </a:rPr>
              <a:t> </a:t>
            </a:r>
            <a:r>
              <a:rPr sz="1750">
                <a:latin typeface="Arial"/>
                <a:cs typeface="Arial"/>
              </a:rPr>
              <a:t>to</a:t>
            </a:r>
            <a:r>
              <a:rPr sz="1750" spc="10">
                <a:latin typeface="Arial"/>
                <a:cs typeface="Arial"/>
              </a:rPr>
              <a:t> </a:t>
            </a:r>
            <a:r>
              <a:rPr sz="1750">
                <a:latin typeface="Arial"/>
                <a:cs typeface="Arial"/>
              </a:rPr>
              <a:t>the</a:t>
            </a:r>
            <a:r>
              <a:rPr sz="1750" spc="5">
                <a:latin typeface="Arial"/>
                <a:cs typeface="Arial"/>
              </a:rPr>
              <a:t> </a:t>
            </a:r>
            <a:r>
              <a:rPr sz="1750">
                <a:latin typeface="Arial"/>
                <a:cs typeface="Arial"/>
              </a:rPr>
              <a:t>vocabulary</a:t>
            </a:r>
            <a:r>
              <a:rPr sz="1750" spc="5">
                <a:latin typeface="Arial"/>
                <a:cs typeface="Arial"/>
              </a:rPr>
              <a:t> </a:t>
            </a:r>
            <a:r>
              <a:rPr sz="1750">
                <a:latin typeface="Arial"/>
                <a:cs typeface="Arial"/>
              </a:rPr>
              <a:t>as</a:t>
            </a:r>
            <a:r>
              <a:rPr sz="1750" spc="5">
                <a:latin typeface="Arial"/>
                <a:cs typeface="Arial"/>
              </a:rPr>
              <a:t> </a:t>
            </a:r>
            <a:r>
              <a:rPr sz="1750" spc="-50">
                <a:latin typeface="Arial"/>
                <a:cs typeface="Arial"/>
              </a:rPr>
              <a:t>a </a:t>
            </a:r>
            <a:r>
              <a:rPr sz="1750">
                <a:latin typeface="Arial"/>
                <a:cs typeface="Arial"/>
              </a:rPr>
              <a:t>new token</a:t>
            </a:r>
            <a:r>
              <a:rPr sz="1750" spc="5">
                <a:latin typeface="Arial"/>
                <a:cs typeface="Arial"/>
              </a:rPr>
              <a:t> </a:t>
            </a:r>
            <a:r>
              <a:rPr sz="2100" spc="525">
                <a:latin typeface="Cambria"/>
                <a:cs typeface="Cambria"/>
              </a:rPr>
              <a:t>𝒱</a:t>
            </a:r>
            <a:r>
              <a:rPr sz="2100" spc="130">
                <a:latin typeface="Cambria"/>
                <a:cs typeface="Cambria"/>
              </a:rPr>
              <a:t> </a:t>
            </a:r>
            <a:r>
              <a:rPr sz="2100" spc="175">
                <a:latin typeface="Cambria"/>
                <a:cs typeface="Cambria"/>
              </a:rPr>
              <a:t>←</a:t>
            </a:r>
            <a:r>
              <a:rPr sz="2100" spc="130">
                <a:latin typeface="Cambria"/>
                <a:cs typeface="Cambria"/>
              </a:rPr>
              <a:t> </a:t>
            </a:r>
            <a:r>
              <a:rPr sz="2100" spc="525">
                <a:latin typeface="Cambria"/>
                <a:cs typeface="Cambria"/>
              </a:rPr>
              <a:t>𝒱</a:t>
            </a:r>
            <a:r>
              <a:rPr sz="2100" spc="5">
                <a:latin typeface="Cambria"/>
                <a:cs typeface="Cambria"/>
              </a:rPr>
              <a:t> </a:t>
            </a:r>
            <a:r>
              <a:rPr sz="2100" spc="-130">
                <a:latin typeface="Cambria"/>
                <a:cs typeface="Cambria"/>
              </a:rPr>
              <a:t>∪</a:t>
            </a:r>
            <a:r>
              <a:rPr sz="2100" spc="10">
                <a:latin typeface="Cambria"/>
                <a:cs typeface="Cambria"/>
              </a:rPr>
              <a:t> </a:t>
            </a:r>
            <a:r>
              <a:rPr sz="2100" spc="75">
                <a:latin typeface="Cambria"/>
                <a:cs typeface="Cambria"/>
              </a:rPr>
              <a:t>{</a:t>
            </a:r>
            <a:r>
              <a:rPr sz="2100" i="1" spc="75">
                <a:latin typeface="Times New Roman"/>
                <a:cs typeface="Times New Roman"/>
              </a:rPr>
              <a:t>lr</a:t>
            </a:r>
            <a:r>
              <a:rPr sz="2100" spc="75">
                <a:latin typeface="Cambria"/>
                <a:cs typeface="Cambria"/>
              </a:rPr>
              <a:t>}</a:t>
            </a:r>
            <a:endParaRPr sz="2100">
              <a:latin typeface="Cambria"/>
              <a:cs typeface="Cambria"/>
            </a:endParaRPr>
          </a:p>
          <a:p>
            <a:pPr marL="233679" indent="-220979">
              <a:lnSpc>
                <a:spcPct val="100000"/>
              </a:lnSpc>
              <a:spcBef>
                <a:spcPts val="1565"/>
              </a:spcBef>
              <a:buSzPct val="122857"/>
              <a:buChar char="•"/>
              <a:tabLst>
                <a:tab pos="233679" algn="l"/>
              </a:tabLst>
            </a:pPr>
            <a:r>
              <a:rPr sz="1750">
                <a:latin typeface="Arial"/>
                <a:cs typeface="Arial"/>
              </a:rPr>
              <a:t>Return</a:t>
            </a:r>
            <a:r>
              <a:rPr sz="1750" spc="-75">
                <a:latin typeface="Arial"/>
                <a:cs typeface="Arial"/>
              </a:rPr>
              <a:t> </a:t>
            </a:r>
            <a:r>
              <a:rPr sz="2100" spc="475">
                <a:latin typeface="Cambria"/>
                <a:cs typeface="Cambria"/>
              </a:rPr>
              <a:t>𝒱</a:t>
            </a:r>
            <a:endParaRPr sz="2100">
              <a:latin typeface="Cambria"/>
              <a:cs typeface="Cambria"/>
            </a:endParaRPr>
          </a:p>
          <a:p>
            <a:pPr>
              <a:lnSpc>
                <a:spcPct val="100000"/>
              </a:lnSpc>
              <a:spcBef>
                <a:spcPts val="135"/>
              </a:spcBef>
            </a:pPr>
            <a:endParaRPr sz="1750">
              <a:latin typeface="Cambria"/>
              <a:cs typeface="Cambria"/>
            </a:endParaRPr>
          </a:p>
          <a:p>
            <a:pPr marR="5080" algn="r">
              <a:lnSpc>
                <a:spcPct val="100000"/>
              </a:lnSpc>
              <a:spcBef>
                <a:spcPts val="5"/>
              </a:spcBef>
            </a:pPr>
            <a:r>
              <a:rPr sz="1000" spc="-25">
                <a:latin typeface="Arial"/>
                <a:cs typeface="Arial"/>
              </a:rPr>
              <a:t>14</a:t>
            </a:r>
            <a:endParaRPr sz="1000">
              <a:latin typeface="Arial"/>
              <a:cs typeface="Arial"/>
            </a:endParaRPr>
          </a:p>
        </p:txBody>
      </p:sp>
      <p:sp>
        <p:nvSpPr>
          <p:cNvPr id="5" name="object 5" descr="$PPTXTitle"/>
          <p:cNvSpPr txBox="1">
            <a:spLocks noGrp="1"/>
          </p:cNvSpPr>
          <p:nvPr>
            <p:ph type="title"/>
          </p:nvPr>
        </p:nvSpPr>
        <p:spPr>
          <a:prstGeom prst="rect">
            <a:avLst/>
          </a:prstGeom>
        </p:spPr>
        <p:txBody>
          <a:bodyPr vert="horz" wrap="square" lIns="0" tIns="88466" rIns="0" bIns="0" rtlCol="0">
            <a:spAutoFit/>
          </a:bodyPr>
          <a:lstStyle/>
          <a:p>
            <a:pPr marL="12700">
              <a:lnSpc>
                <a:spcPct val="100000"/>
              </a:lnSpc>
              <a:spcBef>
                <a:spcPts val="95"/>
              </a:spcBef>
            </a:pPr>
            <a:r>
              <a:rPr spc="-125"/>
              <a:t>Byte</a:t>
            </a:r>
            <a:r>
              <a:rPr spc="-190"/>
              <a:t> </a:t>
            </a:r>
            <a:r>
              <a:rPr spc="-80"/>
              <a:t>Pair</a:t>
            </a:r>
            <a:r>
              <a:rPr spc="-185"/>
              <a:t> </a:t>
            </a:r>
            <a:r>
              <a:rPr spc="-140"/>
              <a:t>Encoding</a:t>
            </a:r>
            <a:r>
              <a:rPr spc="-185"/>
              <a:t> </a:t>
            </a:r>
            <a:r>
              <a:rPr spc="-130"/>
              <a:t>(BPE)</a:t>
            </a:r>
          </a:p>
        </p:txBody>
      </p:sp>
      <p:graphicFrame>
        <p:nvGraphicFramePr>
          <p:cNvPr id="6" name="object 6"/>
          <p:cNvGraphicFramePr>
            <a:graphicFrameLocks noGrp="1"/>
          </p:cNvGraphicFramePr>
          <p:nvPr/>
        </p:nvGraphicFramePr>
        <p:xfrm>
          <a:off x="6021288" y="2983185"/>
          <a:ext cx="3068955" cy="4214495"/>
        </p:xfrm>
        <a:graphic>
          <a:graphicData uri="http://schemas.openxmlformats.org/drawingml/2006/table">
            <a:tbl>
              <a:tblPr firstRow="1" bandRow="1">
                <a:tableStyleId>{2D5ABB26-0587-4C30-8999-92F81FD0307C}</a:tableStyleId>
              </a:tblPr>
              <a:tblGrid>
                <a:gridCol w="1482090">
                  <a:extLst>
                    <a:ext uri="{9D8B030D-6E8A-4147-A177-3AD203B41FA5}">
                      <a16:colId xmlns:a16="http://schemas.microsoft.com/office/drawing/2014/main" val="20000"/>
                    </a:ext>
                  </a:extLst>
                </a:gridCol>
                <a:gridCol w="1586865">
                  <a:extLst>
                    <a:ext uri="{9D8B030D-6E8A-4147-A177-3AD203B41FA5}">
                      <a16:colId xmlns:a16="http://schemas.microsoft.com/office/drawing/2014/main" val="20001"/>
                    </a:ext>
                  </a:extLst>
                </a:gridCol>
              </a:tblGrid>
              <a:tr h="345440">
                <a:tc>
                  <a:txBody>
                    <a:bodyPr/>
                    <a:lstStyle/>
                    <a:p>
                      <a:pPr marL="52069" algn="ctr">
                        <a:lnSpc>
                          <a:spcPct val="100000"/>
                        </a:lnSpc>
                        <a:spcBef>
                          <a:spcPts val="395"/>
                        </a:spcBef>
                      </a:pPr>
                      <a:r>
                        <a:rPr sz="1600" b="1" spc="-20">
                          <a:latin typeface="Arial"/>
                          <a:cs typeface="Arial"/>
                        </a:rPr>
                        <a:t>Word</a:t>
                      </a:r>
                      <a:endParaRPr sz="1600">
                        <a:latin typeface="Arial"/>
                        <a:cs typeface="Arial"/>
                      </a:endParaRPr>
                    </a:p>
                  </a:txBody>
                  <a:tcPr marL="0" marR="0" marT="50165" marB="0">
                    <a:lnB w="12700">
                      <a:solidFill>
                        <a:srgbClr val="536773"/>
                      </a:solidFill>
                      <a:prstDash val="solid"/>
                    </a:lnB>
                    <a:solidFill>
                      <a:srgbClr val="56C1FF"/>
                    </a:solidFill>
                  </a:tcPr>
                </a:tc>
                <a:tc>
                  <a:txBody>
                    <a:bodyPr/>
                    <a:lstStyle/>
                    <a:p>
                      <a:pPr marL="52069" algn="ctr">
                        <a:lnSpc>
                          <a:spcPct val="100000"/>
                        </a:lnSpc>
                        <a:spcBef>
                          <a:spcPts val="395"/>
                        </a:spcBef>
                      </a:pPr>
                      <a:r>
                        <a:rPr sz="1600" b="1" spc="-10">
                          <a:latin typeface="Arial"/>
                          <a:cs typeface="Arial"/>
                        </a:rPr>
                        <a:t>Frequency</a:t>
                      </a:r>
                      <a:endParaRPr sz="1600">
                        <a:latin typeface="Arial"/>
                        <a:cs typeface="Arial"/>
                      </a:endParaRPr>
                    </a:p>
                  </a:txBody>
                  <a:tcPr marL="0" marR="0" marT="50165" marB="0">
                    <a:lnB w="12700">
                      <a:solidFill>
                        <a:srgbClr val="536773"/>
                      </a:solidFill>
                      <a:prstDash val="solid"/>
                    </a:lnB>
                    <a:solidFill>
                      <a:srgbClr val="56C1FF"/>
                    </a:solidFill>
                  </a:tcPr>
                </a:tc>
                <a:extLst>
                  <a:ext uri="{0D108BD9-81ED-4DB2-BD59-A6C34878D82A}">
                    <a16:rowId xmlns:a16="http://schemas.microsoft.com/office/drawing/2014/main" val="10000"/>
                  </a:ext>
                </a:extLst>
              </a:tr>
              <a:tr h="345440">
                <a:tc>
                  <a:txBody>
                    <a:bodyPr/>
                    <a:lstStyle/>
                    <a:p>
                      <a:pPr marL="52069" algn="ctr">
                        <a:lnSpc>
                          <a:spcPct val="100000"/>
                        </a:lnSpc>
                        <a:spcBef>
                          <a:spcPts val="365"/>
                        </a:spcBef>
                      </a:pPr>
                      <a:r>
                        <a:rPr sz="1600" spc="-10">
                          <a:latin typeface="Arial"/>
                          <a:cs typeface="Arial"/>
                        </a:rPr>
                        <a:t>h+u+g</a:t>
                      </a:r>
                      <a:endParaRPr sz="1600">
                        <a:latin typeface="Arial"/>
                        <a:cs typeface="Arial"/>
                      </a:endParaRPr>
                    </a:p>
                  </a:txBody>
                  <a:tcPr marL="0" marR="0" marT="46355" marB="0">
                    <a:lnT w="12700">
                      <a:solidFill>
                        <a:srgbClr val="536773"/>
                      </a:solidFill>
                      <a:prstDash val="solid"/>
                    </a:lnT>
                  </a:tcPr>
                </a:tc>
                <a:tc>
                  <a:txBody>
                    <a:bodyPr/>
                    <a:lstStyle/>
                    <a:p>
                      <a:pPr marL="52069" algn="ctr">
                        <a:lnSpc>
                          <a:spcPct val="100000"/>
                        </a:lnSpc>
                        <a:spcBef>
                          <a:spcPts val="365"/>
                        </a:spcBef>
                      </a:pPr>
                      <a:r>
                        <a:rPr sz="1600" spc="-25">
                          <a:latin typeface="Arial"/>
                          <a:cs typeface="Arial"/>
                        </a:rPr>
                        <a:t>10</a:t>
                      </a:r>
                      <a:endParaRPr sz="1600">
                        <a:latin typeface="Arial"/>
                        <a:cs typeface="Arial"/>
                      </a:endParaRPr>
                    </a:p>
                  </a:txBody>
                  <a:tcPr marL="0" marR="0" marT="46355" marB="0">
                    <a:lnT w="12700">
                      <a:solidFill>
                        <a:srgbClr val="536773"/>
                      </a:solidFill>
                      <a:prstDash val="solid"/>
                    </a:lnT>
                  </a:tcPr>
                </a:tc>
                <a:extLst>
                  <a:ext uri="{0D108BD9-81ED-4DB2-BD59-A6C34878D82A}">
                    <a16:rowId xmlns:a16="http://schemas.microsoft.com/office/drawing/2014/main" val="10001"/>
                  </a:ext>
                </a:extLst>
              </a:tr>
              <a:tr h="345440">
                <a:tc>
                  <a:txBody>
                    <a:bodyPr/>
                    <a:lstStyle/>
                    <a:p>
                      <a:pPr marL="52069" algn="ctr">
                        <a:lnSpc>
                          <a:spcPct val="100000"/>
                        </a:lnSpc>
                        <a:spcBef>
                          <a:spcPts val="325"/>
                        </a:spcBef>
                      </a:pPr>
                      <a:r>
                        <a:rPr sz="1600" spc="-10">
                          <a:latin typeface="Arial"/>
                          <a:cs typeface="Arial"/>
                        </a:rPr>
                        <a:t>p+u+g</a:t>
                      </a:r>
                      <a:endParaRPr sz="1600">
                        <a:latin typeface="Arial"/>
                        <a:cs typeface="Arial"/>
                      </a:endParaRPr>
                    </a:p>
                  </a:txBody>
                  <a:tcPr marL="0" marR="0" marT="41275" marB="0">
                    <a:solidFill>
                      <a:srgbClr val="E3E5E8"/>
                    </a:solidFill>
                  </a:tcPr>
                </a:tc>
                <a:tc>
                  <a:txBody>
                    <a:bodyPr/>
                    <a:lstStyle/>
                    <a:p>
                      <a:pPr marL="52069" algn="ctr">
                        <a:lnSpc>
                          <a:spcPct val="100000"/>
                        </a:lnSpc>
                        <a:spcBef>
                          <a:spcPts val="325"/>
                        </a:spcBef>
                      </a:pPr>
                      <a:r>
                        <a:rPr sz="1600" spc="-50">
                          <a:latin typeface="Arial"/>
                          <a:cs typeface="Arial"/>
                        </a:rPr>
                        <a:t>5</a:t>
                      </a:r>
                      <a:endParaRPr sz="1600">
                        <a:latin typeface="Arial"/>
                        <a:cs typeface="Arial"/>
                      </a:endParaRPr>
                    </a:p>
                  </a:txBody>
                  <a:tcPr marL="0" marR="0" marT="41275" marB="0">
                    <a:solidFill>
                      <a:srgbClr val="E3E5E8"/>
                    </a:solidFill>
                  </a:tcPr>
                </a:tc>
                <a:extLst>
                  <a:ext uri="{0D108BD9-81ED-4DB2-BD59-A6C34878D82A}">
                    <a16:rowId xmlns:a16="http://schemas.microsoft.com/office/drawing/2014/main" val="10002"/>
                  </a:ext>
                </a:extLst>
              </a:tr>
              <a:tr h="345440">
                <a:tc>
                  <a:txBody>
                    <a:bodyPr/>
                    <a:lstStyle/>
                    <a:p>
                      <a:pPr marL="52069" algn="ctr">
                        <a:lnSpc>
                          <a:spcPct val="100000"/>
                        </a:lnSpc>
                        <a:spcBef>
                          <a:spcPts val="325"/>
                        </a:spcBef>
                      </a:pPr>
                      <a:r>
                        <a:rPr sz="1600" spc="-10">
                          <a:latin typeface="Arial"/>
                          <a:cs typeface="Arial"/>
                        </a:rPr>
                        <a:t>p+u+n</a:t>
                      </a:r>
                      <a:endParaRPr sz="1600">
                        <a:latin typeface="Arial"/>
                        <a:cs typeface="Arial"/>
                      </a:endParaRPr>
                    </a:p>
                  </a:txBody>
                  <a:tcPr marL="0" marR="0" marT="41275" marB="0"/>
                </a:tc>
                <a:tc>
                  <a:txBody>
                    <a:bodyPr/>
                    <a:lstStyle/>
                    <a:p>
                      <a:pPr marL="52069" algn="ctr">
                        <a:lnSpc>
                          <a:spcPct val="100000"/>
                        </a:lnSpc>
                        <a:spcBef>
                          <a:spcPts val="325"/>
                        </a:spcBef>
                      </a:pPr>
                      <a:r>
                        <a:rPr sz="1600" spc="-25">
                          <a:latin typeface="Arial"/>
                          <a:cs typeface="Arial"/>
                        </a:rPr>
                        <a:t>12</a:t>
                      </a:r>
                      <a:endParaRPr sz="1600">
                        <a:latin typeface="Arial"/>
                        <a:cs typeface="Arial"/>
                      </a:endParaRPr>
                    </a:p>
                  </a:txBody>
                  <a:tcPr marL="0" marR="0" marT="41275" marB="0"/>
                </a:tc>
                <a:extLst>
                  <a:ext uri="{0D108BD9-81ED-4DB2-BD59-A6C34878D82A}">
                    <a16:rowId xmlns:a16="http://schemas.microsoft.com/office/drawing/2014/main" val="10003"/>
                  </a:ext>
                </a:extLst>
              </a:tr>
              <a:tr h="345440">
                <a:tc>
                  <a:txBody>
                    <a:bodyPr/>
                    <a:lstStyle/>
                    <a:p>
                      <a:pPr marL="52069" algn="ctr">
                        <a:lnSpc>
                          <a:spcPct val="100000"/>
                        </a:lnSpc>
                        <a:spcBef>
                          <a:spcPts val="325"/>
                        </a:spcBef>
                      </a:pPr>
                      <a:r>
                        <a:rPr sz="1600" spc="-10">
                          <a:latin typeface="Arial"/>
                          <a:cs typeface="Arial"/>
                        </a:rPr>
                        <a:t>b+u+n</a:t>
                      </a:r>
                      <a:endParaRPr sz="1600">
                        <a:latin typeface="Arial"/>
                        <a:cs typeface="Arial"/>
                      </a:endParaRPr>
                    </a:p>
                  </a:txBody>
                  <a:tcPr marL="0" marR="0" marT="41275" marB="0">
                    <a:solidFill>
                      <a:srgbClr val="E3E5E8"/>
                    </a:solidFill>
                  </a:tcPr>
                </a:tc>
                <a:tc>
                  <a:txBody>
                    <a:bodyPr/>
                    <a:lstStyle/>
                    <a:p>
                      <a:pPr marL="52069" algn="ctr">
                        <a:lnSpc>
                          <a:spcPct val="100000"/>
                        </a:lnSpc>
                        <a:spcBef>
                          <a:spcPts val="325"/>
                        </a:spcBef>
                      </a:pPr>
                      <a:r>
                        <a:rPr sz="1600" spc="-50">
                          <a:latin typeface="Arial"/>
                          <a:cs typeface="Arial"/>
                        </a:rPr>
                        <a:t>4</a:t>
                      </a:r>
                      <a:endParaRPr sz="1600">
                        <a:latin typeface="Arial"/>
                        <a:cs typeface="Arial"/>
                      </a:endParaRPr>
                    </a:p>
                  </a:txBody>
                  <a:tcPr marL="0" marR="0" marT="41275" marB="0">
                    <a:solidFill>
                      <a:srgbClr val="E3E5E8"/>
                    </a:solidFill>
                  </a:tcPr>
                </a:tc>
                <a:extLst>
                  <a:ext uri="{0D108BD9-81ED-4DB2-BD59-A6C34878D82A}">
                    <a16:rowId xmlns:a16="http://schemas.microsoft.com/office/drawing/2014/main" val="10004"/>
                  </a:ext>
                </a:extLst>
              </a:tr>
              <a:tr h="440055">
                <a:tc>
                  <a:txBody>
                    <a:bodyPr/>
                    <a:lstStyle/>
                    <a:p>
                      <a:pPr marL="52069" algn="ctr">
                        <a:lnSpc>
                          <a:spcPct val="100000"/>
                        </a:lnSpc>
                        <a:spcBef>
                          <a:spcPts val="325"/>
                        </a:spcBef>
                      </a:pPr>
                      <a:r>
                        <a:rPr sz="1600" spc="-10">
                          <a:latin typeface="Arial"/>
                          <a:cs typeface="Arial"/>
                        </a:rPr>
                        <a:t>h+u+g+s</a:t>
                      </a:r>
                      <a:endParaRPr sz="1600">
                        <a:latin typeface="Arial"/>
                        <a:cs typeface="Arial"/>
                      </a:endParaRPr>
                    </a:p>
                  </a:txBody>
                  <a:tcPr marL="0" marR="0" marT="41275" marB="0"/>
                </a:tc>
                <a:tc>
                  <a:txBody>
                    <a:bodyPr/>
                    <a:lstStyle/>
                    <a:p>
                      <a:pPr marL="52069" algn="ctr">
                        <a:lnSpc>
                          <a:spcPct val="100000"/>
                        </a:lnSpc>
                        <a:spcBef>
                          <a:spcPts val="325"/>
                        </a:spcBef>
                      </a:pPr>
                      <a:r>
                        <a:rPr sz="1600" spc="-50">
                          <a:latin typeface="Arial"/>
                          <a:cs typeface="Arial"/>
                        </a:rPr>
                        <a:t>5</a:t>
                      </a:r>
                      <a:endParaRPr sz="1600">
                        <a:latin typeface="Arial"/>
                        <a:cs typeface="Arial"/>
                      </a:endParaRPr>
                    </a:p>
                  </a:txBody>
                  <a:tcPr marL="0" marR="0" marT="41275" marB="0"/>
                </a:tc>
                <a:extLst>
                  <a:ext uri="{0D108BD9-81ED-4DB2-BD59-A6C34878D82A}">
                    <a16:rowId xmlns:a16="http://schemas.microsoft.com/office/drawing/2014/main" val="10005"/>
                  </a:ext>
                </a:extLst>
              </a:tr>
              <a:tr h="345440">
                <a:tc>
                  <a:txBody>
                    <a:bodyPr/>
                    <a:lstStyle/>
                    <a:p>
                      <a:pPr marL="52069" algn="ctr">
                        <a:lnSpc>
                          <a:spcPct val="100000"/>
                        </a:lnSpc>
                        <a:spcBef>
                          <a:spcPts val="395"/>
                        </a:spcBef>
                      </a:pPr>
                      <a:r>
                        <a:rPr sz="1600" b="1" spc="-20">
                          <a:latin typeface="Arial"/>
                          <a:cs typeface="Arial"/>
                        </a:rPr>
                        <a:t>Pair</a:t>
                      </a:r>
                      <a:endParaRPr sz="1600">
                        <a:latin typeface="Arial"/>
                        <a:cs typeface="Arial"/>
                      </a:endParaRPr>
                    </a:p>
                  </a:txBody>
                  <a:tcPr marL="0" marR="0" marT="50165" marB="0">
                    <a:lnB w="12700">
                      <a:solidFill>
                        <a:srgbClr val="536773"/>
                      </a:solidFill>
                      <a:prstDash val="solid"/>
                    </a:lnB>
                    <a:solidFill>
                      <a:srgbClr val="56C1FF"/>
                    </a:solidFill>
                  </a:tcPr>
                </a:tc>
                <a:tc>
                  <a:txBody>
                    <a:bodyPr/>
                    <a:lstStyle/>
                    <a:p>
                      <a:pPr marL="52069" algn="ctr">
                        <a:lnSpc>
                          <a:spcPct val="100000"/>
                        </a:lnSpc>
                        <a:spcBef>
                          <a:spcPts val="395"/>
                        </a:spcBef>
                      </a:pPr>
                      <a:r>
                        <a:rPr sz="1600" b="1" spc="-10">
                          <a:latin typeface="Arial"/>
                          <a:cs typeface="Arial"/>
                        </a:rPr>
                        <a:t>Frequency</a:t>
                      </a:r>
                      <a:endParaRPr sz="1600">
                        <a:latin typeface="Arial"/>
                        <a:cs typeface="Arial"/>
                      </a:endParaRPr>
                    </a:p>
                  </a:txBody>
                  <a:tcPr marL="0" marR="0" marT="50165" marB="0">
                    <a:lnB w="12700">
                      <a:solidFill>
                        <a:srgbClr val="536773"/>
                      </a:solidFill>
                      <a:prstDash val="solid"/>
                    </a:lnB>
                    <a:solidFill>
                      <a:srgbClr val="56C1FF"/>
                    </a:solidFill>
                  </a:tcPr>
                </a:tc>
                <a:extLst>
                  <a:ext uri="{0D108BD9-81ED-4DB2-BD59-A6C34878D82A}">
                    <a16:rowId xmlns:a16="http://schemas.microsoft.com/office/drawing/2014/main" val="10006"/>
                  </a:ext>
                </a:extLst>
              </a:tr>
              <a:tr h="345440">
                <a:tc>
                  <a:txBody>
                    <a:bodyPr/>
                    <a:lstStyle/>
                    <a:p>
                      <a:pPr marL="52069" algn="ctr">
                        <a:lnSpc>
                          <a:spcPct val="100000"/>
                        </a:lnSpc>
                        <a:spcBef>
                          <a:spcPts val="365"/>
                        </a:spcBef>
                      </a:pPr>
                      <a:r>
                        <a:rPr sz="1600" spc="-25">
                          <a:latin typeface="Arial"/>
                          <a:cs typeface="Arial"/>
                        </a:rPr>
                        <a:t>u+g</a:t>
                      </a:r>
                      <a:endParaRPr sz="1600">
                        <a:latin typeface="Arial"/>
                        <a:cs typeface="Arial"/>
                      </a:endParaRPr>
                    </a:p>
                  </a:txBody>
                  <a:tcPr marL="0" marR="0" marT="46355" marB="0">
                    <a:lnT w="12700">
                      <a:solidFill>
                        <a:srgbClr val="536773"/>
                      </a:solidFill>
                      <a:prstDash val="solid"/>
                    </a:lnT>
                  </a:tcPr>
                </a:tc>
                <a:tc>
                  <a:txBody>
                    <a:bodyPr/>
                    <a:lstStyle/>
                    <a:p>
                      <a:pPr marL="52069" algn="ctr">
                        <a:lnSpc>
                          <a:spcPct val="100000"/>
                        </a:lnSpc>
                        <a:spcBef>
                          <a:spcPts val="365"/>
                        </a:spcBef>
                      </a:pPr>
                      <a:r>
                        <a:rPr sz="1600" spc="-25">
                          <a:latin typeface="Arial"/>
                          <a:cs typeface="Arial"/>
                        </a:rPr>
                        <a:t>20</a:t>
                      </a:r>
                      <a:endParaRPr sz="1600">
                        <a:latin typeface="Arial"/>
                        <a:cs typeface="Arial"/>
                      </a:endParaRPr>
                    </a:p>
                  </a:txBody>
                  <a:tcPr marL="0" marR="0" marT="46355" marB="0">
                    <a:lnT w="12700">
                      <a:solidFill>
                        <a:srgbClr val="536773"/>
                      </a:solidFill>
                      <a:prstDash val="solid"/>
                    </a:lnT>
                  </a:tcPr>
                </a:tc>
                <a:extLst>
                  <a:ext uri="{0D108BD9-81ED-4DB2-BD59-A6C34878D82A}">
                    <a16:rowId xmlns:a16="http://schemas.microsoft.com/office/drawing/2014/main" val="10007"/>
                  </a:ext>
                </a:extLst>
              </a:tr>
              <a:tr h="345440">
                <a:tc>
                  <a:txBody>
                    <a:bodyPr/>
                    <a:lstStyle/>
                    <a:p>
                      <a:pPr marL="52069" algn="ctr">
                        <a:lnSpc>
                          <a:spcPct val="100000"/>
                        </a:lnSpc>
                        <a:spcBef>
                          <a:spcPts val="325"/>
                        </a:spcBef>
                      </a:pPr>
                      <a:r>
                        <a:rPr sz="1600" spc="-25">
                          <a:latin typeface="Arial"/>
                          <a:cs typeface="Arial"/>
                        </a:rPr>
                        <a:t>p+u</a:t>
                      </a:r>
                      <a:endParaRPr sz="1600">
                        <a:latin typeface="Arial"/>
                        <a:cs typeface="Arial"/>
                      </a:endParaRPr>
                    </a:p>
                  </a:txBody>
                  <a:tcPr marL="0" marR="0" marT="41275" marB="0">
                    <a:solidFill>
                      <a:srgbClr val="E3E5E8"/>
                    </a:solidFill>
                  </a:tcPr>
                </a:tc>
                <a:tc>
                  <a:txBody>
                    <a:bodyPr/>
                    <a:lstStyle/>
                    <a:p>
                      <a:pPr marL="52069" algn="ctr">
                        <a:lnSpc>
                          <a:spcPct val="100000"/>
                        </a:lnSpc>
                        <a:spcBef>
                          <a:spcPts val="325"/>
                        </a:spcBef>
                      </a:pPr>
                      <a:r>
                        <a:rPr sz="1600" spc="-25">
                          <a:latin typeface="Arial"/>
                          <a:cs typeface="Arial"/>
                        </a:rPr>
                        <a:t>17</a:t>
                      </a:r>
                      <a:endParaRPr sz="1600">
                        <a:latin typeface="Arial"/>
                        <a:cs typeface="Arial"/>
                      </a:endParaRPr>
                    </a:p>
                  </a:txBody>
                  <a:tcPr marL="0" marR="0" marT="41275" marB="0">
                    <a:solidFill>
                      <a:srgbClr val="E3E5E8"/>
                    </a:solidFill>
                  </a:tcPr>
                </a:tc>
                <a:extLst>
                  <a:ext uri="{0D108BD9-81ED-4DB2-BD59-A6C34878D82A}">
                    <a16:rowId xmlns:a16="http://schemas.microsoft.com/office/drawing/2014/main" val="10008"/>
                  </a:ext>
                </a:extLst>
              </a:tr>
              <a:tr h="345440">
                <a:tc>
                  <a:txBody>
                    <a:bodyPr/>
                    <a:lstStyle/>
                    <a:p>
                      <a:pPr marL="52069" algn="ctr">
                        <a:lnSpc>
                          <a:spcPct val="100000"/>
                        </a:lnSpc>
                        <a:spcBef>
                          <a:spcPts val="325"/>
                        </a:spcBef>
                      </a:pPr>
                      <a:r>
                        <a:rPr sz="1600" spc="-25">
                          <a:latin typeface="Arial"/>
                          <a:cs typeface="Arial"/>
                        </a:rPr>
                        <a:t>u+n</a:t>
                      </a:r>
                      <a:endParaRPr sz="1600">
                        <a:latin typeface="Arial"/>
                        <a:cs typeface="Arial"/>
                      </a:endParaRPr>
                    </a:p>
                  </a:txBody>
                  <a:tcPr marL="0" marR="0" marT="41275" marB="0"/>
                </a:tc>
                <a:tc>
                  <a:txBody>
                    <a:bodyPr/>
                    <a:lstStyle/>
                    <a:p>
                      <a:pPr marL="52069" algn="ctr">
                        <a:lnSpc>
                          <a:spcPct val="100000"/>
                        </a:lnSpc>
                        <a:spcBef>
                          <a:spcPts val="325"/>
                        </a:spcBef>
                      </a:pPr>
                      <a:r>
                        <a:rPr sz="1600" spc="-25">
                          <a:latin typeface="Arial"/>
                          <a:cs typeface="Arial"/>
                        </a:rPr>
                        <a:t>16</a:t>
                      </a:r>
                      <a:endParaRPr sz="1600">
                        <a:latin typeface="Arial"/>
                        <a:cs typeface="Arial"/>
                      </a:endParaRPr>
                    </a:p>
                  </a:txBody>
                  <a:tcPr marL="0" marR="0" marT="41275" marB="0"/>
                </a:tc>
                <a:extLst>
                  <a:ext uri="{0D108BD9-81ED-4DB2-BD59-A6C34878D82A}">
                    <a16:rowId xmlns:a16="http://schemas.microsoft.com/office/drawing/2014/main" val="10009"/>
                  </a:ext>
                </a:extLst>
              </a:tr>
              <a:tr h="345440">
                <a:tc>
                  <a:txBody>
                    <a:bodyPr/>
                    <a:lstStyle/>
                    <a:p>
                      <a:pPr marL="52069" algn="ctr">
                        <a:lnSpc>
                          <a:spcPct val="100000"/>
                        </a:lnSpc>
                        <a:spcBef>
                          <a:spcPts val="325"/>
                        </a:spcBef>
                      </a:pPr>
                      <a:r>
                        <a:rPr sz="1600" spc="-25">
                          <a:latin typeface="Arial"/>
                          <a:cs typeface="Arial"/>
                        </a:rPr>
                        <a:t>h+u</a:t>
                      </a:r>
                      <a:endParaRPr sz="1600">
                        <a:latin typeface="Arial"/>
                        <a:cs typeface="Arial"/>
                      </a:endParaRPr>
                    </a:p>
                  </a:txBody>
                  <a:tcPr marL="0" marR="0" marT="41275" marB="0">
                    <a:solidFill>
                      <a:srgbClr val="E3E5E8"/>
                    </a:solidFill>
                  </a:tcPr>
                </a:tc>
                <a:tc>
                  <a:txBody>
                    <a:bodyPr/>
                    <a:lstStyle/>
                    <a:p>
                      <a:pPr marL="52069" algn="ctr">
                        <a:lnSpc>
                          <a:spcPct val="100000"/>
                        </a:lnSpc>
                        <a:spcBef>
                          <a:spcPts val="325"/>
                        </a:spcBef>
                      </a:pPr>
                      <a:r>
                        <a:rPr sz="1600" spc="-25">
                          <a:latin typeface="Arial"/>
                          <a:cs typeface="Arial"/>
                        </a:rPr>
                        <a:t>15</a:t>
                      </a:r>
                      <a:endParaRPr sz="1600">
                        <a:latin typeface="Arial"/>
                        <a:cs typeface="Arial"/>
                      </a:endParaRPr>
                    </a:p>
                  </a:txBody>
                  <a:tcPr marL="0" marR="0" marT="41275" marB="0">
                    <a:solidFill>
                      <a:srgbClr val="E3E5E8"/>
                    </a:solidFill>
                  </a:tcPr>
                </a:tc>
                <a:extLst>
                  <a:ext uri="{0D108BD9-81ED-4DB2-BD59-A6C34878D82A}">
                    <a16:rowId xmlns:a16="http://schemas.microsoft.com/office/drawing/2014/main" val="10010"/>
                  </a:ext>
                </a:extLst>
              </a:tr>
              <a:tr h="320040">
                <a:tc>
                  <a:txBody>
                    <a:bodyPr/>
                    <a:lstStyle/>
                    <a:p>
                      <a:pPr marL="52069" algn="ctr">
                        <a:lnSpc>
                          <a:spcPct val="100000"/>
                        </a:lnSpc>
                        <a:spcBef>
                          <a:spcPts val="325"/>
                        </a:spcBef>
                      </a:pPr>
                      <a:r>
                        <a:rPr sz="1600" spc="-25">
                          <a:latin typeface="Arial"/>
                          <a:cs typeface="Arial"/>
                        </a:rPr>
                        <a:t>g+s</a:t>
                      </a:r>
                      <a:endParaRPr sz="1600">
                        <a:latin typeface="Arial"/>
                        <a:cs typeface="Arial"/>
                      </a:endParaRPr>
                    </a:p>
                  </a:txBody>
                  <a:tcPr marL="0" marR="0" marT="41275" marB="0"/>
                </a:tc>
                <a:tc>
                  <a:txBody>
                    <a:bodyPr/>
                    <a:lstStyle/>
                    <a:p>
                      <a:pPr marL="52069" algn="ctr">
                        <a:lnSpc>
                          <a:spcPct val="100000"/>
                        </a:lnSpc>
                        <a:spcBef>
                          <a:spcPts val="325"/>
                        </a:spcBef>
                      </a:pPr>
                      <a:r>
                        <a:rPr sz="1600" spc="-50">
                          <a:latin typeface="Arial"/>
                          <a:cs typeface="Arial"/>
                        </a:rPr>
                        <a:t>5</a:t>
                      </a:r>
                      <a:endParaRPr sz="1600">
                        <a:latin typeface="Arial"/>
                        <a:cs typeface="Arial"/>
                      </a:endParaRPr>
                    </a:p>
                  </a:txBody>
                  <a:tcPr marL="0" marR="0" marT="41275" marB="0"/>
                </a:tc>
                <a:extLst>
                  <a:ext uri="{0D108BD9-81ED-4DB2-BD59-A6C34878D82A}">
                    <a16:rowId xmlns:a16="http://schemas.microsoft.com/office/drawing/2014/main" val="10011"/>
                  </a:ext>
                </a:extLst>
              </a:tr>
            </a:tbl>
          </a:graphicData>
        </a:graphic>
      </p:graphicFrame>
      <p:sp>
        <p:nvSpPr>
          <p:cNvPr id="7" name="object 7"/>
          <p:cNvSpPr txBox="1"/>
          <p:nvPr/>
        </p:nvSpPr>
        <p:spPr>
          <a:xfrm>
            <a:off x="6144035" y="2305999"/>
            <a:ext cx="2842895" cy="379095"/>
          </a:xfrm>
          <a:prstGeom prst="rect">
            <a:avLst/>
          </a:prstGeom>
        </p:spPr>
        <p:txBody>
          <a:bodyPr vert="horz" wrap="square" lIns="0" tIns="15240" rIns="0" bIns="0" rtlCol="0">
            <a:spAutoFit/>
          </a:bodyPr>
          <a:lstStyle/>
          <a:p>
            <a:pPr marL="12700">
              <a:lnSpc>
                <a:spcPct val="100000"/>
              </a:lnSpc>
              <a:spcBef>
                <a:spcPts val="120"/>
              </a:spcBef>
            </a:pPr>
            <a:r>
              <a:rPr sz="2300" spc="590">
                <a:latin typeface="Cambria"/>
                <a:cs typeface="Cambria"/>
              </a:rPr>
              <a:t>𝒱</a:t>
            </a:r>
            <a:r>
              <a:rPr sz="2300" spc="140">
                <a:latin typeface="Cambria"/>
                <a:cs typeface="Cambria"/>
              </a:rPr>
              <a:t> </a:t>
            </a:r>
            <a:r>
              <a:rPr sz="2300" spc="305">
                <a:latin typeface="Cambria"/>
                <a:cs typeface="Cambria"/>
              </a:rPr>
              <a:t>=</a:t>
            </a:r>
            <a:r>
              <a:rPr sz="2300" spc="145">
                <a:latin typeface="Cambria"/>
                <a:cs typeface="Cambria"/>
              </a:rPr>
              <a:t> </a:t>
            </a:r>
            <a:r>
              <a:rPr sz="2300" spc="135">
                <a:latin typeface="Cambria"/>
                <a:cs typeface="Cambria"/>
              </a:rPr>
              <a:t>{</a:t>
            </a:r>
            <a:r>
              <a:rPr sz="2300" spc="135">
                <a:latin typeface="Arial"/>
                <a:cs typeface="Arial"/>
              </a:rPr>
              <a:t>b</a:t>
            </a:r>
            <a:r>
              <a:rPr sz="2300" spc="135">
                <a:latin typeface="Cambria"/>
                <a:cs typeface="Cambria"/>
              </a:rPr>
              <a:t>,</a:t>
            </a:r>
            <a:r>
              <a:rPr sz="2300" spc="-114">
                <a:latin typeface="Cambria"/>
                <a:cs typeface="Cambria"/>
              </a:rPr>
              <a:t> </a:t>
            </a:r>
            <a:r>
              <a:rPr sz="2300" spc="75">
                <a:latin typeface="Arial"/>
                <a:cs typeface="Arial"/>
              </a:rPr>
              <a:t>g</a:t>
            </a:r>
            <a:r>
              <a:rPr sz="2300" spc="75">
                <a:latin typeface="Cambria"/>
                <a:cs typeface="Cambria"/>
              </a:rPr>
              <a:t>,</a:t>
            </a:r>
            <a:r>
              <a:rPr sz="2300" spc="-120">
                <a:latin typeface="Cambria"/>
                <a:cs typeface="Cambria"/>
              </a:rPr>
              <a:t> </a:t>
            </a:r>
            <a:r>
              <a:rPr sz="2300" spc="55">
                <a:latin typeface="Arial"/>
                <a:cs typeface="Arial"/>
              </a:rPr>
              <a:t>h</a:t>
            </a:r>
            <a:r>
              <a:rPr sz="2300" spc="55">
                <a:latin typeface="Cambria"/>
                <a:cs typeface="Cambria"/>
              </a:rPr>
              <a:t>,</a:t>
            </a:r>
            <a:r>
              <a:rPr sz="2300" spc="-114">
                <a:latin typeface="Cambria"/>
                <a:cs typeface="Cambria"/>
              </a:rPr>
              <a:t> </a:t>
            </a:r>
            <a:r>
              <a:rPr sz="2300" spc="55">
                <a:latin typeface="Arial"/>
                <a:cs typeface="Arial"/>
              </a:rPr>
              <a:t>n</a:t>
            </a:r>
            <a:r>
              <a:rPr sz="2300" spc="55">
                <a:latin typeface="Cambria"/>
                <a:cs typeface="Cambria"/>
              </a:rPr>
              <a:t>,</a:t>
            </a:r>
            <a:r>
              <a:rPr sz="2300" spc="-114">
                <a:latin typeface="Cambria"/>
                <a:cs typeface="Cambria"/>
              </a:rPr>
              <a:t> </a:t>
            </a:r>
            <a:r>
              <a:rPr sz="2300" spc="95">
                <a:latin typeface="Arial"/>
                <a:cs typeface="Arial"/>
              </a:rPr>
              <a:t>p</a:t>
            </a:r>
            <a:r>
              <a:rPr sz="2300" spc="95">
                <a:latin typeface="Cambria"/>
                <a:cs typeface="Cambria"/>
              </a:rPr>
              <a:t>,</a:t>
            </a:r>
            <a:r>
              <a:rPr sz="2300" spc="-114">
                <a:latin typeface="Cambria"/>
                <a:cs typeface="Cambria"/>
              </a:rPr>
              <a:t> </a:t>
            </a:r>
            <a:r>
              <a:rPr sz="2300" spc="50">
                <a:latin typeface="Arial"/>
                <a:cs typeface="Arial"/>
              </a:rPr>
              <a:t>s</a:t>
            </a:r>
            <a:r>
              <a:rPr sz="2300" spc="50">
                <a:latin typeface="Cambria"/>
                <a:cs typeface="Cambria"/>
              </a:rPr>
              <a:t>,</a:t>
            </a:r>
            <a:r>
              <a:rPr sz="2300" spc="-114">
                <a:latin typeface="Cambria"/>
                <a:cs typeface="Cambria"/>
              </a:rPr>
              <a:t> </a:t>
            </a:r>
            <a:r>
              <a:rPr sz="2300" spc="90">
                <a:latin typeface="Arial"/>
                <a:cs typeface="Arial"/>
              </a:rPr>
              <a:t>u</a:t>
            </a:r>
            <a:r>
              <a:rPr sz="2300" spc="90">
                <a:latin typeface="Cambria"/>
                <a:cs typeface="Cambria"/>
              </a:rPr>
              <a:t>}</a:t>
            </a:r>
            <a:endParaRPr sz="2300">
              <a:latin typeface="Cambria"/>
              <a:cs typeface="Cambria"/>
            </a:endParaRPr>
          </a:p>
        </p:txBody>
      </p:sp>
      <p:sp>
        <p:nvSpPr>
          <p:cNvPr id="8" name="object 8"/>
          <p:cNvSpPr txBox="1"/>
          <p:nvPr/>
        </p:nvSpPr>
        <p:spPr>
          <a:xfrm>
            <a:off x="7513640" y="7144444"/>
            <a:ext cx="377190" cy="320675"/>
          </a:xfrm>
          <a:prstGeom prst="rect">
            <a:avLst/>
          </a:prstGeom>
        </p:spPr>
        <p:txBody>
          <a:bodyPr vert="vert" wrap="square" lIns="0" tIns="7620" rIns="0" bIns="0" rtlCol="0">
            <a:spAutoFit/>
          </a:bodyPr>
          <a:lstStyle/>
          <a:p>
            <a:pPr marL="12700">
              <a:lnSpc>
                <a:spcPct val="100000"/>
              </a:lnSpc>
              <a:spcBef>
                <a:spcPts val="60"/>
              </a:spcBef>
            </a:pPr>
            <a:r>
              <a:rPr sz="2300" b="1" spc="-50">
                <a:latin typeface="Arial"/>
                <a:cs typeface="Arial"/>
              </a:rPr>
              <a:t>…</a:t>
            </a:r>
            <a:endParaRPr sz="2300">
              <a:latin typeface="Arial"/>
              <a:cs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0" name="object 10"/>
          <p:cNvSpPr txBox="1"/>
          <p:nvPr/>
        </p:nvSpPr>
        <p:spPr>
          <a:xfrm>
            <a:off x="5562139" y="7457345"/>
            <a:ext cx="4424680" cy="174625"/>
          </a:xfrm>
          <a:prstGeom prst="rect">
            <a:avLst/>
          </a:prstGeom>
        </p:spPr>
        <p:txBody>
          <a:bodyPr vert="horz" wrap="square" lIns="0" tIns="6985" rIns="0" bIns="0" rtlCol="0">
            <a:spAutoFit/>
          </a:bodyPr>
          <a:lstStyle/>
          <a:p>
            <a:pPr marL="12700">
              <a:lnSpc>
                <a:spcPct val="100000"/>
              </a:lnSpc>
              <a:spcBef>
                <a:spcPts val="55"/>
              </a:spcBef>
            </a:pPr>
            <a:r>
              <a:rPr sz="1000">
                <a:latin typeface="Arial"/>
                <a:cs typeface="Arial"/>
              </a:rPr>
              <a:t>Example</a:t>
            </a:r>
            <a:r>
              <a:rPr sz="1000" spc="290">
                <a:latin typeface="Arial"/>
                <a:cs typeface="Arial"/>
              </a:rPr>
              <a:t> </a:t>
            </a:r>
            <a:r>
              <a:rPr sz="1000">
                <a:latin typeface="Arial"/>
                <a:cs typeface="Arial"/>
              </a:rPr>
              <a:t>from:</a:t>
            </a:r>
            <a:r>
              <a:rPr sz="1000" spc="290">
                <a:latin typeface="Arial"/>
                <a:cs typeface="Arial"/>
              </a:rPr>
              <a:t> </a:t>
            </a:r>
            <a:r>
              <a:rPr sz="1000" u="sng" spc="-10">
                <a:uFill>
                  <a:solidFill>
                    <a:srgbClr val="000000"/>
                  </a:solidFill>
                </a:uFill>
                <a:latin typeface="Arial"/>
                <a:cs typeface="Arial"/>
                <a:hlinkClick r:id="rId2"/>
              </a:rPr>
              <a:t>https://huggingface.co/docs/transformers/tokenizer_summary</a:t>
            </a:r>
            <a:endParaRPr sz="1000">
              <a:latin typeface="Arial"/>
              <a:cs typeface="Arial"/>
            </a:endParaRPr>
          </a:p>
        </p:txBody>
      </p:sp>
      <p:graphicFrame>
        <p:nvGraphicFramePr>
          <p:cNvPr id="2" name="object 2"/>
          <p:cNvGraphicFramePr>
            <a:graphicFrameLocks noGrp="1"/>
          </p:cNvGraphicFramePr>
          <p:nvPr/>
        </p:nvGraphicFramePr>
        <p:xfrm>
          <a:off x="6021288" y="2983185"/>
          <a:ext cx="4036695" cy="4214495"/>
        </p:xfrm>
        <a:graphic>
          <a:graphicData uri="http://schemas.openxmlformats.org/drawingml/2006/table">
            <a:tbl>
              <a:tblPr firstRow="1" bandRow="1">
                <a:tableStyleId>{2D5ABB26-0587-4C30-8999-92F81FD0307C}</a:tableStyleId>
              </a:tblPr>
              <a:tblGrid>
                <a:gridCol w="1482090">
                  <a:extLst>
                    <a:ext uri="{9D8B030D-6E8A-4147-A177-3AD203B41FA5}">
                      <a16:colId xmlns:a16="http://schemas.microsoft.com/office/drawing/2014/main" val="20000"/>
                    </a:ext>
                  </a:extLst>
                </a:gridCol>
                <a:gridCol w="1586865">
                  <a:extLst>
                    <a:ext uri="{9D8B030D-6E8A-4147-A177-3AD203B41FA5}">
                      <a16:colId xmlns:a16="http://schemas.microsoft.com/office/drawing/2014/main" val="20001"/>
                    </a:ext>
                  </a:extLst>
                </a:gridCol>
                <a:gridCol w="967740">
                  <a:extLst>
                    <a:ext uri="{9D8B030D-6E8A-4147-A177-3AD203B41FA5}">
                      <a16:colId xmlns:a16="http://schemas.microsoft.com/office/drawing/2014/main" val="20002"/>
                    </a:ext>
                  </a:extLst>
                </a:gridCol>
              </a:tblGrid>
              <a:tr h="345440">
                <a:tc>
                  <a:txBody>
                    <a:bodyPr/>
                    <a:lstStyle/>
                    <a:p>
                      <a:pPr marL="52069" algn="ctr">
                        <a:lnSpc>
                          <a:spcPct val="100000"/>
                        </a:lnSpc>
                        <a:spcBef>
                          <a:spcPts val="395"/>
                        </a:spcBef>
                      </a:pPr>
                      <a:r>
                        <a:rPr sz="1600" b="1" spc="-20">
                          <a:latin typeface="Arial"/>
                          <a:cs typeface="Arial"/>
                        </a:rPr>
                        <a:t>Word</a:t>
                      </a:r>
                      <a:endParaRPr sz="1600">
                        <a:latin typeface="Arial"/>
                        <a:cs typeface="Arial"/>
                      </a:endParaRPr>
                    </a:p>
                  </a:txBody>
                  <a:tcPr marL="0" marR="0" marT="50165" marB="0">
                    <a:lnB w="12700">
                      <a:solidFill>
                        <a:srgbClr val="536773"/>
                      </a:solidFill>
                      <a:prstDash val="solid"/>
                    </a:lnB>
                    <a:solidFill>
                      <a:srgbClr val="56C1FF"/>
                    </a:solidFill>
                  </a:tcPr>
                </a:tc>
                <a:tc>
                  <a:txBody>
                    <a:bodyPr/>
                    <a:lstStyle/>
                    <a:p>
                      <a:pPr marL="52069" algn="ctr">
                        <a:lnSpc>
                          <a:spcPct val="100000"/>
                        </a:lnSpc>
                        <a:spcBef>
                          <a:spcPts val="395"/>
                        </a:spcBef>
                      </a:pPr>
                      <a:r>
                        <a:rPr sz="1600" b="1" spc="-10">
                          <a:latin typeface="Arial"/>
                          <a:cs typeface="Arial"/>
                        </a:rPr>
                        <a:t>Frequency</a:t>
                      </a:r>
                      <a:endParaRPr sz="1600">
                        <a:latin typeface="Arial"/>
                        <a:cs typeface="Arial"/>
                      </a:endParaRPr>
                    </a:p>
                  </a:txBody>
                  <a:tcPr marL="0" marR="0" marT="50165" marB="0">
                    <a:lnB w="12700">
                      <a:solidFill>
                        <a:srgbClr val="536773"/>
                      </a:solidFill>
                      <a:prstDash val="solid"/>
                    </a:lnB>
                    <a:solidFill>
                      <a:srgbClr val="56C1FF"/>
                    </a:solidFill>
                  </a:tcPr>
                </a:tc>
                <a:tc rowSpan="7">
                  <a:txBody>
                    <a:bodyPr/>
                    <a:lstStyle/>
                    <a:p>
                      <a:pPr>
                        <a:lnSpc>
                          <a:spcPct val="100000"/>
                        </a:lnSpc>
                      </a:pPr>
                      <a:endParaRPr sz="1700">
                        <a:latin typeface="Times New Roman"/>
                        <a:cs typeface="Times New Roman"/>
                      </a:endParaRPr>
                    </a:p>
                  </a:txBody>
                  <a:tcPr marL="0" marR="0" marT="0" marB="0"/>
                </a:tc>
                <a:extLst>
                  <a:ext uri="{0D108BD9-81ED-4DB2-BD59-A6C34878D82A}">
                    <a16:rowId xmlns:a16="http://schemas.microsoft.com/office/drawing/2014/main" val="10000"/>
                  </a:ext>
                </a:extLst>
              </a:tr>
              <a:tr h="345440">
                <a:tc>
                  <a:txBody>
                    <a:bodyPr/>
                    <a:lstStyle/>
                    <a:p>
                      <a:pPr marL="52069" algn="ctr">
                        <a:lnSpc>
                          <a:spcPct val="100000"/>
                        </a:lnSpc>
                        <a:spcBef>
                          <a:spcPts val="365"/>
                        </a:spcBef>
                      </a:pPr>
                      <a:r>
                        <a:rPr sz="1600" spc="-10">
                          <a:latin typeface="Arial"/>
                          <a:cs typeface="Arial"/>
                        </a:rPr>
                        <a:t>h+u+g</a:t>
                      </a:r>
                      <a:endParaRPr sz="1600">
                        <a:latin typeface="Arial"/>
                        <a:cs typeface="Arial"/>
                      </a:endParaRPr>
                    </a:p>
                  </a:txBody>
                  <a:tcPr marL="0" marR="0" marT="46355" marB="0">
                    <a:lnT w="12700">
                      <a:solidFill>
                        <a:srgbClr val="536773"/>
                      </a:solidFill>
                      <a:prstDash val="solid"/>
                    </a:lnT>
                  </a:tcPr>
                </a:tc>
                <a:tc>
                  <a:txBody>
                    <a:bodyPr/>
                    <a:lstStyle/>
                    <a:p>
                      <a:pPr marL="52069" algn="ctr">
                        <a:lnSpc>
                          <a:spcPct val="100000"/>
                        </a:lnSpc>
                        <a:spcBef>
                          <a:spcPts val="365"/>
                        </a:spcBef>
                      </a:pPr>
                      <a:r>
                        <a:rPr sz="1600" spc="-25">
                          <a:latin typeface="Arial"/>
                          <a:cs typeface="Arial"/>
                        </a:rPr>
                        <a:t>10</a:t>
                      </a:r>
                      <a:endParaRPr sz="1600">
                        <a:latin typeface="Arial"/>
                        <a:cs typeface="Arial"/>
                      </a:endParaRPr>
                    </a:p>
                  </a:txBody>
                  <a:tcPr marL="0" marR="0" marT="46355" marB="0">
                    <a:lnT w="12700">
                      <a:solidFill>
                        <a:srgbClr val="536773"/>
                      </a:solidFill>
                      <a:prstDash val="solid"/>
                    </a:lnT>
                  </a:tcPr>
                </a:tc>
                <a:tc vMerge="1">
                  <a:txBody>
                    <a:bodyPr/>
                    <a:lstStyle/>
                    <a:p>
                      <a:endParaRPr/>
                    </a:p>
                  </a:txBody>
                  <a:tcPr marL="0" marR="0" marT="0" marB="0"/>
                </a:tc>
                <a:extLst>
                  <a:ext uri="{0D108BD9-81ED-4DB2-BD59-A6C34878D82A}">
                    <a16:rowId xmlns:a16="http://schemas.microsoft.com/office/drawing/2014/main" val="10001"/>
                  </a:ext>
                </a:extLst>
              </a:tr>
              <a:tr h="345440">
                <a:tc>
                  <a:txBody>
                    <a:bodyPr/>
                    <a:lstStyle/>
                    <a:p>
                      <a:pPr marL="52069" algn="ctr">
                        <a:lnSpc>
                          <a:spcPct val="100000"/>
                        </a:lnSpc>
                        <a:spcBef>
                          <a:spcPts val="325"/>
                        </a:spcBef>
                      </a:pPr>
                      <a:r>
                        <a:rPr sz="1600" spc="-10">
                          <a:latin typeface="Arial"/>
                          <a:cs typeface="Arial"/>
                        </a:rPr>
                        <a:t>p+u+g</a:t>
                      </a:r>
                      <a:endParaRPr sz="1600">
                        <a:latin typeface="Arial"/>
                        <a:cs typeface="Arial"/>
                      </a:endParaRPr>
                    </a:p>
                  </a:txBody>
                  <a:tcPr marL="0" marR="0" marT="41275" marB="0">
                    <a:solidFill>
                      <a:srgbClr val="E3E5E8"/>
                    </a:solidFill>
                  </a:tcPr>
                </a:tc>
                <a:tc>
                  <a:txBody>
                    <a:bodyPr/>
                    <a:lstStyle/>
                    <a:p>
                      <a:pPr marL="52069" algn="ctr">
                        <a:lnSpc>
                          <a:spcPct val="100000"/>
                        </a:lnSpc>
                        <a:spcBef>
                          <a:spcPts val="325"/>
                        </a:spcBef>
                      </a:pPr>
                      <a:r>
                        <a:rPr sz="1600" spc="-50">
                          <a:latin typeface="Arial"/>
                          <a:cs typeface="Arial"/>
                        </a:rPr>
                        <a:t>5</a:t>
                      </a:r>
                      <a:endParaRPr sz="1600">
                        <a:latin typeface="Arial"/>
                        <a:cs typeface="Arial"/>
                      </a:endParaRPr>
                    </a:p>
                  </a:txBody>
                  <a:tcPr marL="0" marR="0" marT="41275" marB="0">
                    <a:solidFill>
                      <a:srgbClr val="E3E5E8"/>
                    </a:solidFill>
                  </a:tcPr>
                </a:tc>
                <a:tc vMerge="1">
                  <a:txBody>
                    <a:bodyPr/>
                    <a:lstStyle/>
                    <a:p>
                      <a:endParaRPr/>
                    </a:p>
                  </a:txBody>
                  <a:tcPr marL="0" marR="0" marT="0" marB="0"/>
                </a:tc>
                <a:extLst>
                  <a:ext uri="{0D108BD9-81ED-4DB2-BD59-A6C34878D82A}">
                    <a16:rowId xmlns:a16="http://schemas.microsoft.com/office/drawing/2014/main" val="10002"/>
                  </a:ext>
                </a:extLst>
              </a:tr>
              <a:tr h="345440">
                <a:tc>
                  <a:txBody>
                    <a:bodyPr/>
                    <a:lstStyle/>
                    <a:p>
                      <a:pPr marL="52069" algn="ctr">
                        <a:lnSpc>
                          <a:spcPct val="100000"/>
                        </a:lnSpc>
                        <a:spcBef>
                          <a:spcPts val="325"/>
                        </a:spcBef>
                      </a:pPr>
                      <a:r>
                        <a:rPr sz="1600" spc="-10">
                          <a:latin typeface="Arial"/>
                          <a:cs typeface="Arial"/>
                        </a:rPr>
                        <a:t>p+u+n</a:t>
                      </a:r>
                      <a:endParaRPr sz="1600">
                        <a:latin typeface="Arial"/>
                        <a:cs typeface="Arial"/>
                      </a:endParaRPr>
                    </a:p>
                  </a:txBody>
                  <a:tcPr marL="0" marR="0" marT="41275" marB="0"/>
                </a:tc>
                <a:tc>
                  <a:txBody>
                    <a:bodyPr/>
                    <a:lstStyle/>
                    <a:p>
                      <a:pPr marL="52069" algn="ctr">
                        <a:lnSpc>
                          <a:spcPct val="100000"/>
                        </a:lnSpc>
                        <a:spcBef>
                          <a:spcPts val="325"/>
                        </a:spcBef>
                      </a:pPr>
                      <a:r>
                        <a:rPr sz="1600" spc="-25">
                          <a:latin typeface="Arial"/>
                          <a:cs typeface="Arial"/>
                        </a:rPr>
                        <a:t>12</a:t>
                      </a:r>
                      <a:endParaRPr sz="1600">
                        <a:latin typeface="Arial"/>
                        <a:cs typeface="Arial"/>
                      </a:endParaRPr>
                    </a:p>
                  </a:txBody>
                  <a:tcPr marL="0" marR="0" marT="41275" marB="0"/>
                </a:tc>
                <a:tc vMerge="1">
                  <a:txBody>
                    <a:bodyPr/>
                    <a:lstStyle/>
                    <a:p>
                      <a:endParaRPr/>
                    </a:p>
                  </a:txBody>
                  <a:tcPr marL="0" marR="0" marT="0" marB="0"/>
                </a:tc>
                <a:extLst>
                  <a:ext uri="{0D108BD9-81ED-4DB2-BD59-A6C34878D82A}">
                    <a16:rowId xmlns:a16="http://schemas.microsoft.com/office/drawing/2014/main" val="10003"/>
                  </a:ext>
                </a:extLst>
              </a:tr>
              <a:tr h="345440">
                <a:tc>
                  <a:txBody>
                    <a:bodyPr/>
                    <a:lstStyle/>
                    <a:p>
                      <a:pPr marL="52069" algn="ctr">
                        <a:lnSpc>
                          <a:spcPct val="100000"/>
                        </a:lnSpc>
                        <a:spcBef>
                          <a:spcPts val="325"/>
                        </a:spcBef>
                      </a:pPr>
                      <a:r>
                        <a:rPr sz="1600" spc="-10">
                          <a:latin typeface="Arial"/>
                          <a:cs typeface="Arial"/>
                        </a:rPr>
                        <a:t>b+u+n</a:t>
                      </a:r>
                      <a:endParaRPr sz="1600">
                        <a:latin typeface="Arial"/>
                        <a:cs typeface="Arial"/>
                      </a:endParaRPr>
                    </a:p>
                  </a:txBody>
                  <a:tcPr marL="0" marR="0" marT="41275" marB="0">
                    <a:solidFill>
                      <a:srgbClr val="E3E5E8"/>
                    </a:solidFill>
                  </a:tcPr>
                </a:tc>
                <a:tc>
                  <a:txBody>
                    <a:bodyPr/>
                    <a:lstStyle/>
                    <a:p>
                      <a:pPr marL="52069" algn="ctr">
                        <a:lnSpc>
                          <a:spcPct val="100000"/>
                        </a:lnSpc>
                        <a:spcBef>
                          <a:spcPts val="325"/>
                        </a:spcBef>
                      </a:pPr>
                      <a:r>
                        <a:rPr sz="1600" spc="-50">
                          <a:latin typeface="Arial"/>
                          <a:cs typeface="Arial"/>
                        </a:rPr>
                        <a:t>4</a:t>
                      </a:r>
                      <a:endParaRPr sz="1600">
                        <a:latin typeface="Arial"/>
                        <a:cs typeface="Arial"/>
                      </a:endParaRPr>
                    </a:p>
                  </a:txBody>
                  <a:tcPr marL="0" marR="0" marT="41275" marB="0">
                    <a:solidFill>
                      <a:srgbClr val="E3E5E8"/>
                    </a:solidFill>
                  </a:tcPr>
                </a:tc>
                <a:tc vMerge="1">
                  <a:txBody>
                    <a:bodyPr/>
                    <a:lstStyle/>
                    <a:p>
                      <a:endParaRPr/>
                    </a:p>
                  </a:txBody>
                  <a:tcPr marL="0" marR="0" marT="0" marB="0"/>
                </a:tc>
                <a:extLst>
                  <a:ext uri="{0D108BD9-81ED-4DB2-BD59-A6C34878D82A}">
                    <a16:rowId xmlns:a16="http://schemas.microsoft.com/office/drawing/2014/main" val="10004"/>
                  </a:ext>
                </a:extLst>
              </a:tr>
              <a:tr h="440055">
                <a:tc>
                  <a:txBody>
                    <a:bodyPr/>
                    <a:lstStyle/>
                    <a:p>
                      <a:pPr marL="52069" algn="ctr">
                        <a:lnSpc>
                          <a:spcPct val="100000"/>
                        </a:lnSpc>
                        <a:spcBef>
                          <a:spcPts val="325"/>
                        </a:spcBef>
                      </a:pPr>
                      <a:r>
                        <a:rPr sz="1600" spc="-10">
                          <a:latin typeface="Arial"/>
                          <a:cs typeface="Arial"/>
                        </a:rPr>
                        <a:t>h+u+g+s</a:t>
                      </a:r>
                      <a:endParaRPr sz="1600">
                        <a:latin typeface="Arial"/>
                        <a:cs typeface="Arial"/>
                      </a:endParaRPr>
                    </a:p>
                  </a:txBody>
                  <a:tcPr marL="0" marR="0" marT="41275" marB="0"/>
                </a:tc>
                <a:tc>
                  <a:txBody>
                    <a:bodyPr/>
                    <a:lstStyle/>
                    <a:p>
                      <a:pPr marL="52069" algn="ctr">
                        <a:lnSpc>
                          <a:spcPct val="100000"/>
                        </a:lnSpc>
                        <a:spcBef>
                          <a:spcPts val="325"/>
                        </a:spcBef>
                      </a:pPr>
                      <a:r>
                        <a:rPr sz="1600" spc="-50">
                          <a:latin typeface="Arial"/>
                          <a:cs typeface="Arial"/>
                        </a:rPr>
                        <a:t>5</a:t>
                      </a:r>
                      <a:endParaRPr sz="1600">
                        <a:latin typeface="Arial"/>
                        <a:cs typeface="Arial"/>
                      </a:endParaRPr>
                    </a:p>
                  </a:txBody>
                  <a:tcPr marL="0" marR="0" marT="41275" marB="0"/>
                </a:tc>
                <a:tc vMerge="1">
                  <a:txBody>
                    <a:bodyPr/>
                    <a:lstStyle/>
                    <a:p>
                      <a:endParaRPr/>
                    </a:p>
                  </a:txBody>
                  <a:tcPr marL="0" marR="0" marT="0" marB="0"/>
                </a:tc>
                <a:extLst>
                  <a:ext uri="{0D108BD9-81ED-4DB2-BD59-A6C34878D82A}">
                    <a16:rowId xmlns:a16="http://schemas.microsoft.com/office/drawing/2014/main" val="10005"/>
                  </a:ext>
                </a:extLst>
              </a:tr>
              <a:tr h="345440">
                <a:tc>
                  <a:txBody>
                    <a:bodyPr/>
                    <a:lstStyle/>
                    <a:p>
                      <a:pPr marL="52069" algn="ctr">
                        <a:lnSpc>
                          <a:spcPct val="100000"/>
                        </a:lnSpc>
                        <a:spcBef>
                          <a:spcPts val="395"/>
                        </a:spcBef>
                      </a:pPr>
                      <a:r>
                        <a:rPr sz="1600" b="1" spc="-20">
                          <a:latin typeface="Arial"/>
                          <a:cs typeface="Arial"/>
                        </a:rPr>
                        <a:t>Pair</a:t>
                      </a:r>
                      <a:endParaRPr sz="1600">
                        <a:latin typeface="Arial"/>
                        <a:cs typeface="Arial"/>
                      </a:endParaRPr>
                    </a:p>
                  </a:txBody>
                  <a:tcPr marL="0" marR="0" marT="50165" marB="0">
                    <a:lnB w="12700">
                      <a:solidFill>
                        <a:srgbClr val="536773"/>
                      </a:solidFill>
                      <a:prstDash val="solid"/>
                    </a:lnB>
                    <a:solidFill>
                      <a:srgbClr val="56C1FF"/>
                    </a:solidFill>
                  </a:tcPr>
                </a:tc>
                <a:tc>
                  <a:txBody>
                    <a:bodyPr/>
                    <a:lstStyle/>
                    <a:p>
                      <a:pPr marL="52069" algn="ctr">
                        <a:lnSpc>
                          <a:spcPct val="100000"/>
                        </a:lnSpc>
                        <a:spcBef>
                          <a:spcPts val="395"/>
                        </a:spcBef>
                      </a:pPr>
                      <a:r>
                        <a:rPr sz="1600" b="1" spc="-10">
                          <a:latin typeface="Arial"/>
                          <a:cs typeface="Arial"/>
                        </a:rPr>
                        <a:t>Frequency</a:t>
                      </a:r>
                      <a:endParaRPr sz="1600">
                        <a:latin typeface="Arial"/>
                        <a:cs typeface="Arial"/>
                      </a:endParaRPr>
                    </a:p>
                  </a:txBody>
                  <a:tcPr marL="0" marR="0" marT="50165" marB="0">
                    <a:lnB w="12700">
                      <a:solidFill>
                        <a:srgbClr val="536773"/>
                      </a:solidFill>
                      <a:prstDash val="solid"/>
                    </a:lnB>
                    <a:solidFill>
                      <a:srgbClr val="56C1FF"/>
                    </a:solidFill>
                  </a:tcPr>
                </a:tc>
                <a:tc vMerge="1">
                  <a:txBody>
                    <a:bodyPr/>
                    <a:lstStyle/>
                    <a:p>
                      <a:endParaRPr/>
                    </a:p>
                  </a:txBody>
                  <a:tcPr marL="0" marR="0" marT="0" marB="0"/>
                </a:tc>
                <a:extLst>
                  <a:ext uri="{0D108BD9-81ED-4DB2-BD59-A6C34878D82A}">
                    <a16:rowId xmlns:a16="http://schemas.microsoft.com/office/drawing/2014/main" val="10006"/>
                  </a:ext>
                </a:extLst>
              </a:tr>
              <a:tr h="345440">
                <a:tc>
                  <a:txBody>
                    <a:bodyPr/>
                    <a:lstStyle/>
                    <a:p>
                      <a:pPr marL="52069" algn="ctr">
                        <a:lnSpc>
                          <a:spcPct val="100000"/>
                        </a:lnSpc>
                        <a:spcBef>
                          <a:spcPts val="365"/>
                        </a:spcBef>
                      </a:pPr>
                      <a:r>
                        <a:rPr sz="1600" spc="-25">
                          <a:latin typeface="Arial"/>
                          <a:cs typeface="Arial"/>
                        </a:rPr>
                        <a:t>u+g</a:t>
                      </a:r>
                      <a:endParaRPr sz="1600">
                        <a:latin typeface="Arial"/>
                        <a:cs typeface="Arial"/>
                      </a:endParaRPr>
                    </a:p>
                  </a:txBody>
                  <a:tcPr marL="0" marR="0" marT="46355" marB="0">
                    <a:lnT w="12700">
                      <a:solidFill>
                        <a:srgbClr val="536773"/>
                      </a:solidFill>
                      <a:prstDash val="solid"/>
                    </a:lnT>
                    <a:solidFill>
                      <a:srgbClr val="FFD932">
                        <a:alpha val="42759"/>
                      </a:srgbClr>
                    </a:solidFill>
                  </a:tcPr>
                </a:tc>
                <a:tc>
                  <a:txBody>
                    <a:bodyPr/>
                    <a:lstStyle/>
                    <a:p>
                      <a:pPr marL="52069" algn="ctr">
                        <a:lnSpc>
                          <a:spcPct val="100000"/>
                        </a:lnSpc>
                        <a:spcBef>
                          <a:spcPts val="365"/>
                        </a:spcBef>
                      </a:pPr>
                      <a:r>
                        <a:rPr sz="1600" spc="-25">
                          <a:latin typeface="Arial"/>
                          <a:cs typeface="Arial"/>
                        </a:rPr>
                        <a:t>20</a:t>
                      </a:r>
                      <a:endParaRPr sz="1600">
                        <a:latin typeface="Arial"/>
                        <a:cs typeface="Arial"/>
                      </a:endParaRPr>
                    </a:p>
                  </a:txBody>
                  <a:tcPr marL="0" marR="0" marT="46355" marB="0">
                    <a:lnT w="12700">
                      <a:solidFill>
                        <a:srgbClr val="536773"/>
                      </a:solidFill>
                      <a:prstDash val="solid"/>
                    </a:lnT>
                    <a:solidFill>
                      <a:srgbClr val="FFD932">
                        <a:alpha val="42759"/>
                      </a:srgbClr>
                    </a:solidFill>
                  </a:tcPr>
                </a:tc>
                <a:tc>
                  <a:txBody>
                    <a:bodyPr/>
                    <a:lstStyle/>
                    <a:p>
                      <a:pPr>
                        <a:lnSpc>
                          <a:spcPct val="100000"/>
                        </a:lnSpc>
                      </a:pPr>
                      <a:endParaRPr sz="1700">
                        <a:latin typeface="Times New Roman"/>
                        <a:cs typeface="Times New Roman"/>
                      </a:endParaRPr>
                    </a:p>
                  </a:txBody>
                  <a:tcPr marL="0" marR="0" marT="0" marB="0">
                    <a:solidFill>
                      <a:srgbClr val="FFD932">
                        <a:alpha val="42759"/>
                      </a:srgbClr>
                    </a:solidFill>
                  </a:tcPr>
                </a:tc>
                <a:extLst>
                  <a:ext uri="{0D108BD9-81ED-4DB2-BD59-A6C34878D82A}">
                    <a16:rowId xmlns:a16="http://schemas.microsoft.com/office/drawing/2014/main" val="10007"/>
                  </a:ext>
                </a:extLst>
              </a:tr>
              <a:tr h="345440">
                <a:tc>
                  <a:txBody>
                    <a:bodyPr/>
                    <a:lstStyle/>
                    <a:p>
                      <a:pPr marL="52069" algn="ctr">
                        <a:lnSpc>
                          <a:spcPct val="100000"/>
                        </a:lnSpc>
                        <a:spcBef>
                          <a:spcPts val="325"/>
                        </a:spcBef>
                      </a:pPr>
                      <a:r>
                        <a:rPr sz="1600" spc="-25">
                          <a:latin typeface="Arial"/>
                          <a:cs typeface="Arial"/>
                        </a:rPr>
                        <a:t>p+u</a:t>
                      </a:r>
                      <a:endParaRPr sz="1600">
                        <a:latin typeface="Arial"/>
                        <a:cs typeface="Arial"/>
                      </a:endParaRPr>
                    </a:p>
                  </a:txBody>
                  <a:tcPr marL="0" marR="0" marT="41275" marB="0">
                    <a:solidFill>
                      <a:srgbClr val="E3E5E8"/>
                    </a:solidFill>
                  </a:tcPr>
                </a:tc>
                <a:tc>
                  <a:txBody>
                    <a:bodyPr/>
                    <a:lstStyle/>
                    <a:p>
                      <a:pPr marL="52069" algn="ctr">
                        <a:lnSpc>
                          <a:spcPct val="100000"/>
                        </a:lnSpc>
                        <a:spcBef>
                          <a:spcPts val="325"/>
                        </a:spcBef>
                      </a:pPr>
                      <a:r>
                        <a:rPr sz="1600" spc="-25">
                          <a:latin typeface="Arial"/>
                          <a:cs typeface="Arial"/>
                        </a:rPr>
                        <a:t>17</a:t>
                      </a:r>
                      <a:endParaRPr sz="1600">
                        <a:latin typeface="Arial"/>
                        <a:cs typeface="Arial"/>
                      </a:endParaRPr>
                    </a:p>
                  </a:txBody>
                  <a:tcPr marL="0" marR="0" marT="41275" marB="0">
                    <a:solidFill>
                      <a:srgbClr val="E3E5E8"/>
                    </a:solidFill>
                  </a:tcPr>
                </a:tc>
                <a:tc>
                  <a:txBody>
                    <a:bodyPr/>
                    <a:lstStyle/>
                    <a:p>
                      <a:pPr>
                        <a:lnSpc>
                          <a:spcPct val="100000"/>
                        </a:lnSpc>
                      </a:pPr>
                      <a:endParaRPr sz="1700">
                        <a:latin typeface="Times New Roman"/>
                        <a:cs typeface="Times New Roman"/>
                      </a:endParaRPr>
                    </a:p>
                  </a:txBody>
                  <a:tcPr marL="0" marR="0" marT="0" marB="0"/>
                </a:tc>
                <a:extLst>
                  <a:ext uri="{0D108BD9-81ED-4DB2-BD59-A6C34878D82A}">
                    <a16:rowId xmlns:a16="http://schemas.microsoft.com/office/drawing/2014/main" val="10008"/>
                  </a:ext>
                </a:extLst>
              </a:tr>
              <a:tr h="345440">
                <a:tc>
                  <a:txBody>
                    <a:bodyPr/>
                    <a:lstStyle/>
                    <a:p>
                      <a:pPr marL="52069" algn="ctr">
                        <a:lnSpc>
                          <a:spcPct val="100000"/>
                        </a:lnSpc>
                        <a:spcBef>
                          <a:spcPts val="325"/>
                        </a:spcBef>
                      </a:pPr>
                      <a:r>
                        <a:rPr sz="1600" spc="-25">
                          <a:latin typeface="Arial"/>
                          <a:cs typeface="Arial"/>
                        </a:rPr>
                        <a:t>u+n</a:t>
                      </a:r>
                      <a:endParaRPr sz="1600">
                        <a:latin typeface="Arial"/>
                        <a:cs typeface="Arial"/>
                      </a:endParaRPr>
                    </a:p>
                  </a:txBody>
                  <a:tcPr marL="0" marR="0" marT="41275" marB="0"/>
                </a:tc>
                <a:tc>
                  <a:txBody>
                    <a:bodyPr/>
                    <a:lstStyle/>
                    <a:p>
                      <a:pPr marL="52069" algn="ctr">
                        <a:lnSpc>
                          <a:spcPct val="100000"/>
                        </a:lnSpc>
                        <a:spcBef>
                          <a:spcPts val="325"/>
                        </a:spcBef>
                      </a:pPr>
                      <a:r>
                        <a:rPr sz="1600" spc="-25">
                          <a:latin typeface="Arial"/>
                          <a:cs typeface="Arial"/>
                        </a:rPr>
                        <a:t>16</a:t>
                      </a:r>
                      <a:endParaRPr sz="1600">
                        <a:latin typeface="Arial"/>
                        <a:cs typeface="Arial"/>
                      </a:endParaRPr>
                    </a:p>
                  </a:txBody>
                  <a:tcPr marL="0" marR="0" marT="41275" marB="0"/>
                </a:tc>
                <a:tc>
                  <a:txBody>
                    <a:bodyPr/>
                    <a:lstStyle/>
                    <a:p>
                      <a:pPr>
                        <a:lnSpc>
                          <a:spcPct val="100000"/>
                        </a:lnSpc>
                      </a:pPr>
                      <a:endParaRPr sz="1700">
                        <a:latin typeface="Times New Roman"/>
                        <a:cs typeface="Times New Roman"/>
                      </a:endParaRPr>
                    </a:p>
                  </a:txBody>
                  <a:tcPr marL="0" marR="0" marT="0" marB="0"/>
                </a:tc>
                <a:extLst>
                  <a:ext uri="{0D108BD9-81ED-4DB2-BD59-A6C34878D82A}">
                    <a16:rowId xmlns:a16="http://schemas.microsoft.com/office/drawing/2014/main" val="10009"/>
                  </a:ext>
                </a:extLst>
              </a:tr>
              <a:tr h="345440">
                <a:tc>
                  <a:txBody>
                    <a:bodyPr/>
                    <a:lstStyle/>
                    <a:p>
                      <a:pPr marL="52069" algn="ctr">
                        <a:lnSpc>
                          <a:spcPct val="100000"/>
                        </a:lnSpc>
                        <a:spcBef>
                          <a:spcPts val="325"/>
                        </a:spcBef>
                      </a:pPr>
                      <a:r>
                        <a:rPr sz="1600" spc="-25">
                          <a:latin typeface="Arial"/>
                          <a:cs typeface="Arial"/>
                        </a:rPr>
                        <a:t>h+u</a:t>
                      </a:r>
                      <a:endParaRPr sz="1600">
                        <a:latin typeface="Arial"/>
                        <a:cs typeface="Arial"/>
                      </a:endParaRPr>
                    </a:p>
                  </a:txBody>
                  <a:tcPr marL="0" marR="0" marT="41275" marB="0">
                    <a:solidFill>
                      <a:srgbClr val="E3E5E8"/>
                    </a:solidFill>
                  </a:tcPr>
                </a:tc>
                <a:tc>
                  <a:txBody>
                    <a:bodyPr/>
                    <a:lstStyle/>
                    <a:p>
                      <a:pPr marL="52069" algn="ctr">
                        <a:lnSpc>
                          <a:spcPct val="100000"/>
                        </a:lnSpc>
                        <a:spcBef>
                          <a:spcPts val="325"/>
                        </a:spcBef>
                      </a:pPr>
                      <a:r>
                        <a:rPr sz="1600" spc="-25">
                          <a:latin typeface="Arial"/>
                          <a:cs typeface="Arial"/>
                        </a:rPr>
                        <a:t>15</a:t>
                      </a:r>
                      <a:endParaRPr sz="1600">
                        <a:latin typeface="Arial"/>
                        <a:cs typeface="Arial"/>
                      </a:endParaRPr>
                    </a:p>
                  </a:txBody>
                  <a:tcPr marL="0" marR="0" marT="41275" marB="0">
                    <a:solidFill>
                      <a:srgbClr val="E3E5E8"/>
                    </a:solidFill>
                  </a:tcPr>
                </a:tc>
                <a:tc>
                  <a:txBody>
                    <a:bodyPr/>
                    <a:lstStyle/>
                    <a:p>
                      <a:pPr>
                        <a:lnSpc>
                          <a:spcPct val="100000"/>
                        </a:lnSpc>
                      </a:pPr>
                      <a:endParaRPr sz="1700">
                        <a:latin typeface="Times New Roman"/>
                        <a:cs typeface="Times New Roman"/>
                      </a:endParaRPr>
                    </a:p>
                  </a:txBody>
                  <a:tcPr marL="0" marR="0" marT="0" marB="0"/>
                </a:tc>
                <a:extLst>
                  <a:ext uri="{0D108BD9-81ED-4DB2-BD59-A6C34878D82A}">
                    <a16:rowId xmlns:a16="http://schemas.microsoft.com/office/drawing/2014/main" val="10010"/>
                  </a:ext>
                </a:extLst>
              </a:tr>
              <a:tr h="320040">
                <a:tc>
                  <a:txBody>
                    <a:bodyPr/>
                    <a:lstStyle/>
                    <a:p>
                      <a:pPr marL="52069" algn="ctr">
                        <a:lnSpc>
                          <a:spcPct val="100000"/>
                        </a:lnSpc>
                        <a:spcBef>
                          <a:spcPts val="325"/>
                        </a:spcBef>
                      </a:pPr>
                      <a:r>
                        <a:rPr sz="1600" spc="-25">
                          <a:latin typeface="Arial"/>
                          <a:cs typeface="Arial"/>
                        </a:rPr>
                        <a:t>g+s</a:t>
                      </a:r>
                      <a:endParaRPr sz="1600">
                        <a:latin typeface="Arial"/>
                        <a:cs typeface="Arial"/>
                      </a:endParaRPr>
                    </a:p>
                  </a:txBody>
                  <a:tcPr marL="0" marR="0" marT="41275" marB="0"/>
                </a:tc>
                <a:tc>
                  <a:txBody>
                    <a:bodyPr/>
                    <a:lstStyle/>
                    <a:p>
                      <a:pPr marL="52069" algn="ctr">
                        <a:lnSpc>
                          <a:spcPct val="100000"/>
                        </a:lnSpc>
                        <a:spcBef>
                          <a:spcPts val="325"/>
                        </a:spcBef>
                      </a:pPr>
                      <a:r>
                        <a:rPr sz="1600" spc="-50">
                          <a:latin typeface="Arial"/>
                          <a:cs typeface="Arial"/>
                        </a:rPr>
                        <a:t>5</a:t>
                      </a:r>
                      <a:endParaRPr sz="1600">
                        <a:latin typeface="Arial"/>
                        <a:cs typeface="Arial"/>
                      </a:endParaRPr>
                    </a:p>
                  </a:txBody>
                  <a:tcPr marL="0" marR="0" marT="41275" marB="0"/>
                </a:tc>
                <a:tc>
                  <a:txBody>
                    <a:bodyPr/>
                    <a:lstStyle/>
                    <a:p>
                      <a:pPr>
                        <a:lnSpc>
                          <a:spcPct val="100000"/>
                        </a:lnSpc>
                      </a:pPr>
                      <a:endParaRPr sz="1700">
                        <a:latin typeface="Times New Roman"/>
                        <a:cs typeface="Times New Roman"/>
                      </a:endParaRPr>
                    </a:p>
                  </a:txBody>
                  <a:tcPr marL="0" marR="0" marT="0" marB="0"/>
                </a:tc>
                <a:extLst>
                  <a:ext uri="{0D108BD9-81ED-4DB2-BD59-A6C34878D82A}">
                    <a16:rowId xmlns:a16="http://schemas.microsoft.com/office/drawing/2014/main" val="10011"/>
                  </a:ext>
                </a:extLst>
              </a:tr>
            </a:tbl>
          </a:graphicData>
        </a:graphic>
      </p:graphicFrame>
      <p:sp>
        <p:nvSpPr>
          <p:cNvPr id="3" name="object 3"/>
          <p:cNvSpPr txBox="1"/>
          <p:nvPr/>
        </p:nvSpPr>
        <p:spPr>
          <a:xfrm>
            <a:off x="566836" y="2416754"/>
            <a:ext cx="4332605" cy="2540000"/>
          </a:xfrm>
          <a:prstGeom prst="rect">
            <a:avLst/>
          </a:prstGeom>
        </p:spPr>
        <p:txBody>
          <a:bodyPr vert="horz" wrap="square" lIns="0" tIns="39370" rIns="0" bIns="0" rtlCol="0">
            <a:spAutoFit/>
          </a:bodyPr>
          <a:lstStyle/>
          <a:p>
            <a:pPr marL="233679" marR="200025" indent="-221615">
              <a:lnSpc>
                <a:spcPct val="91700"/>
              </a:lnSpc>
              <a:spcBef>
                <a:spcPts val="310"/>
              </a:spcBef>
              <a:buSzPct val="102380"/>
              <a:buFont typeface="Arial"/>
              <a:buChar char="•"/>
              <a:tabLst>
                <a:tab pos="233679" algn="l"/>
              </a:tabLst>
            </a:pPr>
            <a:r>
              <a:rPr sz="2100" spc="525">
                <a:latin typeface="Cambria"/>
                <a:cs typeface="Cambria"/>
              </a:rPr>
              <a:t>𝒱</a:t>
            </a:r>
            <a:r>
              <a:rPr sz="2100" spc="110">
                <a:latin typeface="Cambria"/>
                <a:cs typeface="Cambria"/>
              </a:rPr>
              <a:t> </a:t>
            </a:r>
            <a:r>
              <a:rPr sz="2100" spc="175">
                <a:latin typeface="Cambria"/>
                <a:cs typeface="Cambria"/>
              </a:rPr>
              <a:t>←</a:t>
            </a:r>
            <a:r>
              <a:rPr sz="2100" spc="110">
                <a:latin typeface="Cambria"/>
                <a:cs typeface="Cambria"/>
              </a:rPr>
              <a:t> </a:t>
            </a:r>
            <a:r>
              <a:rPr sz="1750">
                <a:latin typeface="Arial"/>
                <a:cs typeface="Arial"/>
              </a:rPr>
              <a:t>All</a:t>
            </a:r>
            <a:r>
              <a:rPr sz="1750" spc="-10">
                <a:latin typeface="Arial"/>
                <a:cs typeface="Arial"/>
              </a:rPr>
              <a:t> </a:t>
            </a:r>
            <a:r>
              <a:rPr sz="1750">
                <a:latin typeface="Arial"/>
                <a:cs typeface="Arial"/>
              </a:rPr>
              <a:t>characters</a:t>
            </a:r>
            <a:r>
              <a:rPr sz="1750" spc="-10">
                <a:latin typeface="Arial"/>
                <a:cs typeface="Arial"/>
              </a:rPr>
              <a:t> </a:t>
            </a:r>
            <a:r>
              <a:rPr sz="1750">
                <a:latin typeface="Arial"/>
                <a:cs typeface="Arial"/>
              </a:rPr>
              <a:t>in</a:t>
            </a:r>
            <a:r>
              <a:rPr sz="1750" spc="-15">
                <a:latin typeface="Arial"/>
                <a:cs typeface="Arial"/>
              </a:rPr>
              <a:t> </a:t>
            </a:r>
            <a:r>
              <a:rPr sz="1750">
                <a:latin typeface="Arial"/>
                <a:cs typeface="Arial"/>
              </a:rPr>
              <a:t>the</a:t>
            </a:r>
            <a:r>
              <a:rPr sz="1750" spc="-10">
                <a:latin typeface="Arial"/>
                <a:cs typeface="Arial"/>
              </a:rPr>
              <a:t> </a:t>
            </a:r>
            <a:r>
              <a:rPr sz="1750">
                <a:latin typeface="Arial"/>
                <a:cs typeface="Arial"/>
              </a:rPr>
              <a:t>training</a:t>
            </a:r>
            <a:r>
              <a:rPr sz="1750" spc="-10">
                <a:latin typeface="Arial"/>
                <a:cs typeface="Arial"/>
              </a:rPr>
              <a:t> </a:t>
            </a:r>
            <a:r>
              <a:rPr sz="1750" spc="-20">
                <a:latin typeface="Arial"/>
                <a:cs typeface="Arial"/>
              </a:rPr>
              <a:t>data </a:t>
            </a:r>
            <a:r>
              <a:rPr sz="1750" spc="-45">
                <a:latin typeface="Arial"/>
                <a:cs typeface="Arial"/>
              </a:rPr>
              <a:t>(as</a:t>
            </a:r>
            <a:r>
              <a:rPr sz="1750" spc="-55">
                <a:latin typeface="Arial"/>
                <a:cs typeface="Arial"/>
              </a:rPr>
              <a:t> </a:t>
            </a:r>
            <a:r>
              <a:rPr sz="1750">
                <a:latin typeface="Arial"/>
                <a:cs typeface="Arial"/>
              </a:rPr>
              <a:t>base</a:t>
            </a:r>
            <a:r>
              <a:rPr sz="1750" spc="-55">
                <a:latin typeface="Arial"/>
                <a:cs typeface="Arial"/>
              </a:rPr>
              <a:t> </a:t>
            </a:r>
            <a:r>
              <a:rPr sz="1750" b="1" spc="-10">
                <a:latin typeface="Arial"/>
                <a:cs typeface="Arial"/>
              </a:rPr>
              <a:t>tokens</a:t>
            </a:r>
            <a:r>
              <a:rPr sz="1750" spc="-10">
                <a:latin typeface="Arial"/>
                <a:cs typeface="Arial"/>
              </a:rPr>
              <a:t>)</a:t>
            </a:r>
            <a:endParaRPr sz="1750">
              <a:latin typeface="Arial"/>
              <a:cs typeface="Arial"/>
            </a:endParaRPr>
          </a:p>
          <a:p>
            <a:pPr marL="233679" indent="-220979">
              <a:lnSpc>
                <a:spcPct val="100000"/>
              </a:lnSpc>
              <a:spcBef>
                <a:spcPts val="1625"/>
              </a:spcBef>
              <a:buSzPct val="122857"/>
              <a:buChar char="•"/>
              <a:tabLst>
                <a:tab pos="233679" algn="l"/>
              </a:tabLst>
            </a:pPr>
            <a:r>
              <a:rPr sz="1750">
                <a:latin typeface="Arial"/>
                <a:cs typeface="Arial"/>
              </a:rPr>
              <a:t>For</a:t>
            </a:r>
            <a:r>
              <a:rPr sz="1750" spc="-50">
                <a:latin typeface="Arial"/>
                <a:cs typeface="Arial"/>
              </a:rPr>
              <a:t> </a:t>
            </a:r>
            <a:r>
              <a:rPr sz="2100" i="1">
                <a:latin typeface="Times New Roman"/>
                <a:cs typeface="Times New Roman"/>
              </a:rPr>
              <a:t>k</a:t>
            </a:r>
            <a:r>
              <a:rPr sz="2100" i="1" spc="-90">
                <a:latin typeface="Times New Roman"/>
                <a:cs typeface="Times New Roman"/>
              </a:rPr>
              <a:t> </a:t>
            </a:r>
            <a:r>
              <a:rPr sz="1750" spc="-10">
                <a:latin typeface="Arial"/>
                <a:cs typeface="Arial"/>
              </a:rPr>
              <a:t>steps:</a:t>
            </a:r>
            <a:endParaRPr sz="1750">
              <a:latin typeface="Arial"/>
              <a:cs typeface="Arial"/>
            </a:endParaRPr>
          </a:p>
          <a:p>
            <a:pPr marL="528320" marR="180975" lvl="1" indent="-221615">
              <a:lnSpc>
                <a:spcPct val="86400"/>
              </a:lnSpc>
              <a:spcBef>
                <a:spcPts val="1555"/>
              </a:spcBef>
              <a:buSzPct val="122857"/>
              <a:buChar char="-"/>
              <a:tabLst>
                <a:tab pos="528320" algn="l"/>
              </a:tabLst>
            </a:pPr>
            <a:r>
              <a:rPr sz="1750" spc="-40">
                <a:latin typeface="Arial"/>
                <a:cs typeface="Arial"/>
              </a:rPr>
              <a:t>Tokenize</a:t>
            </a:r>
            <a:r>
              <a:rPr sz="1750" spc="-5">
                <a:latin typeface="Arial"/>
                <a:cs typeface="Arial"/>
              </a:rPr>
              <a:t> </a:t>
            </a:r>
            <a:r>
              <a:rPr sz="1750">
                <a:latin typeface="Arial"/>
                <a:cs typeface="Arial"/>
              </a:rPr>
              <a:t>the</a:t>
            </a:r>
            <a:r>
              <a:rPr sz="1750" spc="-5">
                <a:latin typeface="Arial"/>
                <a:cs typeface="Arial"/>
              </a:rPr>
              <a:t> </a:t>
            </a:r>
            <a:r>
              <a:rPr sz="1750">
                <a:latin typeface="Arial"/>
                <a:cs typeface="Arial"/>
              </a:rPr>
              <a:t>data,</a:t>
            </a:r>
            <a:r>
              <a:rPr sz="1750" spc="-5">
                <a:latin typeface="Arial"/>
                <a:cs typeface="Arial"/>
              </a:rPr>
              <a:t> </a:t>
            </a:r>
            <a:r>
              <a:rPr sz="1750">
                <a:latin typeface="Arial"/>
                <a:cs typeface="Arial"/>
              </a:rPr>
              <a:t>taking</a:t>
            </a:r>
            <a:r>
              <a:rPr sz="1750" spc="-5">
                <a:latin typeface="Arial"/>
                <a:cs typeface="Arial"/>
              </a:rPr>
              <a:t> </a:t>
            </a:r>
            <a:r>
              <a:rPr sz="1750">
                <a:latin typeface="Arial"/>
                <a:cs typeface="Arial"/>
              </a:rPr>
              <a:t>the</a:t>
            </a:r>
            <a:r>
              <a:rPr sz="1750" spc="-5">
                <a:latin typeface="Arial"/>
                <a:cs typeface="Arial"/>
              </a:rPr>
              <a:t> </a:t>
            </a:r>
            <a:r>
              <a:rPr sz="1750" spc="-10">
                <a:latin typeface="Arial"/>
                <a:cs typeface="Arial"/>
              </a:rPr>
              <a:t>longest </a:t>
            </a:r>
            <a:r>
              <a:rPr sz="1750">
                <a:latin typeface="Arial"/>
                <a:cs typeface="Arial"/>
              </a:rPr>
              <a:t>prefix</a:t>
            </a:r>
            <a:r>
              <a:rPr sz="1750" spc="-20">
                <a:latin typeface="Arial"/>
                <a:cs typeface="Arial"/>
              </a:rPr>
              <a:t> </a:t>
            </a:r>
            <a:r>
              <a:rPr sz="1750">
                <a:latin typeface="Arial"/>
                <a:cs typeface="Arial"/>
              </a:rPr>
              <a:t>each</a:t>
            </a:r>
            <a:r>
              <a:rPr sz="1750" spc="-15">
                <a:latin typeface="Arial"/>
                <a:cs typeface="Arial"/>
              </a:rPr>
              <a:t> </a:t>
            </a:r>
            <a:r>
              <a:rPr sz="1750" spc="-20">
                <a:latin typeface="Arial"/>
                <a:cs typeface="Arial"/>
              </a:rPr>
              <a:t>time</a:t>
            </a:r>
            <a:endParaRPr sz="1750">
              <a:latin typeface="Arial"/>
              <a:cs typeface="Arial"/>
            </a:endParaRPr>
          </a:p>
          <a:p>
            <a:pPr marL="528320" marR="5080" lvl="1" indent="-221615">
              <a:lnSpc>
                <a:spcPct val="86400"/>
              </a:lnSpc>
              <a:spcBef>
                <a:spcPts val="1595"/>
              </a:spcBef>
              <a:buSzPct val="122857"/>
              <a:buChar char="-"/>
              <a:tabLst>
                <a:tab pos="528320" algn="l"/>
              </a:tabLst>
            </a:pPr>
            <a:r>
              <a:rPr sz="1750">
                <a:latin typeface="Arial"/>
                <a:cs typeface="Arial"/>
              </a:rPr>
              <a:t>Count</a:t>
            </a:r>
            <a:r>
              <a:rPr sz="1750" spc="5">
                <a:latin typeface="Arial"/>
                <a:cs typeface="Arial"/>
              </a:rPr>
              <a:t> </a:t>
            </a:r>
            <a:r>
              <a:rPr sz="1750">
                <a:latin typeface="Arial"/>
                <a:cs typeface="Arial"/>
              </a:rPr>
              <a:t>the</a:t>
            </a:r>
            <a:r>
              <a:rPr sz="1750" spc="10">
                <a:latin typeface="Arial"/>
                <a:cs typeface="Arial"/>
              </a:rPr>
              <a:t> </a:t>
            </a:r>
            <a:r>
              <a:rPr sz="1750">
                <a:latin typeface="Arial"/>
                <a:cs typeface="Arial"/>
              </a:rPr>
              <a:t>frequency</a:t>
            </a:r>
            <a:r>
              <a:rPr sz="1750" spc="5">
                <a:latin typeface="Arial"/>
                <a:cs typeface="Arial"/>
              </a:rPr>
              <a:t> </a:t>
            </a:r>
            <a:r>
              <a:rPr sz="1750">
                <a:latin typeface="Arial"/>
                <a:cs typeface="Arial"/>
              </a:rPr>
              <a:t>of</a:t>
            </a:r>
            <a:r>
              <a:rPr sz="1750" spc="10">
                <a:latin typeface="Arial"/>
                <a:cs typeface="Arial"/>
              </a:rPr>
              <a:t> </a:t>
            </a:r>
            <a:r>
              <a:rPr sz="1750">
                <a:latin typeface="Arial"/>
                <a:cs typeface="Arial"/>
              </a:rPr>
              <a:t>adjacent</a:t>
            </a:r>
            <a:r>
              <a:rPr sz="1750" spc="10">
                <a:latin typeface="Arial"/>
                <a:cs typeface="Arial"/>
              </a:rPr>
              <a:t> </a:t>
            </a:r>
            <a:r>
              <a:rPr sz="1750" spc="-20">
                <a:latin typeface="Arial"/>
                <a:cs typeface="Arial"/>
              </a:rPr>
              <a:t>token </a:t>
            </a:r>
            <a:r>
              <a:rPr sz="1750">
                <a:latin typeface="Arial"/>
                <a:cs typeface="Arial"/>
              </a:rPr>
              <a:t>pairs</a:t>
            </a:r>
            <a:r>
              <a:rPr sz="1750" spc="-10">
                <a:latin typeface="Arial"/>
                <a:cs typeface="Arial"/>
              </a:rPr>
              <a:t> </a:t>
            </a:r>
            <a:r>
              <a:rPr sz="1750">
                <a:latin typeface="Arial"/>
                <a:cs typeface="Arial"/>
              </a:rPr>
              <a:t>in</a:t>
            </a:r>
            <a:r>
              <a:rPr sz="1750" spc="-10">
                <a:latin typeface="Arial"/>
                <a:cs typeface="Arial"/>
              </a:rPr>
              <a:t> </a:t>
            </a:r>
            <a:r>
              <a:rPr sz="1750">
                <a:latin typeface="Arial"/>
                <a:cs typeface="Arial"/>
              </a:rPr>
              <a:t>the</a:t>
            </a:r>
            <a:r>
              <a:rPr sz="1750" spc="-10">
                <a:latin typeface="Arial"/>
                <a:cs typeface="Arial"/>
              </a:rPr>
              <a:t> </a:t>
            </a:r>
            <a:r>
              <a:rPr sz="1750" spc="-20">
                <a:latin typeface="Arial"/>
                <a:cs typeface="Arial"/>
              </a:rPr>
              <a:t>data</a:t>
            </a:r>
            <a:endParaRPr sz="1750">
              <a:latin typeface="Arial"/>
              <a:cs typeface="Arial"/>
            </a:endParaRPr>
          </a:p>
        </p:txBody>
      </p:sp>
      <p:sp>
        <p:nvSpPr>
          <p:cNvPr id="4" name="object 4"/>
          <p:cNvSpPr txBox="1"/>
          <p:nvPr/>
        </p:nvSpPr>
        <p:spPr>
          <a:xfrm>
            <a:off x="0" y="5126170"/>
            <a:ext cx="5142230" cy="676275"/>
          </a:xfrm>
          <a:prstGeom prst="rect">
            <a:avLst/>
          </a:prstGeom>
          <a:solidFill>
            <a:srgbClr val="FFD932">
              <a:alpha val="42759"/>
            </a:srgbClr>
          </a:solidFill>
        </p:spPr>
        <p:txBody>
          <a:bodyPr vert="horz" wrap="square" lIns="0" tIns="52705" rIns="0" bIns="0" rtlCol="0">
            <a:spAutoFit/>
          </a:bodyPr>
          <a:lstStyle/>
          <a:p>
            <a:pPr marL="1094740" marR="170815" indent="-221615">
              <a:lnSpc>
                <a:spcPct val="89300"/>
              </a:lnSpc>
              <a:spcBef>
                <a:spcPts val="415"/>
              </a:spcBef>
            </a:pPr>
            <a:r>
              <a:rPr sz="3225" spc="165" baseline="-5167">
                <a:latin typeface="Arial"/>
                <a:cs typeface="Arial"/>
              </a:rPr>
              <a:t>-</a:t>
            </a:r>
            <a:r>
              <a:rPr sz="3225" spc="532" baseline="-5167">
                <a:latin typeface="Arial"/>
                <a:cs typeface="Arial"/>
              </a:rPr>
              <a:t> </a:t>
            </a:r>
            <a:r>
              <a:rPr sz="1750">
                <a:latin typeface="Arial"/>
                <a:cs typeface="Arial"/>
              </a:rPr>
              <a:t>Choose</a:t>
            </a:r>
            <a:r>
              <a:rPr sz="1750" spc="15">
                <a:latin typeface="Arial"/>
                <a:cs typeface="Arial"/>
              </a:rPr>
              <a:t> </a:t>
            </a:r>
            <a:r>
              <a:rPr sz="1750">
                <a:latin typeface="Arial"/>
                <a:cs typeface="Arial"/>
              </a:rPr>
              <a:t>the</a:t>
            </a:r>
            <a:r>
              <a:rPr sz="1750" spc="15">
                <a:latin typeface="Arial"/>
                <a:cs typeface="Arial"/>
              </a:rPr>
              <a:t> </a:t>
            </a:r>
            <a:r>
              <a:rPr sz="1750">
                <a:latin typeface="Arial"/>
                <a:cs typeface="Arial"/>
              </a:rPr>
              <a:t>pair</a:t>
            </a:r>
            <a:r>
              <a:rPr sz="1750" spc="20">
                <a:latin typeface="Arial"/>
                <a:cs typeface="Arial"/>
              </a:rPr>
              <a:t> </a:t>
            </a:r>
            <a:r>
              <a:rPr sz="2100" spc="60">
                <a:latin typeface="Cambria"/>
                <a:cs typeface="Cambria"/>
              </a:rPr>
              <a:t>⟨</a:t>
            </a:r>
            <a:r>
              <a:rPr sz="2100" i="1" spc="60">
                <a:latin typeface="Times New Roman"/>
                <a:cs typeface="Times New Roman"/>
              </a:rPr>
              <a:t>l</a:t>
            </a:r>
            <a:r>
              <a:rPr sz="2100" spc="60">
                <a:latin typeface="Cambria"/>
                <a:cs typeface="Cambria"/>
              </a:rPr>
              <a:t>,</a:t>
            </a:r>
            <a:r>
              <a:rPr sz="2100" spc="-100">
                <a:latin typeface="Cambria"/>
                <a:cs typeface="Cambria"/>
              </a:rPr>
              <a:t> </a:t>
            </a:r>
            <a:r>
              <a:rPr sz="2100" i="1">
                <a:latin typeface="Times New Roman"/>
                <a:cs typeface="Times New Roman"/>
              </a:rPr>
              <a:t>r</a:t>
            </a:r>
            <a:r>
              <a:rPr sz="2100">
                <a:latin typeface="Cambria"/>
                <a:cs typeface="Cambria"/>
              </a:rPr>
              <a:t>⟩</a:t>
            </a:r>
            <a:r>
              <a:rPr sz="2100" spc="45">
                <a:latin typeface="Cambria"/>
                <a:cs typeface="Cambria"/>
              </a:rPr>
              <a:t> </a:t>
            </a:r>
            <a:r>
              <a:rPr sz="1750">
                <a:latin typeface="Arial"/>
                <a:cs typeface="Arial"/>
              </a:rPr>
              <a:t>that</a:t>
            </a:r>
            <a:r>
              <a:rPr sz="1750" spc="15">
                <a:latin typeface="Arial"/>
                <a:cs typeface="Arial"/>
              </a:rPr>
              <a:t> </a:t>
            </a:r>
            <a:r>
              <a:rPr sz="1750">
                <a:latin typeface="Arial"/>
                <a:cs typeface="Arial"/>
              </a:rPr>
              <a:t>occurs</a:t>
            </a:r>
            <a:r>
              <a:rPr sz="1750" spc="20">
                <a:latin typeface="Arial"/>
                <a:cs typeface="Arial"/>
              </a:rPr>
              <a:t> </a:t>
            </a:r>
            <a:r>
              <a:rPr sz="1750" spc="-20">
                <a:latin typeface="Arial"/>
                <a:cs typeface="Arial"/>
              </a:rPr>
              <a:t>most </a:t>
            </a:r>
            <a:r>
              <a:rPr sz="1750" spc="-10">
                <a:latin typeface="Arial"/>
                <a:cs typeface="Arial"/>
              </a:rPr>
              <a:t>frequently</a:t>
            </a:r>
            <a:endParaRPr sz="1750">
              <a:latin typeface="Arial"/>
              <a:cs typeface="Arial"/>
            </a:endParaRPr>
          </a:p>
        </p:txBody>
      </p:sp>
      <p:sp>
        <p:nvSpPr>
          <p:cNvPr id="5" name="object 5"/>
          <p:cNvSpPr txBox="1"/>
          <p:nvPr/>
        </p:nvSpPr>
        <p:spPr>
          <a:xfrm>
            <a:off x="566836" y="5905616"/>
            <a:ext cx="3996690" cy="1104265"/>
          </a:xfrm>
          <a:prstGeom prst="rect">
            <a:avLst/>
          </a:prstGeom>
        </p:spPr>
        <p:txBody>
          <a:bodyPr vert="horz" wrap="square" lIns="0" tIns="8255" rIns="0" bIns="0" rtlCol="0">
            <a:spAutoFit/>
          </a:bodyPr>
          <a:lstStyle/>
          <a:p>
            <a:pPr marL="528320" marR="5080" indent="-221615">
              <a:lnSpc>
                <a:spcPts val="2220"/>
              </a:lnSpc>
              <a:spcBef>
                <a:spcPts val="65"/>
              </a:spcBef>
            </a:pPr>
            <a:r>
              <a:rPr sz="3225" spc="165" baseline="-3875">
                <a:latin typeface="Arial"/>
                <a:cs typeface="Arial"/>
              </a:rPr>
              <a:t>-</a:t>
            </a:r>
            <a:r>
              <a:rPr sz="3225" spc="494" baseline="-3875">
                <a:latin typeface="Arial"/>
                <a:cs typeface="Arial"/>
              </a:rPr>
              <a:t> </a:t>
            </a:r>
            <a:r>
              <a:rPr sz="1750">
                <a:latin typeface="Arial"/>
                <a:cs typeface="Arial"/>
              </a:rPr>
              <a:t>Add the</a:t>
            </a:r>
            <a:r>
              <a:rPr sz="1750" spc="5">
                <a:latin typeface="Arial"/>
                <a:cs typeface="Arial"/>
              </a:rPr>
              <a:t> </a:t>
            </a:r>
            <a:r>
              <a:rPr sz="1750">
                <a:latin typeface="Arial"/>
                <a:cs typeface="Arial"/>
              </a:rPr>
              <a:t>pair</a:t>
            </a:r>
            <a:r>
              <a:rPr sz="1750" spc="5">
                <a:latin typeface="Arial"/>
                <a:cs typeface="Arial"/>
              </a:rPr>
              <a:t> </a:t>
            </a:r>
            <a:r>
              <a:rPr sz="1750">
                <a:latin typeface="Arial"/>
                <a:cs typeface="Arial"/>
              </a:rPr>
              <a:t>to</a:t>
            </a:r>
            <a:r>
              <a:rPr sz="1750" spc="5">
                <a:latin typeface="Arial"/>
                <a:cs typeface="Arial"/>
              </a:rPr>
              <a:t> </a:t>
            </a:r>
            <a:r>
              <a:rPr sz="1750">
                <a:latin typeface="Arial"/>
                <a:cs typeface="Arial"/>
              </a:rPr>
              <a:t>the</a:t>
            </a:r>
            <a:r>
              <a:rPr sz="1750" spc="5">
                <a:latin typeface="Arial"/>
                <a:cs typeface="Arial"/>
              </a:rPr>
              <a:t> </a:t>
            </a:r>
            <a:r>
              <a:rPr sz="1750">
                <a:latin typeface="Arial"/>
                <a:cs typeface="Arial"/>
              </a:rPr>
              <a:t>vocabulary as</a:t>
            </a:r>
            <a:r>
              <a:rPr sz="1750" spc="5">
                <a:latin typeface="Arial"/>
                <a:cs typeface="Arial"/>
              </a:rPr>
              <a:t> </a:t>
            </a:r>
            <a:r>
              <a:rPr sz="1750" spc="-50">
                <a:latin typeface="Arial"/>
                <a:cs typeface="Arial"/>
              </a:rPr>
              <a:t>a </a:t>
            </a:r>
            <a:r>
              <a:rPr sz="1750">
                <a:latin typeface="Arial"/>
                <a:cs typeface="Arial"/>
              </a:rPr>
              <a:t>new token</a:t>
            </a:r>
            <a:r>
              <a:rPr sz="1750" spc="5">
                <a:latin typeface="Arial"/>
                <a:cs typeface="Arial"/>
              </a:rPr>
              <a:t> </a:t>
            </a:r>
            <a:r>
              <a:rPr sz="2100" spc="525">
                <a:latin typeface="Cambria"/>
                <a:cs typeface="Cambria"/>
              </a:rPr>
              <a:t>𝒱</a:t>
            </a:r>
            <a:r>
              <a:rPr sz="2100" spc="130">
                <a:latin typeface="Cambria"/>
                <a:cs typeface="Cambria"/>
              </a:rPr>
              <a:t> </a:t>
            </a:r>
            <a:r>
              <a:rPr sz="2100" spc="175">
                <a:latin typeface="Cambria"/>
                <a:cs typeface="Cambria"/>
              </a:rPr>
              <a:t>←</a:t>
            </a:r>
            <a:r>
              <a:rPr sz="2100" spc="130">
                <a:latin typeface="Cambria"/>
                <a:cs typeface="Cambria"/>
              </a:rPr>
              <a:t> </a:t>
            </a:r>
            <a:r>
              <a:rPr sz="2100" spc="525">
                <a:latin typeface="Cambria"/>
                <a:cs typeface="Cambria"/>
              </a:rPr>
              <a:t>𝒱</a:t>
            </a:r>
            <a:r>
              <a:rPr sz="2100" spc="5">
                <a:latin typeface="Cambria"/>
                <a:cs typeface="Cambria"/>
              </a:rPr>
              <a:t> </a:t>
            </a:r>
            <a:r>
              <a:rPr sz="2100" spc="-130">
                <a:latin typeface="Cambria"/>
                <a:cs typeface="Cambria"/>
              </a:rPr>
              <a:t>∪</a:t>
            </a:r>
            <a:r>
              <a:rPr sz="2100" spc="10">
                <a:latin typeface="Cambria"/>
                <a:cs typeface="Cambria"/>
              </a:rPr>
              <a:t> </a:t>
            </a:r>
            <a:r>
              <a:rPr sz="2100" spc="75">
                <a:latin typeface="Cambria"/>
                <a:cs typeface="Cambria"/>
              </a:rPr>
              <a:t>{</a:t>
            </a:r>
            <a:r>
              <a:rPr sz="2100" i="1" spc="75">
                <a:latin typeface="Times New Roman"/>
                <a:cs typeface="Times New Roman"/>
              </a:rPr>
              <a:t>lr</a:t>
            </a:r>
            <a:r>
              <a:rPr sz="2100" spc="75">
                <a:latin typeface="Cambria"/>
                <a:cs typeface="Cambria"/>
              </a:rPr>
              <a:t>}</a:t>
            </a:r>
            <a:endParaRPr sz="2100">
              <a:latin typeface="Cambria"/>
              <a:cs typeface="Cambria"/>
            </a:endParaRPr>
          </a:p>
          <a:p>
            <a:pPr marL="233679" indent="-220979">
              <a:lnSpc>
                <a:spcPct val="100000"/>
              </a:lnSpc>
              <a:spcBef>
                <a:spcPts val="1560"/>
              </a:spcBef>
              <a:buSzPct val="122857"/>
              <a:buChar char="•"/>
              <a:tabLst>
                <a:tab pos="233679" algn="l"/>
              </a:tabLst>
            </a:pPr>
            <a:r>
              <a:rPr sz="1750">
                <a:latin typeface="Arial"/>
                <a:cs typeface="Arial"/>
              </a:rPr>
              <a:t>Return</a:t>
            </a:r>
            <a:r>
              <a:rPr sz="1750" spc="-75">
                <a:latin typeface="Arial"/>
                <a:cs typeface="Arial"/>
              </a:rPr>
              <a:t> </a:t>
            </a:r>
            <a:r>
              <a:rPr sz="2100" spc="475">
                <a:latin typeface="Cambria"/>
                <a:cs typeface="Cambria"/>
              </a:rPr>
              <a:t>𝒱</a:t>
            </a:r>
            <a:endParaRPr sz="2100">
              <a:latin typeface="Cambria"/>
              <a:cs typeface="Cambria"/>
            </a:endParaRPr>
          </a:p>
        </p:txBody>
      </p:sp>
      <p:sp>
        <p:nvSpPr>
          <p:cNvPr id="6" name="object 6" descr="$PPTXTitle"/>
          <p:cNvSpPr txBox="1">
            <a:spLocks noGrp="1"/>
          </p:cNvSpPr>
          <p:nvPr>
            <p:ph type="title"/>
          </p:nvPr>
        </p:nvSpPr>
        <p:spPr>
          <a:prstGeom prst="rect">
            <a:avLst/>
          </a:prstGeom>
        </p:spPr>
        <p:txBody>
          <a:bodyPr vert="horz" wrap="square" lIns="0" tIns="88466" rIns="0" bIns="0" rtlCol="0">
            <a:spAutoFit/>
          </a:bodyPr>
          <a:lstStyle/>
          <a:p>
            <a:pPr marL="12700">
              <a:lnSpc>
                <a:spcPct val="100000"/>
              </a:lnSpc>
              <a:spcBef>
                <a:spcPts val="95"/>
              </a:spcBef>
            </a:pPr>
            <a:r>
              <a:rPr spc="-125"/>
              <a:t>Byte</a:t>
            </a:r>
            <a:r>
              <a:rPr spc="-190"/>
              <a:t> </a:t>
            </a:r>
            <a:r>
              <a:rPr spc="-80"/>
              <a:t>Pair</a:t>
            </a:r>
            <a:r>
              <a:rPr spc="-185"/>
              <a:t> </a:t>
            </a:r>
            <a:r>
              <a:rPr spc="-140"/>
              <a:t>Encoding</a:t>
            </a:r>
            <a:r>
              <a:rPr spc="-185"/>
              <a:t> </a:t>
            </a:r>
            <a:r>
              <a:rPr spc="-130"/>
              <a:t>(BPE)</a:t>
            </a:r>
          </a:p>
        </p:txBody>
      </p:sp>
      <p:sp>
        <p:nvSpPr>
          <p:cNvPr id="7" name="object 7"/>
          <p:cNvSpPr txBox="1"/>
          <p:nvPr/>
        </p:nvSpPr>
        <p:spPr>
          <a:xfrm>
            <a:off x="4942882" y="7261010"/>
            <a:ext cx="167640" cy="179070"/>
          </a:xfrm>
          <a:prstGeom prst="rect">
            <a:avLst/>
          </a:prstGeom>
        </p:spPr>
        <p:txBody>
          <a:bodyPr vert="horz" wrap="square" lIns="0" tIns="13335" rIns="0" bIns="0" rtlCol="0">
            <a:spAutoFit/>
          </a:bodyPr>
          <a:lstStyle/>
          <a:p>
            <a:pPr marL="12700">
              <a:lnSpc>
                <a:spcPct val="100000"/>
              </a:lnSpc>
              <a:spcBef>
                <a:spcPts val="105"/>
              </a:spcBef>
            </a:pPr>
            <a:r>
              <a:rPr sz="1000" spc="-25">
                <a:latin typeface="Arial"/>
                <a:cs typeface="Arial"/>
              </a:rPr>
              <a:t>15</a:t>
            </a:r>
            <a:endParaRPr sz="1000">
              <a:latin typeface="Arial"/>
              <a:cs typeface="Arial"/>
            </a:endParaRPr>
          </a:p>
        </p:txBody>
      </p:sp>
      <p:sp>
        <p:nvSpPr>
          <p:cNvPr id="8" name="object 8"/>
          <p:cNvSpPr txBox="1"/>
          <p:nvPr/>
        </p:nvSpPr>
        <p:spPr>
          <a:xfrm>
            <a:off x="6144035" y="2305999"/>
            <a:ext cx="2842895" cy="379095"/>
          </a:xfrm>
          <a:prstGeom prst="rect">
            <a:avLst/>
          </a:prstGeom>
        </p:spPr>
        <p:txBody>
          <a:bodyPr vert="horz" wrap="square" lIns="0" tIns="15240" rIns="0" bIns="0" rtlCol="0">
            <a:spAutoFit/>
          </a:bodyPr>
          <a:lstStyle/>
          <a:p>
            <a:pPr marL="12700">
              <a:lnSpc>
                <a:spcPct val="100000"/>
              </a:lnSpc>
              <a:spcBef>
                <a:spcPts val="120"/>
              </a:spcBef>
            </a:pPr>
            <a:r>
              <a:rPr sz="2300" spc="590">
                <a:latin typeface="Cambria"/>
                <a:cs typeface="Cambria"/>
              </a:rPr>
              <a:t>𝒱</a:t>
            </a:r>
            <a:r>
              <a:rPr sz="2300" spc="140">
                <a:latin typeface="Cambria"/>
                <a:cs typeface="Cambria"/>
              </a:rPr>
              <a:t> </a:t>
            </a:r>
            <a:r>
              <a:rPr sz="2300" spc="305">
                <a:latin typeface="Cambria"/>
                <a:cs typeface="Cambria"/>
              </a:rPr>
              <a:t>=</a:t>
            </a:r>
            <a:r>
              <a:rPr sz="2300" spc="145">
                <a:latin typeface="Cambria"/>
                <a:cs typeface="Cambria"/>
              </a:rPr>
              <a:t> </a:t>
            </a:r>
            <a:r>
              <a:rPr sz="2300" spc="135">
                <a:latin typeface="Cambria"/>
                <a:cs typeface="Cambria"/>
              </a:rPr>
              <a:t>{</a:t>
            </a:r>
            <a:r>
              <a:rPr sz="2300" spc="135">
                <a:latin typeface="Arial"/>
                <a:cs typeface="Arial"/>
              </a:rPr>
              <a:t>b</a:t>
            </a:r>
            <a:r>
              <a:rPr sz="2300" spc="135">
                <a:latin typeface="Cambria"/>
                <a:cs typeface="Cambria"/>
              </a:rPr>
              <a:t>,</a:t>
            </a:r>
            <a:r>
              <a:rPr sz="2300" spc="-114">
                <a:latin typeface="Cambria"/>
                <a:cs typeface="Cambria"/>
              </a:rPr>
              <a:t> </a:t>
            </a:r>
            <a:r>
              <a:rPr sz="2300" spc="75">
                <a:latin typeface="Arial"/>
                <a:cs typeface="Arial"/>
              </a:rPr>
              <a:t>g</a:t>
            </a:r>
            <a:r>
              <a:rPr sz="2300" spc="75">
                <a:latin typeface="Cambria"/>
                <a:cs typeface="Cambria"/>
              </a:rPr>
              <a:t>,</a:t>
            </a:r>
            <a:r>
              <a:rPr sz="2300" spc="-120">
                <a:latin typeface="Cambria"/>
                <a:cs typeface="Cambria"/>
              </a:rPr>
              <a:t> </a:t>
            </a:r>
            <a:r>
              <a:rPr sz="2300" spc="55">
                <a:latin typeface="Arial"/>
                <a:cs typeface="Arial"/>
              </a:rPr>
              <a:t>h</a:t>
            </a:r>
            <a:r>
              <a:rPr sz="2300" spc="55">
                <a:latin typeface="Cambria"/>
                <a:cs typeface="Cambria"/>
              </a:rPr>
              <a:t>,</a:t>
            </a:r>
            <a:r>
              <a:rPr sz="2300" spc="-114">
                <a:latin typeface="Cambria"/>
                <a:cs typeface="Cambria"/>
              </a:rPr>
              <a:t> </a:t>
            </a:r>
            <a:r>
              <a:rPr sz="2300" spc="55">
                <a:latin typeface="Arial"/>
                <a:cs typeface="Arial"/>
              </a:rPr>
              <a:t>n</a:t>
            </a:r>
            <a:r>
              <a:rPr sz="2300" spc="55">
                <a:latin typeface="Cambria"/>
                <a:cs typeface="Cambria"/>
              </a:rPr>
              <a:t>,</a:t>
            </a:r>
            <a:r>
              <a:rPr sz="2300" spc="-114">
                <a:latin typeface="Cambria"/>
                <a:cs typeface="Cambria"/>
              </a:rPr>
              <a:t> </a:t>
            </a:r>
            <a:r>
              <a:rPr sz="2300" spc="95">
                <a:latin typeface="Arial"/>
                <a:cs typeface="Arial"/>
              </a:rPr>
              <a:t>p</a:t>
            </a:r>
            <a:r>
              <a:rPr sz="2300" spc="95">
                <a:latin typeface="Cambria"/>
                <a:cs typeface="Cambria"/>
              </a:rPr>
              <a:t>,</a:t>
            </a:r>
            <a:r>
              <a:rPr sz="2300" spc="-114">
                <a:latin typeface="Cambria"/>
                <a:cs typeface="Cambria"/>
              </a:rPr>
              <a:t> </a:t>
            </a:r>
            <a:r>
              <a:rPr sz="2300" spc="50">
                <a:latin typeface="Arial"/>
                <a:cs typeface="Arial"/>
              </a:rPr>
              <a:t>s</a:t>
            </a:r>
            <a:r>
              <a:rPr sz="2300" spc="50">
                <a:latin typeface="Cambria"/>
                <a:cs typeface="Cambria"/>
              </a:rPr>
              <a:t>,</a:t>
            </a:r>
            <a:r>
              <a:rPr sz="2300" spc="-114">
                <a:latin typeface="Cambria"/>
                <a:cs typeface="Cambria"/>
              </a:rPr>
              <a:t> </a:t>
            </a:r>
            <a:r>
              <a:rPr sz="2300" spc="90">
                <a:latin typeface="Arial"/>
                <a:cs typeface="Arial"/>
              </a:rPr>
              <a:t>u</a:t>
            </a:r>
            <a:r>
              <a:rPr sz="2300" spc="90">
                <a:latin typeface="Cambria"/>
                <a:cs typeface="Cambria"/>
              </a:rPr>
              <a:t>}</a:t>
            </a:r>
            <a:endParaRPr sz="2300">
              <a:latin typeface="Cambria"/>
              <a:cs typeface="Cambria"/>
            </a:endParaRPr>
          </a:p>
        </p:txBody>
      </p:sp>
      <p:sp>
        <p:nvSpPr>
          <p:cNvPr id="9" name="object 9"/>
          <p:cNvSpPr txBox="1"/>
          <p:nvPr/>
        </p:nvSpPr>
        <p:spPr>
          <a:xfrm>
            <a:off x="7513640" y="7144444"/>
            <a:ext cx="377190" cy="320675"/>
          </a:xfrm>
          <a:prstGeom prst="rect">
            <a:avLst/>
          </a:prstGeom>
        </p:spPr>
        <p:txBody>
          <a:bodyPr vert="vert" wrap="square" lIns="0" tIns="7620" rIns="0" bIns="0" rtlCol="0">
            <a:spAutoFit/>
          </a:bodyPr>
          <a:lstStyle/>
          <a:p>
            <a:pPr marL="12700">
              <a:lnSpc>
                <a:spcPct val="100000"/>
              </a:lnSpc>
              <a:spcBef>
                <a:spcPts val="60"/>
              </a:spcBef>
            </a:pPr>
            <a:r>
              <a:rPr sz="2300" b="1" spc="-50">
                <a:latin typeface="Arial"/>
                <a:cs typeface="Arial"/>
              </a:rPr>
              <a:t>…</a:t>
            </a:r>
            <a:endParaRPr sz="2300">
              <a:latin typeface="Arial"/>
              <a:cs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 name="object 9"/>
          <p:cNvSpPr txBox="1">
            <a:spLocks noGrp="1"/>
          </p:cNvSpPr>
          <p:nvPr>
            <p:ph type="sldNum" sz="quarter" idx="7"/>
          </p:nvPr>
        </p:nvSpPr>
        <p:spPr>
          <a:prstGeom prst="rect">
            <a:avLst/>
          </a:prstGeom>
        </p:spPr>
        <p:txBody>
          <a:bodyPr vert="horz" wrap="square" lIns="0" tIns="6985" rIns="0" bIns="0" rtlCol="0">
            <a:spAutoFit/>
          </a:bodyPr>
          <a:lstStyle/>
          <a:p>
            <a:pPr marL="38100">
              <a:lnSpc>
                <a:spcPct val="100000"/>
              </a:lnSpc>
              <a:spcBef>
                <a:spcPts val="55"/>
              </a:spcBef>
            </a:pPr>
            <a:fld id="{81D60167-4931-47E6-BA6A-407CBD079E47}" type="slidenum">
              <a:rPr spc="-25" dirty="0"/>
              <a:t>18</a:t>
            </a:fld>
            <a:endParaRPr spc="-25"/>
          </a:p>
        </p:txBody>
      </p:sp>
      <p:sp>
        <p:nvSpPr>
          <p:cNvPr id="10" name="object 10"/>
          <p:cNvSpPr txBox="1"/>
          <p:nvPr/>
        </p:nvSpPr>
        <p:spPr>
          <a:xfrm>
            <a:off x="5562139" y="7457345"/>
            <a:ext cx="4424680" cy="174625"/>
          </a:xfrm>
          <a:prstGeom prst="rect">
            <a:avLst/>
          </a:prstGeom>
        </p:spPr>
        <p:txBody>
          <a:bodyPr vert="horz" wrap="square" lIns="0" tIns="6985" rIns="0" bIns="0" rtlCol="0">
            <a:spAutoFit/>
          </a:bodyPr>
          <a:lstStyle/>
          <a:p>
            <a:pPr marL="12700">
              <a:lnSpc>
                <a:spcPct val="100000"/>
              </a:lnSpc>
              <a:spcBef>
                <a:spcPts val="55"/>
              </a:spcBef>
            </a:pPr>
            <a:r>
              <a:rPr sz="1000">
                <a:latin typeface="Arial"/>
                <a:cs typeface="Arial"/>
              </a:rPr>
              <a:t>Example</a:t>
            </a:r>
            <a:r>
              <a:rPr sz="1000" spc="290">
                <a:latin typeface="Arial"/>
                <a:cs typeface="Arial"/>
              </a:rPr>
              <a:t> </a:t>
            </a:r>
            <a:r>
              <a:rPr sz="1000">
                <a:latin typeface="Arial"/>
                <a:cs typeface="Arial"/>
              </a:rPr>
              <a:t>from:</a:t>
            </a:r>
            <a:r>
              <a:rPr sz="1000" spc="290">
                <a:latin typeface="Arial"/>
                <a:cs typeface="Arial"/>
              </a:rPr>
              <a:t> </a:t>
            </a:r>
            <a:r>
              <a:rPr sz="1000" u="sng" spc="-10">
                <a:uFill>
                  <a:solidFill>
                    <a:srgbClr val="000000"/>
                  </a:solidFill>
                </a:uFill>
                <a:latin typeface="Arial"/>
                <a:cs typeface="Arial"/>
                <a:hlinkClick r:id="rId2"/>
              </a:rPr>
              <a:t>https://huggingface.co/docs/transformers/tokenizer_summary</a:t>
            </a:r>
            <a:endParaRPr sz="1000">
              <a:latin typeface="Arial"/>
              <a:cs typeface="Arial"/>
            </a:endParaRPr>
          </a:p>
        </p:txBody>
      </p:sp>
      <p:graphicFrame>
        <p:nvGraphicFramePr>
          <p:cNvPr id="2" name="object 2"/>
          <p:cNvGraphicFramePr>
            <a:graphicFrameLocks noGrp="1"/>
          </p:cNvGraphicFramePr>
          <p:nvPr/>
        </p:nvGraphicFramePr>
        <p:xfrm>
          <a:off x="6021288" y="2983185"/>
          <a:ext cx="4036695" cy="4214495"/>
        </p:xfrm>
        <a:graphic>
          <a:graphicData uri="http://schemas.openxmlformats.org/drawingml/2006/table">
            <a:tbl>
              <a:tblPr firstRow="1" bandRow="1">
                <a:tableStyleId>{2D5ABB26-0587-4C30-8999-92F81FD0307C}</a:tableStyleId>
              </a:tblPr>
              <a:tblGrid>
                <a:gridCol w="1482090">
                  <a:extLst>
                    <a:ext uri="{9D8B030D-6E8A-4147-A177-3AD203B41FA5}">
                      <a16:colId xmlns:a16="http://schemas.microsoft.com/office/drawing/2014/main" val="20000"/>
                    </a:ext>
                  </a:extLst>
                </a:gridCol>
                <a:gridCol w="1586865">
                  <a:extLst>
                    <a:ext uri="{9D8B030D-6E8A-4147-A177-3AD203B41FA5}">
                      <a16:colId xmlns:a16="http://schemas.microsoft.com/office/drawing/2014/main" val="20001"/>
                    </a:ext>
                  </a:extLst>
                </a:gridCol>
                <a:gridCol w="967740">
                  <a:extLst>
                    <a:ext uri="{9D8B030D-6E8A-4147-A177-3AD203B41FA5}">
                      <a16:colId xmlns:a16="http://schemas.microsoft.com/office/drawing/2014/main" val="20002"/>
                    </a:ext>
                  </a:extLst>
                </a:gridCol>
              </a:tblGrid>
              <a:tr h="345440">
                <a:tc>
                  <a:txBody>
                    <a:bodyPr/>
                    <a:lstStyle/>
                    <a:p>
                      <a:pPr marL="52069" algn="ctr">
                        <a:lnSpc>
                          <a:spcPct val="100000"/>
                        </a:lnSpc>
                        <a:spcBef>
                          <a:spcPts val="395"/>
                        </a:spcBef>
                      </a:pPr>
                      <a:r>
                        <a:rPr sz="1600" b="1" spc="-20">
                          <a:latin typeface="Arial"/>
                          <a:cs typeface="Arial"/>
                        </a:rPr>
                        <a:t>Word</a:t>
                      </a:r>
                      <a:endParaRPr sz="1600">
                        <a:latin typeface="Arial"/>
                        <a:cs typeface="Arial"/>
                      </a:endParaRPr>
                    </a:p>
                  </a:txBody>
                  <a:tcPr marL="0" marR="0" marT="50165" marB="0">
                    <a:lnB w="12700">
                      <a:solidFill>
                        <a:srgbClr val="536773"/>
                      </a:solidFill>
                      <a:prstDash val="solid"/>
                    </a:lnB>
                    <a:solidFill>
                      <a:srgbClr val="56C1FF"/>
                    </a:solidFill>
                  </a:tcPr>
                </a:tc>
                <a:tc>
                  <a:txBody>
                    <a:bodyPr/>
                    <a:lstStyle/>
                    <a:p>
                      <a:pPr marL="52069" algn="ctr">
                        <a:lnSpc>
                          <a:spcPct val="100000"/>
                        </a:lnSpc>
                        <a:spcBef>
                          <a:spcPts val="395"/>
                        </a:spcBef>
                      </a:pPr>
                      <a:r>
                        <a:rPr sz="1600" b="1" spc="-10">
                          <a:latin typeface="Arial"/>
                          <a:cs typeface="Arial"/>
                        </a:rPr>
                        <a:t>Frequency</a:t>
                      </a:r>
                      <a:endParaRPr sz="1600">
                        <a:latin typeface="Arial"/>
                        <a:cs typeface="Arial"/>
                      </a:endParaRPr>
                    </a:p>
                  </a:txBody>
                  <a:tcPr marL="0" marR="0" marT="50165" marB="0">
                    <a:lnB w="12700">
                      <a:solidFill>
                        <a:srgbClr val="536773"/>
                      </a:solidFill>
                      <a:prstDash val="solid"/>
                    </a:lnB>
                    <a:solidFill>
                      <a:srgbClr val="56C1FF"/>
                    </a:solidFill>
                  </a:tcPr>
                </a:tc>
                <a:tc rowSpan="7">
                  <a:txBody>
                    <a:bodyPr/>
                    <a:lstStyle/>
                    <a:p>
                      <a:pPr>
                        <a:lnSpc>
                          <a:spcPct val="100000"/>
                        </a:lnSpc>
                      </a:pPr>
                      <a:endParaRPr sz="1700">
                        <a:latin typeface="Times New Roman"/>
                        <a:cs typeface="Times New Roman"/>
                      </a:endParaRPr>
                    </a:p>
                  </a:txBody>
                  <a:tcPr marL="0" marR="0" marT="0" marB="0"/>
                </a:tc>
                <a:extLst>
                  <a:ext uri="{0D108BD9-81ED-4DB2-BD59-A6C34878D82A}">
                    <a16:rowId xmlns:a16="http://schemas.microsoft.com/office/drawing/2014/main" val="10000"/>
                  </a:ext>
                </a:extLst>
              </a:tr>
              <a:tr h="345440">
                <a:tc>
                  <a:txBody>
                    <a:bodyPr/>
                    <a:lstStyle/>
                    <a:p>
                      <a:pPr marL="52069" algn="ctr">
                        <a:lnSpc>
                          <a:spcPct val="100000"/>
                        </a:lnSpc>
                        <a:spcBef>
                          <a:spcPts val="365"/>
                        </a:spcBef>
                      </a:pPr>
                      <a:r>
                        <a:rPr sz="1600" spc="-10">
                          <a:latin typeface="Arial"/>
                          <a:cs typeface="Arial"/>
                        </a:rPr>
                        <a:t>h+u+g</a:t>
                      </a:r>
                      <a:endParaRPr sz="1600">
                        <a:latin typeface="Arial"/>
                        <a:cs typeface="Arial"/>
                      </a:endParaRPr>
                    </a:p>
                  </a:txBody>
                  <a:tcPr marL="0" marR="0" marT="46355" marB="0">
                    <a:lnT w="12700">
                      <a:solidFill>
                        <a:srgbClr val="536773"/>
                      </a:solidFill>
                      <a:prstDash val="solid"/>
                    </a:lnT>
                  </a:tcPr>
                </a:tc>
                <a:tc>
                  <a:txBody>
                    <a:bodyPr/>
                    <a:lstStyle/>
                    <a:p>
                      <a:pPr marL="52069" algn="ctr">
                        <a:lnSpc>
                          <a:spcPct val="100000"/>
                        </a:lnSpc>
                        <a:spcBef>
                          <a:spcPts val="365"/>
                        </a:spcBef>
                      </a:pPr>
                      <a:r>
                        <a:rPr sz="1600" spc="-25">
                          <a:latin typeface="Arial"/>
                          <a:cs typeface="Arial"/>
                        </a:rPr>
                        <a:t>10</a:t>
                      </a:r>
                      <a:endParaRPr sz="1600">
                        <a:latin typeface="Arial"/>
                        <a:cs typeface="Arial"/>
                      </a:endParaRPr>
                    </a:p>
                  </a:txBody>
                  <a:tcPr marL="0" marR="0" marT="46355" marB="0">
                    <a:lnT w="12700">
                      <a:solidFill>
                        <a:srgbClr val="536773"/>
                      </a:solidFill>
                      <a:prstDash val="solid"/>
                    </a:lnT>
                  </a:tcPr>
                </a:tc>
                <a:tc vMerge="1">
                  <a:txBody>
                    <a:bodyPr/>
                    <a:lstStyle/>
                    <a:p>
                      <a:endParaRPr/>
                    </a:p>
                  </a:txBody>
                  <a:tcPr marL="0" marR="0" marT="0" marB="0"/>
                </a:tc>
                <a:extLst>
                  <a:ext uri="{0D108BD9-81ED-4DB2-BD59-A6C34878D82A}">
                    <a16:rowId xmlns:a16="http://schemas.microsoft.com/office/drawing/2014/main" val="10001"/>
                  </a:ext>
                </a:extLst>
              </a:tr>
              <a:tr h="345440">
                <a:tc>
                  <a:txBody>
                    <a:bodyPr/>
                    <a:lstStyle/>
                    <a:p>
                      <a:pPr marL="52069" algn="ctr">
                        <a:lnSpc>
                          <a:spcPct val="100000"/>
                        </a:lnSpc>
                        <a:spcBef>
                          <a:spcPts val="325"/>
                        </a:spcBef>
                      </a:pPr>
                      <a:r>
                        <a:rPr sz="1600" spc="-10">
                          <a:latin typeface="Arial"/>
                          <a:cs typeface="Arial"/>
                        </a:rPr>
                        <a:t>p+u+g</a:t>
                      </a:r>
                      <a:endParaRPr sz="1600">
                        <a:latin typeface="Arial"/>
                        <a:cs typeface="Arial"/>
                      </a:endParaRPr>
                    </a:p>
                  </a:txBody>
                  <a:tcPr marL="0" marR="0" marT="41275" marB="0">
                    <a:solidFill>
                      <a:srgbClr val="E3E5E8"/>
                    </a:solidFill>
                  </a:tcPr>
                </a:tc>
                <a:tc>
                  <a:txBody>
                    <a:bodyPr/>
                    <a:lstStyle/>
                    <a:p>
                      <a:pPr marL="52069" algn="ctr">
                        <a:lnSpc>
                          <a:spcPct val="100000"/>
                        </a:lnSpc>
                        <a:spcBef>
                          <a:spcPts val="325"/>
                        </a:spcBef>
                      </a:pPr>
                      <a:r>
                        <a:rPr sz="1600" spc="-50">
                          <a:latin typeface="Arial"/>
                          <a:cs typeface="Arial"/>
                        </a:rPr>
                        <a:t>5</a:t>
                      </a:r>
                      <a:endParaRPr sz="1600">
                        <a:latin typeface="Arial"/>
                        <a:cs typeface="Arial"/>
                      </a:endParaRPr>
                    </a:p>
                  </a:txBody>
                  <a:tcPr marL="0" marR="0" marT="41275" marB="0">
                    <a:solidFill>
                      <a:srgbClr val="E3E5E8"/>
                    </a:solidFill>
                  </a:tcPr>
                </a:tc>
                <a:tc vMerge="1">
                  <a:txBody>
                    <a:bodyPr/>
                    <a:lstStyle/>
                    <a:p>
                      <a:endParaRPr/>
                    </a:p>
                  </a:txBody>
                  <a:tcPr marL="0" marR="0" marT="0" marB="0"/>
                </a:tc>
                <a:extLst>
                  <a:ext uri="{0D108BD9-81ED-4DB2-BD59-A6C34878D82A}">
                    <a16:rowId xmlns:a16="http://schemas.microsoft.com/office/drawing/2014/main" val="10002"/>
                  </a:ext>
                </a:extLst>
              </a:tr>
              <a:tr h="345440">
                <a:tc>
                  <a:txBody>
                    <a:bodyPr/>
                    <a:lstStyle/>
                    <a:p>
                      <a:pPr marL="52069" algn="ctr">
                        <a:lnSpc>
                          <a:spcPct val="100000"/>
                        </a:lnSpc>
                        <a:spcBef>
                          <a:spcPts val="325"/>
                        </a:spcBef>
                      </a:pPr>
                      <a:r>
                        <a:rPr sz="1600" spc="-10">
                          <a:latin typeface="Arial"/>
                          <a:cs typeface="Arial"/>
                        </a:rPr>
                        <a:t>p+u+n</a:t>
                      </a:r>
                      <a:endParaRPr sz="1600">
                        <a:latin typeface="Arial"/>
                        <a:cs typeface="Arial"/>
                      </a:endParaRPr>
                    </a:p>
                  </a:txBody>
                  <a:tcPr marL="0" marR="0" marT="41275" marB="0"/>
                </a:tc>
                <a:tc>
                  <a:txBody>
                    <a:bodyPr/>
                    <a:lstStyle/>
                    <a:p>
                      <a:pPr marL="52069" algn="ctr">
                        <a:lnSpc>
                          <a:spcPct val="100000"/>
                        </a:lnSpc>
                        <a:spcBef>
                          <a:spcPts val="325"/>
                        </a:spcBef>
                      </a:pPr>
                      <a:r>
                        <a:rPr sz="1600" spc="-25">
                          <a:latin typeface="Arial"/>
                          <a:cs typeface="Arial"/>
                        </a:rPr>
                        <a:t>12</a:t>
                      </a:r>
                      <a:endParaRPr sz="1600">
                        <a:latin typeface="Arial"/>
                        <a:cs typeface="Arial"/>
                      </a:endParaRPr>
                    </a:p>
                  </a:txBody>
                  <a:tcPr marL="0" marR="0" marT="41275" marB="0"/>
                </a:tc>
                <a:tc vMerge="1">
                  <a:txBody>
                    <a:bodyPr/>
                    <a:lstStyle/>
                    <a:p>
                      <a:endParaRPr/>
                    </a:p>
                  </a:txBody>
                  <a:tcPr marL="0" marR="0" marT="0" marB="0"/>
                </a:tc>
                <a:extLst>
                  <a:ext uri="{0D108BD9-81ED-4DB2-BD59-A6C34878D82A}">
                    <a16:rowId xmlns:a16="http://schemas.microsoft.com/office/drawing/2014/main" val="10003"/>
                  </a:ext>
                </a:extLst>
              </a:tr>
              <a:tr h="345440">
                <a:tc>
                  <a:txBody>
                    <a:bodyPr/>
                    <a:lstStyle/>
                    <a:p>
                      <a:pPr marL="52069" algn="ctr">
                        <a:lnSpc>
                          <a:spcPct val="100000"/>
                        </a:lnSpc>
                        <a:spcBef>
                          <a:spcPts val="325"/>
                        </a:spcBef>
                      </a:pPr>
                      <a:r>
                        <a:rPr sz="1600" spc="-10">
                          <a:latin typeface="Arial"/>
                          <a:cs typeface="Arial"/>
                        </a:rPr>
                        <a:t>b+u+n</a:t>
                      </a:r>
                      <a:endParaRPr sz="1600">
                        <a:latin typeface="Arial"/>
                        <a:cs typeface="Arial"/>
                      </a:endParaRPr>
                    </a:p>
                  </a:txBody>
                  <a:tcPr marL="0" marR="0" marT="41275" marB="0">
                    <a:solidFill>
                      <a:srgbClr val="E3E5E8"/>
                    </a:solidFill>
                  </a:tcPr>
                </a:tc>
                <a:tc>
                  <a:txBody>
                    <a:bodyPr/>
                    <a:lstStyle/>
                    <a:p>
                      <a:pPr marL="52069" algn="ctr">
                        <a:lnSpc>
                          <a:spcPct val="100000"/>
                        </a:lnSpc>
                        <a:spcBef>
                          <a:spcPts val="325"/>
                        </a:spcBef>
                      </a:pPr>
                      <a:r>
                        <a:rPr sz="1600" spc="-50">
                          <a:latin typeface="Arial"/>
                          <a:cs typeface="Arial"/>
                        </a:rPr>
                        <a:t>4</a:t>
                      </a:r>
                      <a:endParaRPr sz="1600">
                        <a:latin typeface="Arial"/>
                        <a:cs typeface="Arial"/>
                      </a:endParaRPr>
                    </a:p>
                  </a:txBody>
                  <a:tcPr marL="0" marR="0" marT="41275" marB="0">
                    <a:solidFill>
                      <a:srgbClr val="E3E5E8"/>
                    </a:solidFill>
                  </a:tcPr>
                </a:tc>
                <a:tc vMerge="1">
                  <a:txBody>
                    <a:bodyPr/>
                    <a:lstStyle/>
                    <a:p>
                      <a:endParaRPr/>
                    </a:p>
                  </a:txBody>
                  <a:tcPr marL="0" marR="0" marT="0" marB="0"/>
                </a:tc>
                <a:extLst>
                  <a:ext uri="{0D108BD9-81ED-4DB2-BD59-A6C34878D82A}">
                    <a16:rowId xmlns:a16="http://schemas.microsoft.com/office/drawing/2014/main" val="10004"/>
                  </a:ext>
                </a:extLst>
              </a:tr>
              <a:tr h="440055">
                <a:tc>
                  <a:txBody>
                    <a:bodyPr/>
                    <a:lstStyle/>
                    <a:p>
                      <a:pPr marL="52069" algn="ctr">
                        <a:lnSpc>
                          <a:spcPct val="100000"/>
                        </a:lnSpc>
                        <a:spcBef>
                          <a:spcPts val="325"/>
                        </a:spcBef>
                      </a:pPr>
                      <a:r>
                        <a:rPr sz="1600" spc="-10">
                          <a:latin typeface="Arial"/>
                          <a:cs typeface="Arial"/>
                        </a:rPr>
                        <a:t>h+u+g+s</a:t>
                      </a:r>
                      <a:endParaRPr sz="1600">
                        <a:latin typeface="Arial"/>
                        <a:cs typeface="Arial"/>
                      </a:endParaRPr>
                    </a:p>
                  </a:txBody>
                  <a:tcPr marL="0" marR="0" marT="41275" marB="0"/>
                </a:tc>
                <a:tc>
                  <a:txBody>
                    <a:bodyPr/>
                    <a:lstStyle/>
                    <a:p>
                      <a:pPr marL="52069" algn="ctr">
                        <a:lnSpc>
                          <a:spcPct val="100000"/>
                        </a:lnSpc>
                        <a:spcBef>
                          <a:spcPts val="325"/>
                        </a:spcBef>
                      </a:pPr>
                      <a:r>
                        <a:rPr sz="1600" spc="-50">
                          <a:latin typeface="Arial"/>
                          <a:cs typeface="Arial"/>
                        </a:rPr>
                        <a:t>5</a:t>
                      </a:r>
                      <a:endParaRPr sz="1600">
                        <a:latin typeface="Arial"/>
                        <a:cs typeface="Arial"/>
                      </a:endParaRPr>
                    </a:p>
                  </a:txBody>
                  <a:tcPr marL="0" marR="0" marT="41275" marB="0"/>
                </a:tc>
                <a:tc vMerge="1">
                  <a:txBody>
                    <a:bodyPr/>
                    <a:lstStyle/>
                    <a:p>
                      <a:endParaRPr/>
                    </a:p>
                  </a:txBody>
                  <a:tcPr marL="0" marR="0" marT="0" marB="0"/>
                </a:tc>
                <a:extLst>
                  <a:ext uri="{0D108BD9-81ED-4DB2-BD59-A6C34878D82A}">
                    <a16:rowId xmlns:a16="http://schemas.microsoft.com/office/drawing/2014/main" val="10005"/>
                  </a:ext>
                </a:extLst>
              </a:tr>
              <a:tr h="345440">
                <a:tc>
                  <a:txBody>
                    <a:bodyPr/>
                    <a:lstStyle/>
                    <a:p>
                      <a:pPr marL="52069" algn="ctr">
                        <a:lnSpc>
                          <a:spcPct val="100000"/>
                        </a:lnSpc>
                        <a:spcBef>
                          <a:spcPts val="395"/>
                        </a:spcBef>
                      </a:pPr>
                      <a:r>
                        <a:rPr sz="1600" b="1" spc="-20">
                          <a:latin typeface="Arial"/>
                          <a:cs typeface="Arial"/>
                        </a:rPr>
                        <a:t>Pair</a:t>
                      </a:r>
                      <a:endParaRPr sz="1600">
                        <a:latin typeface="Arial"/>
                        <a:cs typeface="Arial"/>
                      </a:endParaRPr>
                    </a:p>
                  </a:txBody>
                  <a:tcPr marL="0" marR="0" marT="50165" marB="0">
                    <a:lnB w="12700">
                      <a:solidFill>
                        <a:srgbClr val="536773"/>
                      </a:solidFill>
                      <a:prstDash val="solid"/>
                    </a:lnB>
                    <a:solidFill>
                      <a:srgbClr val="56C1FF"/>
                    </a:solidFill>
                  </a:tcPr>
                </a:tc>
                <a:tc>
                  <a:txBody>
                    <a:bodyPr/>
                    <a:lstStyle/>
                    <a:p>
                      <a:pPr marL="52069" algn="ctr">
                        <a:lnSpc>
                          <a:spcPct val="100000"/>
                        </a:lnSpc>
                        <a:spcBef>
                          <a:spcPts val="395"/>
                        </a:spcBef>
                      </a:pPr>
                      <a:r>
                        <a:rPr sz="1600" b="1" spc="-10">
                          <a:latin typeface="Arial"/>
                          <a:cs typeface="Arial"/>
                        </a:rPr>
                        <a:t>Frequency</a:t>
                      </a:r>
                      <a:endParaRPr sz="1600">
                        <a:latin typeface="Arial"/>
                        <a:cs typeface="Arial"/>
                      </a:endParaRPr>
                    </a:p>
                  </a:txBody>
                  <a:tcPr marL="0" marR="0" marT="50165" marB="0">
                    <a:lnB w="12700">
                      <a:solidFill>
                        <a:srgbClr val="536773"/>
                      </a:solidFill>
                      <a:prstDash val="solid"/>
                    </a:lnB>
                    <a:solidFill>
                      <a:srgbClr val="56C1FF"/>
                    </a:solidFill>
                  </a:tcPr>
                </a:tc>
                <a:tc vMerge="1">
                  <a:txBody>
                    <a:bodyPr/>
                    <a:lstStyle/>
                    <a:p>
                      <a:endParaRPr/>
                    </a:p>
                  </a:txBody>
                  <a:tcPr marL="0" marR="0" marT="0" marB="0"/>
                </a:tc>
                <a:extLst>
                  <a:ext uri="{0D108BD9-81ED-4DB2-BD59-A6C34878D82A}">
                    <a16:rowId xmlns:a16="http://schemas.microsoft.com/office/drawing/2014/main" val="10006"/>
                  </a:ext>
                </a:extLst>
              </a:tr>
              <a:tr h="345440">
                <a:tc>
                  <a:txBody>
                    <a:bodyPr/>
                    <a:lstStyle/>
                    <a:p>
                      <a:pPr marL="52069" algn="ctr">
                        <a:lnSpc>
                          <a:spcPct val="100000"/>
                        </a:lnSpc>
                        <a:spcBef>
                          <a:spcPts val="365"/>
                        </a:spcBef>
                      </a:pPr>
                      <a:r>
                        <a:rPr sz="1600" spc="-25">
                          <a:latin typeface="Arial"/>
                          <a:cs typeface="Arial"/>
                        </a:rPr>
                        <a:t>u+g</a:t>
                      </a:r>
                      <a:endParaRPr sz="1600">
                        <a:latin typeface="Arial"/>
                        <a:cs typeface="Arial"/>
                      </a:endParaRPr>
                    </a:p>
                  </a:txBody>
                  <a:tcPr marL="0" marR="0" marT="46355" marB="0">
                    <a:lnT w="12700">
                      <a:solidFill>
                        <a:srgbClr val="536773"/>
                      </a:solidFill>
                      <a:prstDash val="solid"/>
                    </a:lnT>
                    <a:solidFill>
                      <a:srgbClr val="FFD932">
                        <a:alpha val="42759"/>
                      </a:srgbClr>
                    </a:solidFill>
                  </a:tcPr>
                </a:tc>
                <a:tc>
                  <a:txBody>
                    <a:bodyPr/>
                    <a:lstStyle/>
                    <a:p>
                      <a:pPr marL="52069" algn="ctr">
                        <a:lnSpc>
                          <a:spcPct val="100000"/>
                        </a:lnSpc>
                        <a:spcBef>
                          <a:spcPts val="365"/>
                        </a:spcBef>
                      </a:pPr>
                      <a:r>
                        <a:rPr sz="1600" spc="-25">
                          <a:latin typeface="Arial"/>
                          <a:cs typeface="Arial"/>
                        </a:rPr>
                        <a:t>20</a:t>
                      </a:r>
                      <a:endParaRPr sz="1600">
                        <a:latin typeface="Arial"/>
                        <a:cs typeface="Arial"/>
                      </a:endParaRPr>
                    </a:p>
                  </a:txBody>
                  <a:tcPr marL="0" marR="0" marT="46355" marB="0">
                    <a:lnT w="12700">
                      <a:solidFill>
                        <a:srgbClr val="536773"/>
                      </a:solidFill>
                      <a:prstDash val="solid"/>
                    </a:lnT>
                    <a:solidFill>
                      <a:srgbClr val="FFD932">
                        <a:alpha val="42759"/>
                      </a:srgbClr>
                    </a:solidFill>
                  </a:tcPr>
                </a:tc>
                <a:tc>
                  <a:txBody>
                    <a:bodyPr/>
                    <a:lstStyle/>
                    <a:p>
                      <a:pPr>
                        <a:lnSpc>
                          <a:spcPct val="100000"/>
                        </a:lnSpc>
                      </a:pPr>
                      <a:endParaRPr sz="1700">
                        <a:latin typeface="Times New Roman"/>
                        <a:cs typeface="Times New Roman"/>
                      </a:endParaRPr>
                    </a:p>
                  </a:txBody>
                  <a:tcPr marL="0" marR="0" marT="0" marB="0">
                    <a:solidFill>
                      <a:srgbClr val="FFD932">
                        <a:alpha val="42759"/>
                      </a:srgbClr>
                    </a:solidFill>
                  </a:tcPr>
                </a:tc>
                <a:extLst>
                  <a:ext uri="{0D108BD9-81ED-4DB2-BD59-A6C34878D82A}">
                    <a16:rowId xmlns:a16="http://schemas.microsoft.com/office/drawing/2014/main" val="10007"/>
                  </a:ext>
                </a:extLst>
              </a:tr>
              <a:tr h="345440">
                <a:tc>
                  <a:txBody>
                    <a:bodyPr/>
                    <a:lstStyle/>
                    <a:p>
                      <a:pPr marL="52069" algn="ctr">
                        <a:lnSpc>
                          <a:spcPct val="100000"/>
                        </a:lnSpc>
                        <a:spcBef>
                          <a:spcPts val="325"/>
                        </a:spcBef>
                      </a:pPr>
                      <a:r>
                        <a:rPr sz="1600" spc="-25">
                          <a:latin typeface="Arial"/>
                          <a:cs typeface="Arial"/>
                        </a:rPr>
                        <a:t>p+u</a:t>
                      </a:r>
                      <a:endParaRPr sz="1600">
                        <a:latin typeface="Arial"/>
                        <a:cs typeface="Arial"/>
                      </a:endParaRPr>
                    </a:p>
                  </a:txBody>
                  <a:tcPr marL="0" marR="0" marT="41275" marB="0">
                    <a:solidFill>
                      <a:srgbClr val="E3E5E8"/>
                    </a:solidFill>
                  </a:tcPr>
                </a:tc>
                <a:tc>
                  <a:txBody>
                    <a:bodyPr/>
                    <a:lstStyle/>
                    <a:p>
                      <a:pPr marL="52069" algn="ctr">
                        <a:lnSpc>
                          <a:spcPct val="100000"/>
                        </a:lnSpc>
                        <a:spcBef>
                          <a:spcPts val="325"/>
                        </a:spcBef>
                      </a:pPr>
                      <a:r>
                        <a:rPr sz="1600" spc="-25">
                          <a:latin typeface="Arial"/>
                          <a:cs typeface="Arial"/>
                        </a:rPr>
                        <a:t>17</a:t>
                      </a:r>
                      <a:endParaRPr sz="1600">
                        <a:latin typeface="Arial"/>
                        <a:cs typeface="Arial"/>
                      </a:endParaRPr>
                    </a:p>
                  </a:txBody>
                  <a:tcPr marL="0" marR="0" marT="41275" marB="0">
                    <a:solidFill>
                      <a:srgbClr val="E3E5E8"/>
                    </a:solidFill>
                  </a:tcPr>
                </a:tc>
                <a:tc>
                  <a:txBody>
                    <a:bodyPr/>
                    <a:lstStyle/>
                    <a:p>
                      <a:pPr>
                        <a:lnSpc>
                          <a:spcPct val="100000"/>
                        </a:lnSpc>
                      </a:pPr>
                      <a:endParaRPr sz="1700">
                        <a:latin typeface="Times New Roman"/>
                        <a:cs typeface="Times New Roman"/>
                      </a:endParaRPr>
                    </a:p>
                  </a:txBody>
                  <a:tcPr marL="0" marR="0" marT="0" marB="0"/>
                </a:tc>
                <a:extLst>
                  <a:ext uri="{0D108BD9-81ED-4DB2-BD59-A6C34878D82A}">
                    <a16:rowId xmlns:a16="http://schemas.microsoft.com/office/drawing/2014/main" val="10008"/>
                  </a:ext>
                </a:extLst>
              </a:tr>
              <a:tr h="345440">
                <a:tc>
                  <a:txBody>
                    <a:bodyPr/>
                    <a:lstStyle/>
                    <a:p>
                      <a:pPr marL="52069" algn="ctr">
                        <a:lnSpc>
                          <a:spcPct val="100000"/>
                        </a:lnSpc>
                        <a:spcBef>
                          <a:spcPts val="325"/>
                        </a:spcBef>
                      </a:pPr>
                      <a:r>
                        <a:rPr sz="1600" spc="-25">
                          <a:latin typeface="Arial"/>
                          <a:cs typeface="Arial"/>
                        </a:rPr>
                        <a:t>u+n</a:t>
                      </a:r>
                      <a:endParaRPr sz="1600">
                        <a:latin typeface="Arial"/>
                        <a:cs typeface="Arial"/>
                      </a:endParaRPr>
                    </a:p>
                  </a:txBody>
                  <a:tcPr marL="0" marR="0" marT="41275" marB="0"/>
                </a:tc>
                <a:tc>
                  <a:txBody>
                    <a:bodyPr/>
                    <a:lstStyle/>
                    <a:p>
                      <a:pPr marL="52069" algn="ctr">
                        <a:lnSpc>
                          <a:spcPct val="100000"/>
                        </a:lnSpc>
                        <a:spcBef>
                          <a:spcPts val="325"/>
                        </a:spcBef>
                      </a:pPr>
                      <a:r>
                        <a:rPr sz="1600" spc="-25">
                          <a:latin typeface="Arial"/>
                          <a:cs typeface="Arial"/>
                        </a:rPr>
                        <a:t>16</a:t>
                      </a:r>
                      <a:endParaRPr sz="1600">
                        <a:latin typeface="Arial"/>
                        <a:cs typeface="Arial"/>
                      </a:endParaRPr>
                    </a:p>
                  </a:txBody>
                  <a:tcPr marL="0" marR="0" marT="41275" marB="0"/>
                </a:tc>
                <a:tc>
                  <a:txBody>
                    <a:bodyPr/>
                    <a:lstStyle/>
                    <a:p>
                      <a:pPr>
                        <a:lnSpc>
                          <a:spcPct val="100000"/>
                        </a:lnSpc>
                      </a:pPr>
                      <a:endParaRPr sz="1700">
                        <a:latin typeface="Times New Roman"/>
                        <a:cs typeface="Times New Roman"/>
                      </a:endParaRPr>
                    </a:p>
                  </a:txBody>
                  <a:tcPr marL="0" marR="0" marT="0" marB="0"/>
                </a:tc>
                <a:extLst>
                  <a:ext uri="{0D108BD9-81ED-4DB2-BD59-A6C34878D82A}">
                    <a16:rowId xmlns:a16="http://schemas.microsoft.com/office/drawing/2014/main" val="10009"/>
                  </a:ext>
                </a:extLst>
              </a:tr>
              <a:tr h="345440">
                <a:tc>
                  <a:txBody>
                    <a:bodyPr/>
                    <a:lstStyle/>
                    <a:p>
                      <a:pPr marL="52069" algn="ctr">
                        <a:lnSpc>
                          <a:spcPct val="100000"/>
                        </a:lnSpc>
                        <a:spcBef>
                          <a:spcPts val="325"/>
                        </a:spcBef>
                      </a:pPr>
                      <a:r>
                        <a:rPr sz="1600" spc="-25">
                          <a:latin typeface="Arial"/>
                          <a:cs typeface="Arial"/>
                        </a:rPr>
                        <a:t>h+u</a:t>
                      </a:r>
                      <a:endParaRPr sz="1600">
                        <a:latin typeface="Arial"/>
                        <a:cs typeface="Arial"/>
                      </a:endParaRPr>
                    </a:p>
                  </a:txBody>
                  <a:tcPr marL="0" marR="0" marT="41275" marB="0">
                    <a:solidFill>
                      <a:srgbClr val="E3E5E8"/>
                    </a:solidFill>
                  </a:tcPr>
                </a:tc>
                <a:tc>
                  <a:txBody>
                    <a:bodyPr/>
                    <a:lstStyle/>
                    <a:p>
                      <a:pPr marL="52069" algn="ctr">
                        <a:lnSpc>
                          <a:spcPct val="100000"/>
                        </a:lnSpc>
                        <a:spcBef>
                          <a:spcPts val="325"/>
                        </a:spcBef>
                      </a:pPr>
                      <a:r>
                        <a:rPr sz="1600" spc="-25">
                          <a:latin typeface="Arial"/>
                          <a:cs typeface="Arial"/>
                        </a:rPr>
                        <a:t>15</a:t>
                      </a:r>
                      <a:endParaRPr sz="1600">
                        <a:latin typeface="Arial"/>
                        <a:cs typeface="Arial"/>
                      </a:endParaRPr>
                    </a:p>
                  </a:txBody>
                  <a:tcPr marL="0" marR="0" marT="41275" marB="0">
                    <a:solidFill>
                      <a:srgbClr val="E3E5E8"/>
                    </a:solidFill>
                  </a:tcPr>
                </a:tc>
                <a:tc>
                  <a:txBody>
                    <a:bodyPr/>
                    <a:lstStyle/>
                    <a:p>
                      <a:pPr>
                        <a:lnSpc>
                          <a:spcPct val="100000"/>
                        </a:lnSpc>
                      </a:pPr>
                      <a:endParaRPr sz="1700">
                        <a:latin typeface="Times New Roman"/>
                        <a:cs typeface="Times New Roman"/>
                      </a:endParaRPr>
                    </a:p>
                  </a:txBody>
                  <a:tcPr marL="0" marR="0" marT="0" marB="0"/>
                </a:tc>
                <a:extLst>
                  <a:ext uri="{0D108BD9-81ED-4DB2-BD59-A6C34878D82A}">
                    <a16:rowId xmlns:a16="http://schemas.microsoft.com/office/drawing/2014/main" val="10010"/>
                  </a:ext>
                </a:extLst>
              </a:tr>
              <a:tr h="320040">
                <a:tc>
                  <a:txBody>
                    <a:bodyPr/>
                    <a:lstStyle/>
                    <a:p>
                      <a:pPr marL="52069" algn="ctr">
                        <a:lnSpc>
                          <a:spcPct val="100000"/>
                        </a:lnSpc>
                        <a:spcBef>
                          <a:spcPts val="325"/>
                        </a:spcBef>
                      </a:pPr>
                      <a:r>
                        <a:rPr sz="1600" spc="-25">
                          <a:latin typeface="Arial"/>
                          <a:cs typeface="Arial"/>
                        </a:rPr>
                        <a:t>g+s</a:t>
                      </a:r>
                      <a:endParaRPr sz="1600">
                        <a:latin typeface="Arial"/>
                        <a:cs typeface="Arial"/>
                      </a:endParaRPr>
                    </a:p>
                  </a:txBody>
                  <a:tcPr marL="0" marR="0" marT="41275" marB="0"/>
                </a:tc>
                <a:tc>
                  <a:txBody>
                    <a:bodyPr/>
                    <a:lstStyle/>
                    <a:p>
                      <a:pPr marL="52069" algn="ctr">
                        <a:lnSpc>
                          <a:spcPct val="100000"/>
                        </a:lnSpc>
                        <a:spcBef>
                          <a:spcPts val="325"/>
                        </a:spcBef>
                      </a:pPr>
                      <a:r>
                        <a:rPr sz="1600" spc="-50">
                          <a:latin typeface="Arial"/>
                          <a:cs typeface="Arial"/>
                        </a:rPr>
                        <a:t>5</a:t>
                      </a:r>
                      <a:endParaRPr sz="1600">
                        <a:latin typeface="Arial"/>
                        <a:cs typeface="Arial"/>
                      </a:endParaRPr>
                    </a:p>
                  </a:txBody>
                  <a:tcPr marL="0" marR="0" marT="41275" marB="0"/>
                </a:tc>
                <a:tc>
                  <a:txBody>
                    <a:bodyPr/>
                    <a:lstStyle/>
                    <a:p>
                      <a:pPr>
                        <a:lnSpc>
                          <a:spcPct val="100000"/>
                        </a:lnSpc>
                      </a:pPr>
                      <a:endParaRPr sz="1700">
                        <a:latin typeface="Times New Roman"/>
                        <a:cs typeface="Times New Roman"/>
                      </a:endParaRPr>
                    </a:p>
                  </a:txBody>
                  <a:tcPr marL="0" marR="0" marT="0" marB="0"/>
                </a:tc>
                <a:extLst>
                  <a:ext uri="{0D108BD9-81ED-4DB2-BD59-A6C34878D82A}">
                    <a16:rowId xmlns:a16="http://schemas.microsoft.com/office/drawing/2014/main" val="10011"/>
                  </a:ext>
                </a:extLst>
              </a:tr>
            </a:tbl>
          </a:graphicData>
        </a:graphic>
      </p:graphicFrame>
      <p:sp>
        <p:nvSpPr>
          <p:cNvPr id="3" name="object 3"/>
          <p:cNvSpPr txBox="1"/>
          <p:nvPr/>
        </p:nvSpPr>
        <p:spPr>
          <a:xfrm>
            <a:off x="566836" y="2416754"/>
            <a:ext cx="4409440" cy="3304540"/>
          </a:xfrm>
          <a:prstGeom prst="rect">
            <a:avLst/>
          </a:prstGeom>
        </p:spPr>
        <p:txBody>
          <a:bodyPr vert="horz" wrap="square" lIns="0" tIns="39370" rIns="0" bIns="0" rtlCol="0">
            <a:spAutoFit/>
          </a:bodyPr>
          <a:lstStyle/>
          <a:p>
            <a:pPr marL="233679" marR="276860" indent="-221615">
              <a:lnSpc>
                <a:spcPct val="91700"/>
              </a:lnSpc>
              <a:spcBef>
                <a:spcPts val="310"/>
              </a:spcBef>
              <a:buSzPct val="102380"/>
              <a:buFont typeface="Arial"/>
              <a:buChar char="•"/>
              <a:tabLst>
                <a:tab pos="233679" algn="l"/>
              </a:tabLst>
            </a:pPr>
            <a:r>
              <a:rPr sz="2100" spc="525">
                <a:latin typeface="Cambria"/>
                <a:cs typeface="Cambria"/>
              </a:rPr>
              <a:t>𝒱</a:t>
            </a:r>
            <a:r>
              <a:rPr sz="2100" spc="110">
                <a:latin typeface="Cambria"/>
                <a:cs typeface="Cambria"/>
              </a:rPr>
              <a:t> </a:t>
            </a:r>
            <a:r>
              <a:rPr sz="2100" spc="175">
                <a:latin typeface="Cambria"/>
                <a:cs typeface="Cambria"/>
              </a:rPr>
              <a:t>←</a:t>
            </a:r>
            <a:r>
              <a:rPr sz="2100" spc="110">
                <a:latin typeface="Cambria"/>
                <a:cs typeface="Cambria"/>
              </a:rPr>
              <a:t> </a:t>
            </a:r>
            <a:r>
              <a:rPr sz="1750">
                <a:latin typeface="Arial"/>
                <a:cs typeface="Arial"/>
              </a:rPr>
              <a:t>All</a:t>
            </a:r>
            <a:r>
              <a:rPr sz="1750" spc="-10">
                <a:latin typeface="Arial"/>
                <a:cs typeface="Arial"/>
              </a:rPr>
              <a:t> </a:t>
            </a:r>
            <a:r>
              <a:rPr sz="1750">
                <a:latin typeface="Arial"/>
                <a:cs typeface="Arial"/>
              </a:rPr>
              <a:t>characters</a:t>
            </a:r>
            <a:r>
              <a:rPr sz="1750" spc="-10">
                <a:latin typeface="Arial"/>
                <a:cs typeface="Arial"/>
              </a:rPr>
              <a:t> </a:t>
            </a:r>
            <a:r>
              <a:rPr sz="1750">
                <a:latin typeface="Arial"/>
                <a:cs typeface="Arial"/>
              </a:rPr>
              <a:t>in</a:t>
            </a:r>
            <a:r>
              <a:rPr sz="1750" spc="-15">
                <a:latin typeface="Arial"/>
                <a:cs typeface="Arial"/>
              </a:rPr>
              <a:t> </a:t>
            </a:r>
            <a:r>
              <a:rPr sz="1750">
                <a:latin typeface="Arial"/>
                <a:cs typeface="Arial"/>
              </a:rPr>
              <a:t>the</a:t>
            </a:r>
            <a:r>
              <a:rPr sz="1750" spc="-10">
                <a:latin typeface="Arial"/>
                <a:cs typeface="Arial"/>
              </a:rPr>
              <a:t> </a:t>
            </a:r>
            <a:r>
              <a:rPr sz="1750">
                <a:latin typeface="Arial"/>
                <a:cs typeface="Arial"/>
              </a:rPr>
              <a:t>training</a:t>
            </a:r>
            <a:r>
              <a:rPr sz="1750" spc="-10">
                <a:latin typeface="Arial"/>
                <a:cs typeface="Arial"/>
              </a:rPr>
              <a:t> </a:t>
            </a:r>
            <a:r>
              <a:rPr sz="1750" spc="-20">
                <a:latin typeface="Arial"/>
                <a:cs typeface="Arial"/>
              </a:rPr>
              <a:t>data </a:t>
            </a:r>
            <a:r>
              <a:rPr sz="1750" spc="-45">
                <a:latin typeface="Arial"/>
                <a:cs typeface="Arial"/>
              </a:rPr>
              <a:t>(as</a:t>
            </a:r>
            <a:r>
              <a:rPr sz="1750" spc="-55">
                <a:latin typeface="Arial"/>
                <a:cs typeface="Arial"/>
              </a:rPr>
              <a:t> </a:t>
            </a:r>
            <a:r>
              <a:rPr sz="1750">
                <a:latin typeface="Arial"/>
                <a:cs typeface="Arial"/>
              </a:rPr>
              <a:t>base</a:t>
            </a:r>
            <a:r>
              <a:rPr sz="1750" spc="-55">
                <a:latin typeface="Arial"/>
                <a:cs typeface="Arial"/>
              </a:rPr>
              <a:t> </a:t>
            </a:r>
            <a:r>
              <a:rPr sz="1750" b="1" spc="-10">
                <a:latin typeface="Arial"/>
                <a:cs typeface="Arial"/>
              </a:rPr>
              <a:t>tokens</a:t>
            </a:r>
            <a:r>
              <a:rPr sz="1750" spc="-10">
                <a:latin typeface="Arial"/>
                <a:cs typeface="Arial"/>
              </a:rPr>
              <a:t>)</a:t>
            </a:r>
            <a:endParaRPr sz="1750">
              <a:latin typeface="Arial"/>
              <a:cs typeface="Arial"/>
            </a:endParaRPr>
          </a:p>
          <a:p>
            <a:pPr marL="233679" indent="-220979">
              <a:lnSpc>
                <a:spcPct val="100000"/>
              </a:lnSpc>
              <a:spcBef>
                <a:spcPts val="1625"/>
              </a:spcBef>
              <a:buSzPct val="122857"/>
              <a:buChar char="•"/>
              <a:tabLst>
                <a:tab pos="233679" algn="l"/>
              </a:tabLst>
            </a:pPr>
            <a:r>
              <a:rPr sz="1750">
                <a:latin typeface="Arial"/>
                <a:cs typeface="Arial"/>
              </a:rPr>
              <a:t>For</a:t>
            </a:r>
            <a:r>
              <a:rPr sz="1750" spc="-50">
                <a:latin typeface="Arial"/>
                <a:cs typeface="Arial"/>
              </a:rPr>
              <a:t> </a:t>
            </a:r>
            <a:r>
              <a:rPr sz="2100" i="1">
                <a:latin typeface="Times New Roman"/>
                <a:cs typeface="Times New Roman"/>
              </a:rPr>
              <a:t>k</a:t>
            </a:r>
            <a:r>
              <a:rPr sz="2100" i="1" spc="-90">
                <a:latin typeface="Times New Roman"/>
                <a:cs typeface="Times New Roman"/>
              </a:rPr>
              <a:t> </a:t>
            </a:r>
            <a:r>
              <a:rPr sz="1750" spc="-10">
                <a:latin typeface="Arial"/>
                <a:cs typeface="Arial"/>
              </a:rPr>
              <a:t>steps:</a:t>
            </a:r>
            <a:endParaRPr sz="1750">
              <a:latin typeface="Arial"/>
              <a:cs typeface="Arial"/>
            </a:endParaRPr>
          </a:p>
          <a:p>
            <a:pPr marL="528320" marR="257810" lvl="1" indent="-221615">
              <a:lnSpc>
                <a:spcPct val="86400"/>
              </a:lnSpc>
              <a:spcBef>
                <a:spcPts val="1555"/>
              </a:spcBef>
              <a:buSzPct val="122857"/>
              <a:buChar char="-"/>
              <a:tabLst>
                <a:tab pos="528320" algn="l"/>
              </a:tabLst>
            </a:pPr>
            <a:r>
              <a:rPr sz="1750" spc="-40">
                <a:latin typeface="Arial"/>
                <a:cs typeface="Arial"/>
              </a:rPr>
              <a:t>Tokenize</a:t>
            </a:r>
            <a:r>
              <a:rPr sz="1750" spc="-5">
                <a:latin typeface="Arial"/>
                <a:cs typeface="Arial"/>
              </a:rPr>
              <a:t> </a:t>
            </a:r>
            <a:r>
              <a:rPr sz="1750">
                <a:latin typeface="Arial"/>
                <a:cs typeface="Arial"/>
              </a:rPr>
              <a:t>the</a:t>
            </a:r>
            <a:r>
              <a:rPr sz="1750" spc="-5">
                <a:latin typeface="Arial"/>
                <a:cs typeface="Arial"/>
              </a:rPr>
              <a:t> </a:t>
            </a:r>
            <a:r>
              <a:rPr sz="1750">
                <a:latin typeface="Arial"/>
                <a:cs typeface="Arial"/>
              </a:rPr>
              <a:t>data,</a:t>
            </a:r>
            <a:r>
              <a:rPr sz="1750" spc="-5">
                <a:latin typeface="Arial"/>
                <a:cs typeface="Arial"/>
              </a:rPr>
              <a:t> </a:t>
            </a:r>
            <a:r>
              <a:rPr sz="1750">
                <a:latin typeface="Arial"/>
                <a:cs typeface="Arial"/>
              </a:rPr>
              <a:t>taking</a:t>
            </a:r>
            <a:r>
              <a:rPr sz="1750" spc="-5">
                <a:latin typeface="Arial"/>
                <a:cs typeface="Arial"/>
              </a:rPr>
              <a:t> </a:t>
            </a:r>
            <a:r>
              <a:rPr sz="1750">
                <a:latin typeface="Arial"/>
                <a:cs typeface="Arial"/>
              </a:rPr>
              <a:t>the</a:t>
            </a:r>
            <a:r>
              <a:rPr sz="1750" spc="-5">
                <a:latin typeface="Arial"/>
                <a:cs typeface="Arial"/>
              </a:rPr>
              <a:t> </a:t>
            </a:r>
            <a:r>
              <a:rPr sz="1750" spc="-10">
                <a:latin typeface="Arial"/>
                <a:cs typeface="Arial"/>
              </a:rPr>
              <a:t>longest </a:t>
            </a:r>
            <a:r>
              <a:rPr sz="1750">
                <a:latin typeface="Arial"/>
                <a:cs typeface="Arial"/>
              </a:rPr>
              <a:t>prefix</a:t>
            </a:r>
            <a:r>
              <a:rPr sz="1750" spc="-20">
                <a:latin typeface="Arial"/>
                <a:cs typeface="Arial"/>
              </a:rPr>
              <a:t> </a:t>
            </a:r>
            <a:r>
              <a:rPr sz="1750">
                <a:latin typeface="Arial"/>
                <a:cs typeface="Arial"/>
              </a:rPr>
              <a:t>each</a:t>
            </a:r>
            <a:r>
              <a:rPr sz="1750" spc="-15">
                <a:latin typeface="Arial"/>
                <a:cs typeface="Arial"/>
              </a:rPr>
              <a:t> </a:t>
            </a:r>
            <a:r>
              <a:rPr sz="1750" spc="-20">
                <a:latin typeface="Arial"/>
                <a:cs typeface="Arial"/>
              </a:rPr>
              <a:t>time</a:t>
            </a:r>
            <a:endParaRPr sz="1750">
              <a:latin typeface="Arial"/>
              <a:cs typeface="Arial"/>
            </a:endParaRPr>
          </a:p>
          <a:p>
            <a:pPr marL="528320" marR="81915" lvl="1" indent="-221615">
              <a:lnSpc>
                <a:spcPct val="86400"/>
              </a:lnSpc>
              <a:spcBef>
                <a:spcPts val="1595"/>
              </a:spcBef>
              <a:buSzPct val="122857"/>
              <a:buChar char="-"/>
              <a:tabLst>
                <a:tab pos="528320" algn="l"/>
              </a:tabLst>
            </a:pPr>
            <a:r>
              <a:rPr sz="1750">
                <a:latin typeface="Arial"/>
                <a:cs typeface="Arial"/>
              </a:rPr>
              <a:t>Count</a:t>
            </a:r>
            <a:r>
              <a:rPr sz="1750" spc="5">
                <a:latin typeface="Arial"/>
                <a:cs typeface="Arial"/>
              </a:rPr>
              <a:t> </a:t>
            </a:r>
            <a:r>
              <a:rPr sz="1750">
                <a:latin typeface="Arial"/>
                <a:cs typeface="Arial"/>
              </a:rPr>
              <a:t>the</a:t>
            </a:r>
            <a:r>
              <a:rPr sz="1750" spc="10">
                <a:latin typeface="Arial"/>
                <a:cs typeface="Arial"/>
              </a:rPr>
              <a:t> </a:t>
            </a:r>
            <a:r>
              <a:rPr sz="1750">
                <a:latin typeface="Arial"/>
                <a:cs typeface="Arial"/>
              </a:rPr>
              <a:t>frequency</a:t>
            </a:r>
            <a:r>
              <a:rPr sz="1750" spc="5">
                <a:latin typeface="Arial"/>
                <a:cs typeface="Arial"/>
              </a:rPr>
              <a:t> </a:t>
            </a:r>
            <a:r>
              <a:rPr sz="1750">
                <a:latin typeface="Arial"/>
                <a:cs typeface="Arial"/>
              </a:rPr>
              <a:t>of</a:t>
            </a:r>
            <a:r>
              <a:rPr sz="1750" spc="10">
                <a:latin typeface="Arial"/>
                <a:cs typeface="Arial"/>
              </a:rPr>
              <a:t> </a:t>
            </a:r>
            <a:r>
              <a:rPr sz="1750">
                <a:latin typeface="Arial"/>
                <a:cs typeface="Arial"/>
              </a:rPr>
              <a:t>adjacent</a:t>
            </a:r>
            <a:r>
              <a:rPr sz="1750" spc="10">
                <a:latin typeface="Arial"/>
                <a:cs typeface="Arial"/>
              </a:rPr>
              <a:t> </a:t>
            </a:r>
            <a:r>
              <a:rPr sz="1750" spc="-20">
                <a:latin typeface="Arial"/>
                <a:cs typeface="Arial"/>
              </a:rPr>
              <a:t>token </a:t>
            </a:r>
            <a:r>
              <a:rPr sz="1750">
                <a:latin typeface="Arial"/>
                <a:cs typeface="Arial"/>
              </a:rPr>
              <a:t>pairs</a:t>
            </a:r>
            <a:r>
              <a:rPr sz="1750" spc="-10">
                <a:latin typeface="Arial"/>
                <a:cs typeface="Arial"/>
              </a:rPr>
              <a:t> </a:t>
            </a:r>
            <a:r>
              <a:rPr sz="1750">
                <a:latin typeface="Arial"/>
                <a:cs typeface="Arial"/>
              </a:rPr>
              <a:t>in</a:t>
            </a:r>
            <a:r>
              <a:rPr sz="1750" spc="-10">
                <a:latin typeface="Arial"/>
                <a:cs typeface="Arial"/>
              </a:rPr>
              <a:t> </a:t>
            </a:r>
            <a:r>
              <a:rPr sz="1750">
                <a:latin typeface="Arial"/>
                <a:cs typeface="Arial"/>
              </a:rPr>
              <a:t>the</a:t>
            </a:r>
            <a:r>
              <a:rPr sz="1750" spc="-10">
                <a:latin typeface="Arial"/>
                <a:cs typeface="Arial"/>
              </a:rPr>
              <a:t> </a:t>
            </a:r>
            <a:r>
              <a:rPr sz="1750" spc="-20">
                <a:latin typeface="Arial"/>
                <a:cs typeface="Arial"/>
              </a:rPr>
              <a:t>data</a:t>
            </a:r>
            <a:endParaRPr sz="1750">
              <a:latin typeface="Arial"/>
              <a:cs typeface="Arial"/>
            </a:endParaRPr>
          </a:p>
          <a:p>
            <a:pPr marL="528320" marR="5080" lvl="1" indent="-221615">
              <a:lnSpc>
                <a:spcPct val="89300"/>
              </a:lnSpc>
              <a:spcBef>
                <a:spcPts val="1845"/>
              </a:spcBef>
              <a:buSzPct val="122857"/>
              <a:buChar char="-"/>
              <a:tabLst>
                <a:tab pos="528320" algn="l"/>
              </a:tabLst>
            </a:pPr>
            <a:r>
              <a:rPr sz="1750">
                <a:latin typeface="Arial"/>
                <a:cs typeface="Arial"/>
              </a:rPr>
              <a:t>Choose</a:t>
            </a:r>
            <a:r>
              <a:rPr sz="1750" spc="20">
                <a:latin typeface="Arial"/>
                <a:cs typeface="Arial"/>
              </a:rPr>
              <a:t> </a:t>
            </a:r>
            <a:r>
              <a:rPr sz="1750">
                <a:latin typeface="Arial"/>
                <a:cs typeface="Arial"/>
              </a:rPr>
              <a:t>the</a:t>
            </a:r>
            <a:r>
              <a:rPr sz="1750" spc="25">
                <a:latin typeface="Arial"/>
                <a:cs typeface="Arial"/>
              </a:rPr>
              <a:t> </a:t>
            </a:r>
            <a:r>
              <a:rPr sz="1750">
                <a:latin typeface="Arial"/>
                <a:cs typeface="Arial"/>
              </a:rPr>
              <a:t>pair</a:t>
            </a:r>
            <a:r>
              <a:rPr sz="1750" spc="25">
                <a:latin typeface="Arial"/>
                <a:cs typeface="Arial"/>
              </a:rPr>
              <a:t> </a:t>
            </a:r>
            <a:r>
              <a:rPr sz="2100" spc="60">
                <a:latin typeface="Cambria"/>
                <a:cs typeface="Cambria"/>
              </a:rPr>
              <a:t>⟨</a:t>
            </a:r>
            <a:r>
              <a:rPr sz="2100" i="1" spc="60">
                <a:latin typeface="Times New Roman"/>
                <a:cs typeface="Times New Roman"/>
              </a:rPr>
              <a:t>l</a:t>
            </a:r>
            <a:r>
              <a:rPr sz="2100" spc="60">
                <a:latin typeface="Cambria"/>
                <a:cs typeface="Cambria"/>
              </a:rPr>
              <a:t>,</a:t>
            </a:r>
            <a:r>
              <a:rPr sz="2100" spc="-95">
                <a:latin typeface="Cambria"/>
                <a:cs typeface="Cambria"/>
              </a:rPr>
              <a:t> </a:t>
            </a:r>
            <a:r>
              <a:rPr sz="2100" i="1">
                <a:latin typeface="Times New Roman"/>
                <a:cs typeface="Times New Roman"/>
              </a:rPr>
              <a:t>r</a:t>
            </a:r>
            <a:r>
              <a:rPr sz="2100">
                <a:latin typeface="Cambria"/>
                <a:cs typeface="Cambria"/>
              </a:rPr>
              <a:t>⟩</a:t>
            </a:r>
            <a:r>
              <a:rPr sz="2100" spc="50">
                <a:latin typeface="Cambria"/>
                <a:cs typeface="Cambria"/>
              </a:rPr>
              <a:t> </a:t>
            </a:r>
            <a:r>
              <a:rPr sz="1750">
                <a:latin typeface="Arial"/>
                <a:cs typeface="Arial"/>
              </a:rPr>
              <a:t>that</a:t>
            </a:r>
            <a:r>
              <a:rPr sz="1750" spc="20">
                <a:latin typeface="Arial"/>
                <a:cs typeface="Arial"/>
              </a:rPr>
              <a:t> </a:t>
            </a:r>
            <a:r>
              <a:rPr sz="1750">
                <a:latin typeface="Arial"/>
                <a:cs typeface="Arial"/>
              </a:rPr>
              <a:t>occurs</a:t>
            </a:r>
            <a:r>
              <a:rPr sz="1750" spc="25">
                <a:latin typeface="Arial"/>
                <a:cs typeface="Arial"/>
              </a:rPr>
              <a:t> </a:t>
            </a:r>
            <a:r>
              <a:rPr sz="1750" spc="-20">
                <a:latin typeface="Arial"/>
                <a:cs typeface="Arial"/>
              </a:rPr>
              <a:t>most </a:t>
            </a:r>
            <a:r>
              <a:rPr sz="1750" spc="-10">
                <a:latin typeface="Arial"/>
                <a:cs typeface="Arial"/>
              </a:rPr>
              <a:t>frequently</a:t>
            </a:r>
            <a:endParaRPr sz="1750">
              <a:latin typeface="Arial"/>
              <a:cs typeface="Arial"/>
            </a:endParaRPr>
          </a:p>
        </p:txBody>
      </p:sp>
      <p:sp>
        <p:nvSpPr>
          <p:cNvPr id="4" name="object 4"/>
          <p:cNvSpPr txBox="1"/>
          <p:nvPr/>
        </p:nvSpPr>
        <p:spPr>
          <a:xfrm>
            <a:off x="0" y="5853047"/>
            <a:ext cx="5142230" cy="676275"/>
          </a:xfrm>
          <a:prstGeom prst="rect">
            <a:avLst/>
          </a:prstGeom>
          <a:solidFill>
            <a:srgbClr val="FFD932">
              <a:alpha val="42759"/>
            </a:srgbClr>
          </a:solidFill>
        </p:spPr>
        <p:txBody>
          <a:bodyPr vert="horz" wrap="square" lIns="0" tIns="60325" rIns="0" bIns="0" rtlCol="0">
            <a:spAutoFit/>
          </a:bodyPr>
          <a:lstStyle/>
          <a:p>
            <a:pPr marL="1094740" marR="583565" indent="-221615">
              <a:lnSpc>
                <a:spcPts val="2220"/>
              </a:lnSpc>
              <a:spcBef>
                <a:spcPts val="475"/>
              </a:spcBef>
            </a:pPr>
            <a:r>
              <a:rPr sz="3225" spc="165" baseline="-3875">
                <a:latin typeface="Arial"/>
                <a:cs typeface="Arial"/>
              </a:rPr>
              <a:t>-</a:t>
            </a:r>
            <a:r>
              <a:rPr sz="3225" spc="494" baseline="-3875">
                <a:latin typeface="Arial"/>
                <a:cs typeface="Arial"/>
              </a:rPr>
              <a:t> </a:t>
            </a:r>
            <a:r>
              <a:rPr sz="1750">
                <a:latin typeface="Arial"/>
                <a:cs typeface="Arial"/>
              </a:rPr>
              <a:t>Add the</a:t>
            </a:r>
            <a:r>
              <a:rPr sz="1750" spc="5">
                <a:latin typeface="Arial"/>
                <a:cs typeface="Arial"/>
              </a:rPr>
              <a:t> </a:t>
            </a:r>
            <a:r>
              <a:rPr sz="1750">
                <a:latin typeface="Arial"/>
                <a:cs typeface="Arial"/>
              </a:rPr>
              <a:t>pair</a:t>
            </a:r>
            <a:r>
              <a:rPr sz="1750" spc="5">
                <a:latin typeface="Arial"/>
                <a:cs typeface="Arial"/>
              </a:rPr>
              <a:t> </a:t>
            </a:r>
            <a:r>
              <a:rPr sz="1750">
                <a:latin typeface="Arial"/>
                <a:cs typeface="Arial"/>
              </a:rPr>
              <a:t>to</a:t>
            </a:r>
            <a:r>
              <a:rPr sz="1750" spc="5">
                <a:latin typeface="Arial"/>
                <a:cs typeface="Arial"/>
              </a:rPr>
              <a:t> </a:t>
            </a:r>
            <a:r>
              <a:rPr sz="1750">
                <a:latin typeface="Arial"/>
                <a:cs typeface="Arial"/>
              </a:rPr>
              <a:t>the</a:t>
            </a:r>
            <a:r>
              <a:rPr sz="1750" spc="5">
                <a:latin typeface="Arial"/>
                <a:cs typeface="Arial"/>
              </a:rPr>
              <a:t> </a:t>
            </a:r>
            <a:r>
              <a:rPr sz="1750">
                <a:latin typeface="Arial"/>
                <a:cs typeface="Arial"/>
              </a:rPr>
              <a:t>vocabulary as</a:t>
            </a:r>
            <a:r>
              <a:rPr sz="1750" spc="5">
                <a:latin typeface="Arial"/>
                <a:cs typeface="Arial"/>
              </a:rPr>
              <a:t> </a:t>
            </a:r>
            <a:r>
              <a:rPr sz="1750" spc="-50">
                <a:latin typeface="Arial"/>
                <a:cs typeface="Arial"/>
              </a:rPr>
              <a:t>a </a:t>
            </a:r>
            <a:r>
              <a:rPr sz="1750">
                <a:latin typeface="Arial"/>
                <a:cs typeface="Arial"/>
              </a:rPr>
              <a:t>new token</a:t>
            </a:r>
            <a:r>
              <a:rPr sz="1750" spc="5">
                <a:latin typeface="Arial"/>
                <a:cs typeface="Arial"/>
              </a:rPr>
              <a:t> </a:t>
            </a:r>
            <a:r>
              <a:rPr sz="2100" spc="525">
                <a:latin typeface="Cambria"/>
                <a:cs typeface="Cambria"/>
              </a:rPr>
              <a:t>𝒱</a:t>
            </a:r>
            <a:r>
              <a:rPr sz="2100" spc="130">
                <a:latin typeface="Cambria"/>
                <a:cs typeface="Cambria"/>
              </a:rPr>
              <a:t> </a:t>
            </a:r>
            <a:r>
              <a:rPr sz="2100" spc="175">
                <a:latin typeface="Cambria"/>
                <a:cs typeface="Cambria"/>
              </a:rPr>
              <a:t>←</a:t>
            </a:r>
            <a:r>
              <a:rPr sz="2100" spc="130">
                <a:latin typeface="Cambria"/>
                <a:cs typeface="Cambria"/>
              </a:rPr>
              <a:t> </a:t>
            </a:r>
            <a:r>
              <a:rPr sz="2100" spc="525">
                <a:latin typeface="Cambria"/>
                <a:cs typeface="Cambria"/>
              </a:rPr>
              <a:t>𝒱</a:t>
            </a:r>
            <a:r>
              <a:rPr sz="2100" spc="5">
                <a:latin typeface="Cambria"/>
                <a:cs typeface="Cambria"/>
              </a:rPr>
              <a:t> </a:t>
            </a:r>
            <a:r>
              <a:rPr sz="2100" spc="-130">
                <a:latin typeface="Cambria"/>
                <a:cs typeface="Cambria"/>
              </a:rPr>
              <a:t>∪</a:t>
            </a:r>
            <a:r>
              <a:rPr sz="2100" spc="10">
                <a:latin typeface="Cambria"/>
                <a:cs typeface="Cambria"/>
              </a:rPr>
              <a:t> </a:t>
            </a:r>
            <a:r>
              <a:rPr sz="2100" spc="75">
                <a:latin typeface="Cambria"/>
                <a:cs typeface="Cambria"/>
              </a:rPr>
              <a:t>{</a:t>
            </a:r>
            <a:r>
              <a:rPr sz="2100" i="1" spc="75">
                <a:latin typeface="Times New Roman"/>
                <a:cs typeface="Times New Roman"/>
              </a:rPr>
              <a:t>lr</a:t>
            </a:r>
            <a:r>
              <a:rPr sz="2100" spc="75">
                <a:latin typeface="Cambria"/>
                <a:cs typeface="Cambria"/>
              </a:rPr>
              <a:t>}</a:t>
            </a:r>
            <a:endParaRPr sz="2100">
              <a:latin typeface="Cambria"/>
              <a:cs typeface="Cambria"/>
            </a:endParaRPr>
          </a:p>
        </p:txBody>
      </p:sp>
      <p:sp>
        <p:nvSpPr>
          <p:cNvPr id="5" name="object 5"/>
          <p:cNvSpPr txBox="1"/>
          <p:nvPr/>
        </p:nvSpPr>
        <p:spPr>
          <a:xfrm>
            <a:off x="566836" y="6663016"/>
            <a:ext cx="1219835" cy="346075"/>
          </a:xfrm>
          <a:prstGeom prst="rect">
            <a:avLst/>
          </a:prstGeom>
        </p:spPr>
        <p:txBody>
          <a:bodyPr vert="horz" wrap="square" lIns="0" tIns="12700" rIns="0" bIns="0" rtlCol="0">
            <a:spAutoFit/>
          </a:bodyPr>
          <a:lstStyle/>
          <a:p>
            <a:pPr marL="233679" indent="-220979">
              <a:lnSpc>
                <a:spcPct val="100000"/>
              </a:lnSpc>
              <a:spcBef>
                <a:spcPts val="100"/>
              </a:spcBef>
              <a:buSzPct val="122857"/>
              <a:buChar char="•"/>
              <a:tabLst>
                <a:tab pos="233679" algn="l"/>
              </a:tabLst>
            </a:pPr>
            <a:r>
              <a:rPr sz="1750">
                <a:latin typeface="Arial"/>
                <a:cs typeface="Arial"/>
              </a:rPr>
              <a:t>Return</a:t>
            </a:r>
            <a:r>
              <a:rPr sz="1750" spc="-75">
                <a:latin typeface="Arial"/>
                <a:cs typeface="Arial"/>
              </a:rPr>
              <a:t> </a:t>
            </a:r>
            <a:r>
              <a:rPr sz="2100" spc="475">
                <a:latin typeface="Cambria"/>
                <a:cs typeface="Cambria"/>
              </a:rPr>
              <a:t>𝒱</a:t>
            </a:r>
            <a:endParaRPr sz="2100">
              <a:latin typeface="Cambria"/>
              <a:cs typeface="Cambria"/>
            </a:endParaRPr>
          </a:p>
        </p:txBody>
      </p:sp>
      <p:sp>
        <p:nvSpPr>
          <p:cNvPr id="6" name="object 6" descr="$PPTXTitle"/>
          <p:cNvSpPr txBox="1">
            <a:spLocks noGrp="1"/>
          </p:cNvSpPr>
          <p:nvPr>
            <p:ph type="title"/>
          </p:nvPr>
        </p:nvSpPr>
        <p:spPr>
          <a:prstGeom prst="rect">
            <a:avLst/>
          </a:prstGeom>
        </p:spPr>
        <p:txBody>
          <a:bodyPr vert="horz" wrap="square" lIns="0" tIns="88466" rIns="0" bIns="0" rtlCol="0">
            <a:spAutoFit/>
          </a:bodyPr>
          <a:lstStyle/>
          <a:p>
            <a:pPr marL="12700">
              <a:lnSpc>
                <a:spcPct val="100000"/>
              </a:lnSpc>
              <a:spcBef>
                <a:spcPts val="95"/>
              </a:spcBef>
            </a:pPr>
            <a:r>
              <a:rPr spc="-125"/>
              <a:t>Byte</a:t>
            </a:r>
            <a:r>
              <a:rPr spc="-190"/>
              <a:t> </a:t>
            </a:r>
            <a:r>
              <a:rPr spc="-80"/>
              <a:t>Pair</a:t>
            </a:r>
            <a:r>
              <a:rPr spc="-185"/>
              <a:t> </a:t>
            </a:r>
            <a:r>
              <a:rPr spc="-140"/>
              <a:t>Encoding</a:t>
            </a:r>
            <a:r>
              <a:rPr spc="-185"/>
              <a:t> </a:t>
            </a:r>
            <a:r>
              <a:rPr spc="-130"/>
              <a:t>(BPE)</a:t>
            </a:r>
          </a:p>
        </p:txBody>
      </p:sp>
      <p:sp>
        <p:nvSpPr>
          <p:cNvPr id="7" name="object 7"/>
          <p:cNvSpPr txBox="1"/>
          <p:nvPr/>
        </p:nvSpPr>
        <p:spPr>
          <a:xfrm>
            <a:off x="5916150" y="2305999"/>
            <a:ext cx="3298825" cy="379095"/>
          </a:xfrm>
          <a:prstGeom prst="rect">
            <a:avLst/>
          </a:prstGeom>
        </p:spPr>
        <p:txBody>
          <a:bodyPr vert="horz" wrap="square" lIns="0" tIns="15240" rIns="0" bIns="0" rtlCol="0">
            <a:spAutoFit/>
          </a:bodyPr>
          <a:lstStyle/>
          <a:p>
            <a:pPr marL="12700">
              <a:lnSpc>
                <a:spcPct val="100000"/>
              </a:lnSpc>
              <a:spcBef>
                <a:spcPts val="120"/>
              </a:spcBef>
            </a:pPr>
            <a:r>
              <a:rPr sz="2300" spc="590">
                <a:latin typeface="Cambria"/>
                <a:cs typeface="Cambria"/>
              </a:rPr>
              <a:t>𝒱</a:t>
            </a:r>
            <a:r>
              <a:rPr sz="2300" spc="140">
                <a:latin typeface="Cambria"/>
                <a:cs typeface="Cambria"/>
              </a:rPr>
              <a:t> </a:t>
            </a:r>
            <a:r>
              <a:rPr sz="2300" spc="305">
                <a:latin typeface="Cambria"/>
                <a:cs typeface="Cambria"/>
              </a:rPr>
              <a:t>=</a:t>
            </a:r>
            <a:r>
              <a:rPr sz="2300" spc="145">
                <a:latin typeface="Cambria"/>
                <a:cs typeface="Cambria"/>
              </a:rPr>
              <a:t> </a:t>
            </a:r>
            <a:r>
              <a:rPr sz="2300" spc="135">
                <a:latin typeface="Cambria"/>
                <a:cs typeface="Cambria"/>
              </a:rPr>
              <a:t>{</a:t>
            </a:r>
            <a:r>
              <a:rPr sz="2300" spc="135">
                <a:latin typeface="Arial"/>
                <a:cs typeface="Arial"/>
              </a:rPr>
              <a:t>b</a:t>
            </a:r>
            <a:r>
              <a:rPr sz="2300" spc="135">
                <a:latin typeface="Cambria"/>
                <a:cs typeface="Cambria"/>
              </a:rPr>
              <a:t>,</a:t>
            </a:r>
            <a:r>
              <a:rPr sz="2300" spc="-114">
                <a:latin typeface="Cambria"/>
                <a:cs typeface="Cambria"/>
              </a:rPr>
              <a:t> </a:t>
            </a:r>
            <a:r>
              <a:rPr sz="2300" spc="75">
                <a:latin typeface="Arial"/>
                <a:cs typeface="Arial"/>
              </a:rPr>
              <a:t>g</a:t>
            </a:r>
            <a:r>
              <a:rPr sz="2300" spc="75">
                <a:latin typeface="Cambria"/>
                <a:cs typeface="Cambria"/>
              </a:rPr>
              <a:t>,</a:t>
            </a:r>
            <a:r>
              <a:rPr sz="2300" spc="-114">
                <a:latin typeface="Cambria"/>
                <a:cs typeface="Cambria"/>
              </a:rPr>
              <a:t> </a:t>
            </a:r>
            <a:r>
              <a:rPr sz="2300" spc="55">
                <a:latin typeface="Arial"/>
                <a:cs typeface="Arial"/>
              </a:rPr>
              <a:t>h</a:t>
            </a:r>
            <a:r>
              <a:rPr sz="2300" spc="55">
                <a:latin typeface="Cambria"/>
                <a:cs typeface="Cambria"/>
              </a:rPr>
              <a:t>,</a:t>
            </a:r>
            <a:r>
              <a:rPr sz="2300" spc="-114">
                <a:latin typeface="Cambria"/>
                <a:cs typeface="Cambria"/>
              </a:rPr>
              <a:t> </a:t>
            </a:r>
            <a:r>
              <a:rPr sz="2300" spc="55">
                <a:latin typeface="Arial"/>
                <a:cs typeface="Arial"/>
              </a:rPr>
              <a:t>n</a:t>
            </a:r>
            <a:r>
              <a:rPr sz="2300" spc="55">
                <a:latin typeface="Cambria"/>
                <a:cs typeface="Cambria"/>
              </a:rPr>
              <a:t>,</a:t>
            </a:r>
            <a:r>
              <a:rPr sz="2300" spc="-114">
                <a:latin typeface="Cambria"/>
                <a:cs typeface="Cambria"/>
              </a:rPr>
              <a:t> </a:t>
            </a:r>
            <a:r>
              <a:rPr sz="2300" spc="95">
                <a:latin typeface="Arial"/>
                <a:cs typeface="Arial"/>
              </a:rPr>
              <a:t>p</a:t>
            </a:r>
            <a:r>
              <a:rPr sz="2300" spc="95">
                <a:latin typeface="Cambria"/>
                <a:cs typeface="Cambria"/>
              </a:rPr>
              <a:t>,</a:t>
            </a:r>
            <a:r>
              <a:rPr sz="2300" spc="-114">
                <a:latin typeface="Cambria"/>
                <a:cs typeface="Cambria"/>
              </a:rPr>
              <a:t> </a:t>
            </a:r>
            <a:r>
              <a:rPr sz="2300" spc="50">
                <a:latin typeface="Arial"/>
                <a:cs typeface="Arial"/>
              </a:rPr>
              <a:t>s</a:t>
            </a:r>
            <a:r>
              <a:rPr sz="2300" spc="50">
                <a:latin typeface="Cambria"/>
                <a:cs typeface="Cambria"/>
              </a:rPr>
              <a:t>,</a:t>
            </a:r>
            <a:r>
              <a:rPr sz="2300" spc="-114">
                <a:latin typeface="Cambria"/>
                <a:cs typeface="Cambria"/>
              </a:rPr>
              <a:t> </a:t>
            </a:r>
            <a:r>
              <a:rPr sz="2300" spc="55">
                <a:latin typeface="Arial"/>
                <a:cs typeface="Arial"/>
              </a:rPr>
              <a:t>u</a:t>
            </a:r>
            <a:r>
              <a:rPr sz="2300" spc="55">
                <a:latin typeface="Cambria"/>
                <a:cs typeface="Cambria"/>
              </a:rPr>
              <a:t>,</a:t>
            </a:r>
            <a:r>
              <a:rPr sz="2300" spc="-114">
                <a:latin typeface="Cambria"/>
                <a:cs typeface="Cambria"/>
              </a:rPr>
              <a:t> </a:t>
            </a:r>
            <a:r>
              <a:rPr sz="2300" spc="65">
                <a:latin typeface="Arial"/>
                <a:cs typeface="Arial"/>
              </a:rPr>
              <a:t>ug</a:t>
            </a:r>
            <a:r>
              <a:rPr sz="2300" spc="65">
                <a:latin typeface="Cambria"/>
                <a:cs typeface="Cambria"/>
              </a:rPr>
              <a:t>}</a:t>
            </a:r>
            <a:endParaRPr sz="2300">
              <a:latin typeface="Cambria"/>
              <a:cs typeface="Cambria"/>
            </a:endParaRPr>
          </a:p>
        </p:txBody>
      </p:sp>
      <p:sp>
        <p:nvSpPr>
          <p:cNvPr id="8" name="object 8"/>
          <p:cNvSpPr txBox="1"/>
          <p:nvPr/>
        </p:nvSpPr>
        <p:spPr>
          <a:xfrm>
            <a:off x="7513640" y="7144444"/>
            <a:ext cx="377190" cy="320675"/>
          </a:xfrm>
          <a:prstGeom prst="rect">
            <a:avLst/>
          </a:prstGeom>
        </p:spPr>
        <p:txBody>
          <a:bodyPr vert="vert" wrap="square" lIns="0" tIns="7620" rIns="0" bIns="0" rtlCol="0">
            <a:spAutoFit/>
          </a:bodyPr>
          <a:lstStyle/>
          <a:p>
            <a:pPr marL="12700">
              <a:lnSpc>
                <a:spcPct val="100000"/>
              </a:lnSpc>
              <a:spcBef>
                <a:spcPts val="60"/>
              </a:spcBef>
            </a:pPr>
            <a:r>
              <a:rPr sz="2300" b="1" spc="-50">
                <a:latin typeface="Arial"/>
                <a:cs typeface="Arial"/>
              </a:rPr>
              <a:t>…</a:t>
            </a:r>
            <a:endParaRPr sz="2300">
              <a:latin typeface="Arial"/>
              <a:cs typeface="Arial"/>
            </a:endParaRPr>
          </a:p>
        </p:txBody>
      </p:sp>
      <p:sp>
        <p:nvSpPr>
          <p:cNvPr id="11" name="TextBox 10">
            <a:extLst>
              <a:ext uri="{FF2B5EF4-FFF2-40B4-BE49-F238E27FC236}">
                <a16:creationId xmlns:a16="http://schemas.microsoft.com/office/drawing/2014/main" id="{5496C516-89B7-C8FD-D260-3412229D3152}"/>
              </a:ext>
            </a:extLst>
          </p:cNvPr>
          <p:cNvSpPr txBox="1"/>
          <p:nvPr/>
        </p:nvSpPr>
        <p:spPr>
          <a:xfrm>
            <a:off x="5827956" y="1875077"/>
            <a:ext cx="5029200" cy="61555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b="1" i="0" u="none" strike="noStrike" baseline="0">
                <a:solidFill>
                  <a:srgbClr val="000000"/>
                </a:solidFill>
                <a:latin typeface="Arial"/>
                <a:ea typeface="Arial"/>
                <a:cs typeface="Arial"/>
              </a:rPr>
              <a:t>Updated vocabulary:</a:t>
            </a:r>
            <a:endParaRPr lang="en-US"/>
          </a:p>
          <a:p>
            <a:pPr algn="ctr"/>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 name="object 8"/>
          <p:cNvSpPr txBox="1">
            <a:spLocks noGrp="1"/>
          </p:cNvSpPr>
          <p:nvPr>
            <p:ph type="sldNum" sz="quarter" idx="7"/>
          </p:nvPr>
        </p:nvSpPr>
        <p:spPr>
          <a:prstGeom prst="rect">
            <a:avLst/>
          </a:prstGeom>
        </p:spPr>
        <p:txBody>
          <a:bodyPr vert="horz" wrap="square" lIns="0" tIns="6985" rIns="0" bIns="0" rtlCol="0">
            <a:spAutoFit/>
          </a:bodyPr>
          <a:lstStyle/>
          <a:p>
            <a:pPr marL="38100">
              <a:lnSpc>
                <a:spcPct val="100000"/>
              </a:lnSpc>
              <a:spcBef>
                <a:spcPts val="55"/>
              </a:spcBef>
            </a:pPr>
            <a:fld id="{81D60167-4931-47E6-BA6A-407CBD079E47}" type="slidenum">
              <a:rPr spc="-25" dirty="0"/>
              <a:t>19</a:t>
            </a:fld>
            <a:endParaRPr spc="-25"/>
          </a:p>
        </p:txBody>
      </p:sp>
      <p:sp>
        <p:nvSpPr>
          <p:cNvPr id="9" name="object 9"/>
          <p:cNvSpPr txBox="1"/>
          <p:nvPr/>
        </p:nvSpPr>
        <p:spPr>
          <a:xfrm>
            <a:off x="5562139" y="7457345"/>
            <a:ext cx="4424680" cy="174625"/>
          </a:xfrm>
          <a:prstGeom prst="rect">
            <a:avLst/>
          </a:prstGeom>
        </p:spPr>
        <p:txBody>
          <a:bodyPr vert="horz" wrap="square" lIns="0" tIns="6985" rIns="0" bIns="0" rtlCol="0">
            <a:spAutoFit/>
          </a:bodyPr>
          <a:lstStyle/>
          <a:p>
            <a:pPr marL="12700">
              <a:lnSpc>
                <a:spcPct val="100000"/>
              </a:lnSpc>
              <a:spcBef>
                <a:spcPts val="55"/>
              </a:spcBef>
            </a:pPr>
            <a:r>
              <a:rPr sz="1000">
                <a:latin typeface="Arial"/>
                <a:cs typeface="Arial"/>
              </a:rPr>
              <a:t>Example</a:t>
            </a:r>
            <a:r>
              <a:rPr sz="1000" spc="290">
                <a:latin typeface="Arial"/>
                <a:cs typeface="Arial"/>
              </a:rPr>
              <a:t> </a:t>
            </a:r>
            <a:r>
              <a:rPr sz="1000">
                <a:latin typeface="Arial"/>
                <a:cs typeface="Arial"/>
              </a:rPr>
              <a:t>from:</a:t>
            </a:r>
            <a:r>
              <a:rPr sz="1000" spc="290">
                <a:latin typeface="Arial"/>
                <a:cs typeface="Arial"/>
              </a:rPr>
              <a:t> </a:t>
            </a:r>
            <a:r>
              <a:rPr sz="1000" u="sng" spc="-10">
                <a:uFill>
                  <a:solidFill>
                    <a:srgbClr val="000000"/>
                  </a:solidFill>
                </a:uFill>
                <a:latin typeface="Arial"/>
                <a:cs typeface="Arial"/>
                <a:hlinkClick r:id="rId2"/>
              </a:rPr>
              <a:t>https://huggingface.co/docs/transformers/tokenizer_summary</a:t>
            </a:r>
            <a:endParaRPr sz="1000">
              <a:latin typeface="Arial"/>
              <a:cs typeface="Arial"/>
            </a:endParaRPr>
          </a:p>
        </p:txBody>
      </p:sp>
      <p:sp>
        <p:nvSpPr>
          <p:cNvPr id="2" name="object 2"/>
          <p:cNvSpPr txBox="1"/>
          <p:nvPr/>
        </p:nvSpPr>
        <p:spPr>
          <a:xfrm>
            <a:off x="566836" y="2416754"/>
            <a:ext cx="4137025" cy="1116965"/>
          </a:xfrm>
          <a:prstGeom prst="rect">
            <a:avLst/>
          </a:prstGeom>
        </p:spPr>
        <p:txBody>
          <a:bodyPr vert="horz" wrap="square" lIns="0" tIns="39370" rIns="0" bIns="0" rtlCol="0">
            <a:spAutoFit/>
          </a:bodyPr>
          <a:lstStyle/>
          <a:p>
            <a:pPr marL="233679" marR="5080" indent="-221615">
              <a:lnSpc>
                <a:spcPct val="91700"/>
              </a:lnSpc>
              <a:spcBef>
                <a:spcPts val="310"/>
              </a:spcBef>
              <a:buSzPct val="102380"/>
              <a:buFont typeface="Arial"/>
              <a:buChar char="•"/>
              <a:tabLst>
                <a:tab pos="233679" algn="l"/>
              </a:tabLst>
            </a:pPr>
            <a:r>
              <a:rPr sz="2100" spc="525">
                <a:latin typeface="Cambria"/>
                <a:cs typeface="Cambria"/>
              </a:rPr>
              <a:t>𝒱</a:t>
            </a:r>
            <a:r>
              <a:rPr sz="2100" spc="110">
                <a:latin typeface="Cambria"/>
                <a:cs typeface="Cambria"/>
              </a:rPr>
              <a:t> </a:t>
            </a:r>
            <a:r>
              <a:rPr sz="2100" spc="175">
                <a:latin typeface="Cambria"/>
                <a:cs typeface="Cambria"/>
              </a:rPr>
              <a:t>←</a:t>
            </a:r>
            <a:r>
              <a:rPr sz="2100" spc="110">
                <a:latin typeface="Cambria"/>
                <a:cs typeface="Cambria"/>
              </a:rPr>
              <a:t> </a:t>
            </a:r>
            <a:r>
              <a:rPr sz="1750">
                <a:latin typeface="Arial"/>
                <a:cs typeface="Arial"/>
              </a:rPr>
              <a:t>All</a:t>
            </a:r>
            <a:r>
              <a:rPr sz="1750" spc="-10">
                <a:latin typeface="Arial"/>
                <a:cs typeface="Arial"/>
              </a:rPr>
              <a:t> </a:t>
            </a:r>
            <a:r>
              <a:rPr sz="1750">
                <a:latin typeface="Arial"/>
                <a:cs typeface="Arial"/>
              </a:rPr>
              <a:t>characters</a:t>
            </a:r>
            <a:r>
              <a:rPr sz="1750" spc="-10">
                <a:latin typeface="Arial"/>
                <a:cs typeface="Arial"/>
              </a:rPr>
              <a:t> </a:t>
            </a:r>
            <a:r>
              <a:rPr sz="1750">
                <a:latin typeface="Arial"/>
                <a:cs typeface="Arial"/>
              </a:rPr>
              <a:t>in</a:t>
            </a:r>
            <a:r>
              <a:rPr sz="1750" spc="-15">
                <a:latin typeface="Arial"/>
                <a:cs typeface="Arial"/>
              </a:rPr>
              <a:t> </a:t>
            </a:r>
            <a:r>
              <a:rPr sz="1750">
                <a:latin typeface="Arial"/>
                <a:cs typeface="Arial"/>
              </a:rPr>
              <a:t>the</a:t>
            </a:r>
            <a:r>
              <a:rPr sz="1750" spc="-10">
                <a:latin typeface="Arial"/>
                <a:cs typeface="Arial"/>
              </a:rPr>
              <a:t> </a:t>
            </a:r>
            <a:r>
              <a:rPr sz="1750">
                <a:latin typeface="Arial"/>
                <a:cs typeface="Arial"/>
              </a:rPr>
              <a:t>training</a:t>
            </a:r>
            <a:r>
              <a:rPr sz="1750" spc="-10">
                <a:latin typeface="Arial"/>
                <a:cs typeface="Arial"/>
              </a:rPr>
              <a:t> </a:t>
            </a:r>
            <a:r>
              <a:rPr sz="1750" spc="-20">
                <a:latin typeface="Arial"/>
                <a:cs typeface="Arial"/>
              </a:rPr>
              <a:t>data </a:t>
            </a:r>
            <a:r>
              <a:rPr sz="1750" spc="-45">
                <a:latin typeface="Arial"/>
                <a:cs typeface="Arial"/>
              </a:rPr>
              <a:t>(as</a:t>
            </a:r>
            <a:r>
              <a:rPr sz="1750" spc="-55">
                <a:latin typeface="Arial"/>
                <a:cs typeface="Arial"/>
              </a:rPr>
              <a:t> </a:t>
            </a:r>
            <a:r>
              <a:rPr sz="1750">
                <a:latin typeface="Arial"/>
                <a:cs typeface="Arial"/>
              </a:rPr>
              <a:t>base</a:t>
            </a:r>
            <a:r>
              <a:rPr sz="1750" spc="-55">
                <a:latin typeface="Arial"/>
                <a:cs typeface="Arial"/>
              </a:rPr>
              <a:t> </a:t>
            </a:r>
            <a:r>
              <a:rPr sz="1750" b="1" spc="-10">
                <a:latin typeface="Arial"/>
                <a:cs typeface="Arial"/>
              </a:rPr>
              <a:t>tokens</a:t>
            </a:r>
            <a:r>
              <a:rPr sz="1750" spc="-10">
                <a:latin typeface="Arial"/>
                <a:cs typeface="Arial"/>
              </a:rPr>
              <a:t>)</a:t>
            </a:r>
            <a:endParaRPr sz="1750">
              <a:latin typeface="Arial"/>
              <a:cs typeface="Arial"/>
            </a:endParaRPr>
          </a:p>
          <a:p>
            <a:pPr marL="233679" indent="-220979">
              <a:lnSpc>
                <a:spcPct val="100000"/>
              </a:lnSpc>
              <a:spcBef>
                <a:spcPts val="1625"/>
              </a:spcBef>
              <a:buSzPct val="122857"/>
              <a:buChar char="•"/>
              <a:tabLst>
                <a:tab pos="233679" algn="l"/>
              </a:tabLst>
            </a:pPr>
            <a:r>
              <a:rPr sz="1750">
                <a:latin typeface="Arial"/>
                <a:cs typeface="Arial"/>
              </a:rPr>
              <a:t>For</a:t>
            </a:r>
            <a:r>
              <a:rPr sz="1750" spc="-50">
                <a:latin typeface="Arial"/>
                <a:cs typeface="Arial"/>
              </a:rPr>
              <a:t> </a:t>
            </a:r>
            <a:r>
              <a:rPr sz="2100" i="1">
                <a:latin typeface="Times New Roman"/>
                <a:cs typeface="Times New Roman"/>
              </a:rPr>
              <a:t>k</a:t>
            </a:r>
            <a:r>
              <a:rPr sz="2100" i="1" spc="-90">
                <a:latin typeface="Times New Roman"/>
                <a:cs typeface="Times New Roman"/>
              </a:rPr>
              <a:t> </a:t>
            </a:r>
            <a:r>
              <a:rPr sz="1750" spc="-10">
                <a:latin typeface="Arial"/>
                <a:cs typeface="Arial"/>
              </a:rPr>
              <a:t>steps:</a:t>
            </a:r>
            <a:endParaRPr sz="1750">
              <a:latin typeface="Arial"/>
              <a:cs typeface="Arial"/>
            </a:endParaRPr>
          </a:p>
        </p:txBody>
      </p:sp>
      <p:sp>
        <p:nvSpPr>
          <p:cNvPr id="3" name="object 3"/>
          <p:cNvSpPr txBox="1"/>
          <p:nvPr/>
        </p:nvSpPr>
        <p:spPr>
          <a:xfrm>
            <a:off x="0" y="3633127"/>
            <a:ext cx="5142230" cy="676275"/>
          </a:xfrm>
          <a:prstGeom prst="rect">
            <a:avLst/>
          </a:prstGeom>
          <a:solidFill>
            <a:srgbClr val="FFD932">
              <a:alpha val="42759"/>
            </a:srgbClr>
          </a:solidFill>
        </p:spPr>
        <p:txBody>
          <a:bodyPr vert="horz" wrap="square" lIns="0" tIns="84455" rIns="0" bIns="0" rtlCol="0">
            <a:spAutoFit/>
          </a:bodyPr>
          <a:lstStyle/>
          <a:p>
            <a:pPr marL="1094740" marR="424180" indent="-221615">
              <a:lnSpc>
                <a:spcPct val="86400"/>
              </a:lnSpc>
              <a:spcBef>
                <a:spcPts val="665"/>
              </a:spcBef>
            </a:pPr>
            <a:r>
              <a:rPr sz="3225" spc="165" baseline="-3875">
                <a:latin typeface="Arial"/>
                <a:cs typeface="Arial"/>
              </a:rPr>
              <a:t>-</a:t>
            </a:r>
            <a:r>
              <a:rPr sz="3225" spc="465" baseline="-3875">
                <a:latin typeface="Arial"/>
                <a:cs typeface="Arial"/>
              </a:rPr>
              <a:t> </a:t>
            </a:r>
            <a:r>
              <a:rPr sz="1750" spc="-40">
                <a:latin typeface="Arial"/>
                <a:cs typeface="Arial"/>
              </a:rPr>
              <a:t>Tokenize</a:t>
            </a:r>
            <a:r>
              <a:rPr sz="1750" spc="-5">
                <a:latin typeface="Arial"/>
                <a:cs typeface="Arial"/>
              </a:rPr>
              <a:t> </a:t>
            </a:r>
            <a:r>
              <a:rPr sz="1750">
                <a:latin typeface="Arial"/>
                <a:cs typeface="Arial"/>
              </a:rPr>
              <a:t>the</a:t>
            </a:r>
            <a:r>
              <a:rPr sz="1750" spc="-5">
                <a:latin typeface="Arial"/>
                <a:cs typeface="Arial"/>
              </a:rPr>
              <a:t> </a:t>
            </a:r>
            <a:r>
              <a:rPr sz="1750">
                <a:latin typeface="Arial"/>
                <a:cs typeface="Arial"/>
              </a:rPr>
              <a:t>data, taking</a:t>
            </a:r>
            <a:r>
              <a:rPr sz="1750" spc="-5">
                <a:latin typeface="Arial"/>
                <a:cs typeface="Arial"/>
              </a:rPr>
              <a:t> </a:t>
            </a:r>
            <a:r>
              <a:rPr sz="1750">
                <a:latin typeface="Arial"/>
                <a:cs typeface="Arial"/>
              </a:rPr>
              <a:t>the</a:t>
            </a:r>
            <a:r>
              <a:rPr sz="1750" spc="-5">
                <a:latin typeface="Arial"/>
                <a:cs typeface="Arial"/>
              </a:rPr>
              <a:t> </a:t>
            </a:r>
            <a:r>
              <a:rPr sz="1750" spc="-10">
                <a:latin typeface="Arial"/>
                <a:cs typeface="Arial"/>
              </a:rPr>
              <a:t>longest </a:t>
            </a:r>
            <a:r>
              <a:rPr sz="1750">
                <a:latin typeface="Arial"/>
                <a:cs typeface="Arial"/>
              </a:rPr>
              <a:t>prefix</a:t>
            </a:r>
            <a:r>
              <a:rPr sz="1750" spc="-20">
                <a:latin typeface="Arial"/>
                <a:cs typeface="Arial"/>
              </a:rPr>
              <a:t> </a:t>
            </a:r>
            <a:r>
              <a:rPr sz="1750">
                <a:latin typeface="Arial"/>
                <a:cs typeface="Arial"/>
              </a:rPr>
              <a:t>each</a:t>
            </a:r>
            <a:r>
              <a:rPr sz="1750" spc="-15">
                <a:latin typeface="Arial"/>
                <a:cs typeface="Arial"/>
              </a:rPr>
              <a:t> </a:t>
            </a:r>
            <a:r>
              <a:rPr sz="1750" spc="-20">
                <a:latin typeface="Arial"/>
                <a:cs typeface="Arial"/>
              </a:rPr>
              <a:t>time</a:t>
            </a:r>
            <a:endParaRPr sz="1750">
              <a:latin typeface="Arial"/>
              <a:cs typeface="Arial"/>
            </a:endParaRPr>
          </a:p>
        </p:txBody>
      </p:sp>
      <p:sp>
        <p:nvSpPr>
          <p:cNvPr id="4" name="object 4"/>
          <p:cNvSpPr txBox="1"/>
          <p:nvPr/>
        </p:nvSpPr>
        <p:spPr>
          <a:xfrm>
            <a:off x="566836" y="4426734"/>
            <a:ext cx="4409440" cy="2583180"/>
          </a:xfrm>
          <a:prstGeom prst="rect">
            <a:avLst/>
          </a:prstGeom>
        </p:spPr>
        <p:txBody>
          <a:bodyPr vert="horz" wrap="square" lIns="0" tIns="5080" rIns="0" bIns="0" rtlCol="0">
            <a:spAutoFit/>
          </a:bodyPr>
          <a:lstStyle/>
          <a:p>
            <a:pPr marL="528320" marR="81915" indent="-221615">
              <a:lnSpc>
                <a:spcPct val="86400"/>
              </a:lnSpc>
              <a:spcBef>
                <a:spcPts val="40"/>
              </a:spcBef>
              <a:buSzPct val="122857"/>
              <a:buChar char="-"/>
              <a:tabLst>
                <a:tab pos="528320" algn="l"/>
              </a:tabLst>
            </a:pPr>
            <a:r>
              <a:rPr sz="1750">
                <a:latin typeface="Arial"/>
                <a:cs typeface="Arial"/>
              </a:rPr>
              <a:t>Count</a:t>
            </a:r>
            <a:r>
              <a:rPr sz="1750" spc="5">
                <a:latin typeface="Arial"/>
                <a:cs typeface="Arial"/>
              </a:rPr>
              <a:t> </a:t>
            </a:r>
            <a:r>
              <a:rPr sz="1750">
                <a:latin typeface="Arial"/>
                <a:cs typeface="Arial"/>
              </a:rPr>
              <a:t>the</a:t>
            </a:r>
            <a:r>
              <a:rPr sz="1750" spc="10">
                <a:latin typeface="Arial"/>
                <a:cs typeface="Arial"/>
              </a:rPr>
              <a:t> </a:t>
            </a:r>
            <a:r>
              <a:rPr sz="1750">
                <a:latin typeface="Arial"/>
                <a:cs typeface="Arial"/>
              </a:rPr>
              <a:t>frequency</a:t>
            </a:r>
            <a:r>
              <a:rPr sz="1750" spc="5">
                <a:latin typeface="Arial"/>
                <a:cs typeface="Arial"/>
              </a:rPr>
              <a:t> </a:t>
            </a:r>
            <a:r>
              <a:rPr sz="1750">
                <a:latin typeface="Arial"/>
                <a:cs typeface="Arial"/>
              </a:rPr>
              <a:t>of</a:t>
            </a:r>
            <a:r>
              <a:rPr sz="1750" spc="10">
                <a:latin typeface="Arial"/>
                <a:cs typeface="Arial"/>
              </a:rPr>
              <a:t> </a:t>
            </a:r>
            <a:r>
              <a:rPr sz="1750">
                <a:latin typeface="Arial"/>
                <a:cs typeface="Arial"/>
              </a:rPr>
              <a:t>adjacent</a:t>
            </a:r>
            <a:r>
              <a:rPr sz="1750" spc="10">
                <a:latin typeface="Arial"/>
                <a:cs typeface="Arial"/>
              </a:rPr>
              <a:t> </a:t>
            </a:r>
            <a:r>
              <a:rPr sz="1750" spc="-20">
                <a:latin typeface="Arial"/>
                <a:cs typeface="Arial"/>
              </a:rPr>
              <a:t>token </a:t>
            </a:r>
            <a:r>
              <a:rPr sz="1750">
                <a:latin typeface="Arial"/>
                <a:cs typeface="Arial"/>
              </a:rPr>
              <a:t>pairs</a:t>
            </a:r>
            <a:r>
              <a:rPr sz="1750" spc="-10">
                <a:latin typeface="Arial"/>
                <a:cs typeface="Arial"/>
              </a:rPr>
              <a:t> </a:t>
            </a:r>
            <a:r>
              <a:rPr sz="1750">
                <a:latin typeface="Arial"/>
                <a:cs typeface="Arial"/>
              </a:rPr>
              <a:t>in</a:t>
            </a:r>
            <a:r>
              <a:rPr sz="1750" spc="-10">
                <a:latin typeface="Arial"/>
                <a:cs typeface="Arial"/>
              </a:rPr>
              <a:t> </a:t>
            </a:r>
            <a:r>
              <a:rPr sz="1750">
                <a:latin typeface="Arial"/>
                <a:cs typeface="Arial"/>
              </a:rPr>
              <a:t>the</a:t>
            </a:r>
            <a:r>
              <a:rPr sz="1750" spc="-10">
                <a:latin typeface="Arial"/>
                <a:cs typeface="Arial"/>
              </a:rPr>
              <a:t> </a:t>
            </a:r>
            <a:r>
              <a:rPr sz="1750" spc="-20">
                <a:latin typeface="Arial"/>
                <a:cs typeface="Arial"/>
              </a:rPr>
              <a:t>data</a:t>
            </a:r>
            <a:endParaRPr sz="1750">
              <a:latin typeface="Arial"/>
              <a:cs typeface="Arial"/>
            </a:endParaRPr>
          </a:p>
          <a:p>
            <a:pPr marL="528320" marR="5080" indent="-221615">
              <a:lnSpc>
                <a:spcPct val="89300"/>
              </a:lnSpc>
              <a:spcBef>
                <a:spcPts val="1850"/>
              </a:spcBef>
              <a:buSzPct val="122857"/>
              <a:buChar char="-"/>
              <a:tabLst>
                <a:tab pos="528320" algn="l"/>
              </a:tabLst>
            </a:pPr>
            <a:r>
              <a:rPr sz="1750">
                <a:latin typeface="Arial"/>
                <a:cs typeface="Arial"/>
              </a:rPr>
              <a:t>Choose</a:t>
            </a:r>
            <a:r>
              <a:rPr sz="1750" spc="20">
                <a:latin typeface="Arial"/>
                <a:cs typeface="Arial"/>
              </a:rPr>
              <a:t> </a:t>
            </a:r>
            <a:r>
              <a:rPr sz="1750">
                <a:latin typeface="Arial"/>
                <a:cs typeface="Arial"/>
              </a:rPr>
              <a:t>the</a:t>
            </a:r>
            <a:r>
              <a:rPr sz="1750" spc="25">
                <a:latin typeface="Arial"/>
                <a:cs typeface="Arial"/>
              </a:rPr>
              <a:t> </a:t>
            </a:r>
            <a:r>
              <a:rPr sz="1750">
                <a:latin typeface="Arial"/>
                <a:cs typeface="Arial"/>
              </a:rPr>
              <a:t>pair</a:t>
            </a:r>
            <a:r>
              <a:rPr sz="1750" spc="25">
                <a:latin typeface="Arial"/>
                <a:cs typeface="Arial"/>
              </a:rPr>
              <a:t> </a:t>
            </a:r>
            <a:r>
              <a:rPr sz="2100" spc="60">
                <a:latin typeface="Cambria"/>
                <a:cs typeface="Cambria"/>
              </a:rPr>
              <a:t>⟨</a:t>
            </a:r>
            <a:r>
              <a:rPr sz="2100" i="1" spc="60">
                <a:latin typeface="Times New Roman"/>
                <a:cs typeface="Times New Roman"/>
              </a:rPr>
              <a:t>l</a:t>
            </a:r>
            <a:r>
              <a:rPr sz="2100" spc="60">
                <a:latin typeface="Cambria"/>
                <a:cs typeface="Cambria"/>
              </a:rPr>
              <a:t>,</a:t>
            </a:r>
            <a:r>
              <a:rPr sz="2100" spc="-95">
                <a:latin typeface="Cambria"/>
                <a:cs typeface="Cambria"/>
              </a:rPr>
              <a:t> </a:t>
            </a:r>
            <a:r>
              <a:rPr sz="2100" i="1">
                <a:latin typeface="Times New Roman"/>
                <a:cs typeface="Times New Roman"/>
              </a:rPr>
              <a:t>r</a:t>
            </a:r>
            <a:r>
              <a:rPr sz="2100">
                <a:latin typeface="Cambria"/>
                <a:cs typeface="Cambria"/>
              </a:rPr>
              <a:t>⟩</a:t>
            </a:r>
            <a:r>
              <a:rPr sz="2100" spc="50">
                <a:latin typeface="Cambria"/>
                <a:cs typeface="Cambria"/>
              </a:rPr>
              <a:t> </a:t>
            </a:r>
            <a:r>
              <a:rPr sz="1750">
                <a:latin typeface="Arial"/>
                <a:cs typeface="Arial"/>
              </a:rPr>
              <a:t>that</a:t>
            </a:r>
            <a:r>
              <a:rPr sz="1750" spc="20">
                <a:latin typeface="Arial"/>
                <a:cs typeface="Arial"/>
              </a:rPr>
              <a:t> </a:t>
            </a:r>
            <a:r>
              <a:rPr sz="1750">
                <a:latin typeface="Arial"/>
                <a:cs typeface="Arial"/>
              </a:rPr>
              <a:t>occurs</a:t>
            </a:r>
            <a:r>
              <a:rPr sz="1750" spc="25">
                <a:latin typeface="Arial"/>
                <a:cs typeface="Arial"/>
              </a:rPr>
              <a:t> </a:t>
            </a:r>
            <a:r>
              <a:rPr sz="1750" spc="-20">
                <a:latin typeface="Arial"/>
                <a:cs typeface="Arial"/>
              </a:rPr>
              <a:t>most </a:t>
            </a:r>
            <a:r>
              <a:rPr sz="1750" spc="-10">
                <a:latin typeface="Arial"/>
                <a:cs typeface="Arial"/>
              </a:rPr>
              <a:t>frequently</a:t>
            </a:r>
            <a:endParaRPr sz="1750">
              <a:latin typeface="Arial"/>
              <a:cs typeface="Arial"/>
            </a:endParaRPr>
          </a:p>
          <a:p>
            <a:pPr marL="528320" marR="417830" indent="-221615">
              <a:lnSpc>
                <a:spcPts val="2220"/>
              </a:lnSpc>
              <a:spcBef>
                <a:spcPts val="1615"/>
              </a:spcBef>
              <a:buSzPct val="122857"/>
              <a:buChar char="-"/>
              <a:tabLst>
                <a:tab pos="528320" algn="l"/>
              </a:tabLst>
            </a:pPr>
            <a:r>
              <a:rPr sz="1750">
                <a:latin typeface="Arial"/>
                <a:cs typeface="Arial"/>
              </a:rPr>
              <a:t>Add</a:t>
            </a:r>
            <a:r>
              <a:rPr sz="1750" spc="5">
                <a:latin typeface="Arial"/>
                <a:cs typeface="Arial"/>
              </a:rPr>
              <a:t> </a:t>
            </a:r>
            <a:r>
              <a:rPr sz="1750">
                <a:latin typeface="Arial"/>
                <a:cs typeface="Arial"/>
              </a:rPr>
              <a:t>the</a:t>
            </a:r>
            <a:r>
              <a:rPr sz="1750" spc="5">
                <a:latin typeface="Arial"/>
                <a:cs typeface="Arial"/>
              </a:rPr>
              <a:t> </a:t>
            </a:r>
            <a:r>
              <a:rPr sz="1750">
                <a:latin typeface="Arial"/>
                <a:cs typeface="Arial"/>
              </a:rPr>
              <a:t>pair</a:t>
            </a:r>
            <a:r>
              <a:rPr sz="1750" spc="5">
                <a:latin typeface="Arial"/>
                <a:cs typeface="Arial"/>
              </a:rPr>
              <a:t> </a:t>
            </a:r>
            <a:r>
              <a:rPr sz="1750">
                <a:latin typeface="Arial"/>
                <a:cs typeface="Arial"/>
              </a:rPr>
              <a:t>to</a:t>
            </a:r>
            <a:r>
              <a:rPr sz="1750" spc="10">
                <a:latin typeface="Arial"/>
                <a:cs typeface="Arial"/>
              </a:rPr>
              <a:t> </a:t>
            </a:r>
            <a:r>
              <a:rPr sz="1750">
                <a:latin typeface="Arial"/>
                <a:cs typeface="Arial"/>
              </a:rPr>
              <a:t>the</a:t>
            </a:r>
            <a:r>
              <a:rPr sz="1750" spc="5">
                <a:latin typeface="Arial"/>
                <a:cs typeface="Arial"/>
              </a:rPr>
              <a:t> </a:t>
            </a:r>
            <a:r>
              <a:rPr sz="1750">
                <a:latin typeface="Arial"/>
                <a:cs typeface="Arial"/>
              </a:rPr>
              <a:t>vocabulary</a:t>
            </a:r>
            <a:r>
              <a:rPr sz="1750" spc="5">
                <a:latin typeface="Arial"/>
                <a:cs typeface="Arial"/>
              </a:rPr>
              <a:t> </a:t>
            </a:r>
            <a:r>
              <a:rPr sz="1750">
                <a:latin typeface="Arial"/>
                <a:cs typeface="Arial"/>
              </a:rPr>
              <a:t>as</a:t>
            </a:r>
            <a:r>
              <a:rPr sz="1750" spc="5">
                <a:latin typeface="Arial"/>
                <a:cs typeface="Arial"/>
              </a:rPr>
              <a:t> </a:t>
            </a:r>
            <a:r>
              <a:rPr sz="1750" spc="-50">
                <a:latin typeface="Arial"/>
                <a:cs typeface="Arial"/>
              </a:rPr>
              <a:t>a </a:t>
            </a:r>
            <a:r>
              <a:rPr sz="1750">
                <a:latin typeface="Arial"/>
                <a:cs typeface="Arial"/>
              </a:rPr>
              <a:t>new token</a:t>
            </a:r>
            <a:r>
              <a:rPr sz="1750" spc="5">
                <a:latin typeface="Arial"/>
                <a:cs typeface="Arial"/>
              </a:rPr>
              <a:t> </a:t>
            </a:r>
            <a:r>
              <a:rPr sz="2100" spc="525">
                <a:latin typeface="Cambria"/>
                <a:cs typeface="Cambria"/>
              </a:rPr>
              <a:t>𝒱</a:t>
            </a:r>
            <a:r>
              <a:rPr sz="2100" spc="130">
                <a:latin typeface="Cambria"/>
                <a:cs typeface="Cambria"/>
              </a:rPr>
              <a:t> </a:t>
            </a:r>
            <a:r>
              <a:rPr sz="2100" spc="175">
                <a:latin typeface="Cambria"/>
                <a:cs typeface="Cambria"/>
              </a:rPr>
              <a:t>←</a:t>
            </a:r>
            <a:r>
              <a:rPr sz="2100" spc="130">
                <a:latin typeface="Cambria"/>
                <a:cs typeface="Cambria"/>
              </a:rPr>
              <a:t> </a:t>
            </a:r>
            <a:r>
              <a:rPr sz="2100" spc="525">
                <a:latin typeface="Cambria"/>
                <a:cs typeface="Cambria"/>
              </a:rPr>
              <a:t>𝒱</a:t>
            </a:r>
            <a:r>
              <a:rPr sz="2100" spc="5">
                <a:latin typeface="Cambria"/>
                <a:cs typeface="Cambria"/>
              </a:rPr>
              <a:t> </a:t>
            </a:r>
            <a:r>
              <a:rPr sz="2100" spc="-130">
                <a:latin typeface="Cambria"/>
                <a:cs typeface="Cambria"/>
              </a:rPr>
              <a:t>∪</a:t>
            </a:r>
            <a:r>
              <a:rPr sz="2100" spc="10">
                <a:latin typeface="Cambria"/>
                <a:cs typeface="Cambria"/>
              </a:rPr>
              <a:t> </a:t>
            </a:r>
            <a:r>
              <a:rPr sz="2100" spc="75">
                <a:latin typeface="Cambria"/>
                <a:cs typeface="Cambria"/>
              </a:rPr>
              <a:t>{</a:t>
            </a:r>
            <a:r>
              <a:rPr sz="2100" i="1" spc="75">
                <a:latin typeface="Times New Roman"/>
                <a:cs typeface="Times New Roman"/>
              </a:rPr>
              <a:t>lr</a:t>
            </a:r>
            <a:r>
              <a:rPr sz="2100" spc="75">
                <a:latin typeface="Cambria"/>
                <a:cs typeface="Cambria"/>
              </a:rPr>
              <a:t>}</a:t>
            </a:r>
            <a:endParaRPr sz="2100">
              <a:latin typeface="Cambria"/>
              <a:cs typeface="Cambria"/>
            </a:endParaRPr>
          </a:p>
          <a:p>
            <a:pPr marL="233679" indent="-220979">
              <a:lnSpc>
                <a:spcPct val="100000"/>
              </a:lnSpc>
              <a:spcBef>
                <a:spcPts val="1560"/>
              </a:spcBef>
              <a:buSzPct val="122857"/>
              <a:buChar char="•"/>
              <a:tabLst>
                <a:tab pos="233679" algn="l"/>
              </a:tabLst>
            </a:pPr>
            <a:r>
              <a:rPr sz="1750">
                <a:latin typeface="Arial"/>
                <a:cs typeface="Arial"/>
              </a:rPr>
              <a:t>Return</a:t>
            </a:r>
            <a:r>
              <a:rPr sz="1750" spc="-75">
                <a:latin typeface="Arial"/>
                <a:cs typeface="Arial"/>
              </a:rPr>
              <a:t> </a:t>
            </a:r>
            <a:r>
              <a:rPr sz="2100" spc="475">
                <a:latin typeface="Cambria"/>
                <a:cs typeface="Cambria"/>
              </a:rPr>
              <a:t>𝒱</a:t>
            </a:r>
            <a:endParaRPr sz="2100">
              <a:latin typeface="Cambria"/>
              <a:cs typeface="Cambria"/>
            </a:endParaRPr>
          </a:p>
        </p:txBody>
      </p:sp>
      <p:sp>
        <p:nvSpPr>
          <p:cNvPr id="5" name="object 5" descr="$PPTXTitle"/>
          <p:cNvSpPr txBox="1">
            <a:spLocks noGrp="1"/>
          </p:cNvSpPr>
          <p:nvPr>
            <p:ph type="title"/>
          </p:nvPr>
        </p:nvSpPr>
        <p:spPr>
          <a:prstGeom prst="rect">
            <a:avLst/>
          </a:prstGeom>
        </p:spPr>
        <p:txBody>
          <a:bodyPr vert="horz" wrap="square" lIns="0" tIns="88466" rIns="0" bIns="0" rtlCol="0">
            <a:spAutoFit/>
          </a:bodyPr>
          <a:lstStyle/>
          <a:p>
            <a:pPr marL="12700">
              <a:lnSpc>
                <a:spcPct val="100000"/>
              </a:lnSpc>
              <a:spcBef>
                <a:spcPts val="95"/>
              </a:spcBef>
            </a:pPr>
            <a:r>
              <a:rPr spc="-125"/>
              <a:t>Byte</a:t>
            </a:r>
            <a:r>
              <a:rPr spc="-190"/>
              <a:t> </a:t>
            </a:r>
            <a:r>
              <a:rPr spc="-80"/>
              <a:t>Pair</a:t>
            </a:r>
            <a:r>
              <a:rPr spc="-185"/>
              <a:t> </a:t>
            </a:r>
            <a:r>
              <a:rPr spc="-140"/>
              <a:t>Encoding</a:t>
            </a:r>
            <a:r>
              <a:rPr spc="-185"/>
              <a:t> </a:t>
            </a:r>
            <a:r>
              <a:rPr spc="-130"/>
              <a:t>(BPE)</a:t>
            </a:r>
          </a:p>
        </p:txBody>
      </p:sp>
      <p:graphicFrame>
        <p:nvGraphicFramePr>
          <p:cNvPr id="6" name="object 6"/>
          <p:cNvGraphicFramePr>
            <a:graphicFrameLocks noGrp="1"/>
          </p:cNvGraphicFramePr>
          <p:nvPr/>
        </p:nvGraphicFramePr>
        <p:xfrm>
          <a:off x="6021288" y="2983185"/>
          <a:ext cx="3068320" cy="2015490"/>
        </p:xfrm>
        <a:graphic>
          <a:graphicData uri="http://schemas.openxmlformats.org/drawingml/2006/table">
            <a:tbl>
              <a:tblPr firstRow="1" bandRow="1">
                <a:tableStyleId>{2D5ABB26-0587-4C30-8999-92F81FD0307C}</a:tableStyleId>
              </a:tblPr>
              <a:tblGrid>
                <a:gridCol w="1450975">
                  <a:extLst>
                    <a:ext uri="{9D8B030D-6E8A-4147-A177-3AD203B41FA5}">
                      <a16:colId xmlns:a16="http://schemas.microsoft.com/office/drawing/2014/main" val="20000"/>
                    </a:ext>
                  </a:extLst>
                </a:gridCol>
                <a:gridCol w="1617345">
                  <a:extLst>
                    <a:ext uri="{9D8B030D-6E8A-4147-A177-3AD203B41FA5}">
                      <a16:colId xmlns:a16="http://schemas.microsoft.com/office/drawing/2014/main" val="20001"/>
                    </a:ext>
                  </a:extLst>
                </a:gridCol>
              </a:tblGrid>
              <a:tr h="345440">
                <a:tc>
                  <a:txBody>
                    <a:bodyPr/>
                    <a:lstStyle/>
                    <a:p>
                      <a:pPr marL="83185" algn="ctr">
                        <a:lnSpc>
                          <a:spcPct val="100000"/>
                        </a:lnSpc>
                        <a:spcBef>
                          <a:spcPts val="395"/>
                        </a:spcBef>
                      </a:pPr>
                      <a:r>
                        <a:rPr sz="1600" b="1" spc="-20">
                          <a:latin typeface="Arial"/>
                          <a:cs typeface="Arial"/>
                        </a:rPr>
                        <a:t>Word</a:t>
                      </a:r>
                      <a:endParaRPr sz="1600">
                        <a:latin typeface="Arial"/>
                        <a:cs typeface="Arial"/>
                      </a:endParaRPr>
                    </a:p>
                  </a:txBody>
                  <a:tcPr marL="0" marR="0" marT="50165" marB="0">
                    <a:lnB w="12700">
                      <a:solidFill>
                        <a:srgbClr val="536773"/>
                      </a:solidFill>
                      <a:prstDash val="solid"/>
                    </a:lnB>
                    <a:solidFill>
                      <a:srgbClr val="56C1FF"/>
                    </a:solidFill>
                  </a:tcPr>
                </a:tc>
                <a:tc>
                  <a:txBody>
                    <a:bodyPr/>
                    <a:lstStyle/>
                    <a:p>
                      <a:pPr marL="83185" algn="ctr">
                        <a:lnSpc>
                          <a:spcPct val="100000"/>
                        </a:lnSpc>
                        <a:spcBef>
                          <a:spcPts val="395"/>
                        </a:spcBef>
                      </a:pPr>
                      <a:r>
                        <a:rPr sz="1600" b="1" spc="-10">
                          <a:latin typeface="Arial"/>
                          <a:cs typeface="Arial"/>
                        </a:rPr>
                        <a:t>Frequency</a:t>
                      </a:r>
                      <a:endParaRPr sz="1600">
                        <a:latin typeface="Arial"/>
                        <a:cs typeface="Arial"/>
                      </a:endParaRPr>
                    </a:p>
                  </a:txBody>
                  <a:tcPr marL="0" marR="0" marT="50165" marB="0">
                    <a:lnB w="12700">
                      <a:solidFill>
                        <a:srgbClr val="536773"/>
                      </a:solidFill>
                      <a:prstDash val="solid"/>
                    </a:lnB>
                    <a:solidFill>
                      <a:srgbClr val="56C1FF"/>
                    </a:solidFill>
                  </a:tcPr>
                </a:tc>
                <a:extLst>
                  <a:ext uri="{0D108BD9-81ED-4DB2-BD59-A6C34878D82A}">
                    <a16:rowId xmlns:a16="http://schemas.microsoft.com/office/drawing/2014/main" val="10000"/>
                  </a:ext>
                </a:extLst>
              </a:tr>
              <a:tr h="345440">
                <a:tc>
                  <a:txBody>
                    <a:bodyPr/>
                    <a:lstStyle/>
                    <a:p>
                      <a:pPr marL="83185" algn="ctr">
                        <a:lnSpc>
                          <a:spcPct val="100000"/>
                        </a:lnSpc>
                        <a:spcBef>
                          <a:spcPts val="365"/>
                        </a:spcBef>
                      </a:pPr>
                      <a:r>
                        <a:rPr sz="1600" spc="-20">
                          <a:latin typeface="Arial"/>
                          <a:cs typeface="Arial"/>
                        </a:rPr>
                        <a:t>h+ug</a:t>
                      </a:r>
                      <a:endParaRPr sz="1600">
                        <a:latin typeface="Arial"/>
                        <a:cs typeface="Arial"/>
                      </a:endParaRPr>
                    </a:p>
                  </a:txBody>
                  <a:tcPr marL="0" marR="0" marT="46355" marB="0">
                    <a:lnT w="12700">
                      <a:solidFill>
                        <a:srgbClr val="536773"/>
                      </a:solidFill>
                      <a:prstDash val="solid"/>
                    </a:lnT>
                  </a:tcPr>
                </a:tc>
                <a:tc>
                  <a:txBody>
                    <a:bodyPr/>
                    <a:lstStyle/>
                    <a:p>
                      <a:pPr marL="83185" algn="ctr">
                        <a:lnSpc>
                          <a:spcPct val="100000"/>
                        </a:lnSpc>
                        <a:spcBef>
                          <a:spcPts val="365"/>
                        </a:spcBef>
                      </a:pPr>
                      <a:r>
                        <a:rPr sz="1600" spc="-25">
                          <a:latin typeface="Arial"/>
                          <a:cs typeface="Arial"/>
                        </a:rPr>
                        <a:t>10</a:t>
                      </a:r>
                      <a:endParaRPr sz="1600">
                        <a:latin typeface="Arial"/>
                        <a:cs typeface="Arial"/>
                      </a:endParaRPr>
                    </a:p>
                  </a:txBody>
                  <a:tcPr marL="0" marR="0" marT="46355" marB="0">
                    <a:lnT w="12700">
                      <a:solidFill>
                        <a:srgbClr val="536773"/>
                      </a:solidFill>
                      <a:prstDash val="solid"/>
                    </a:lnT>
                  </a:tcPr>
                </a:tc>
                <a:extLst>
                  <a:ext uri="{0D108BD9-81ED-4DB2-BD59-A6C34878D82A}">
                    <a16:rowId xmlns:a16="http://schemas.microsoft.com/office/drawing/2014/main" val="10001"/>
                  </a:ext>
                </a:extLst>
              </a:tr>
              <a:tr h="345440">
                <a:tc>
                  <a:txBody>
                    <a:bodyPr/>
                    <a:lstStyle/>
                    <a:p>
                      <a:pPr marL="83185" algn="ctr">
                        <a:lnSpc>
                          <a:spcPct val="100000"/>
                        </a:lnSpc>
                        <a:spcBef>
                          <a:spcPts val="325"/>
                        </a:spcBef>
                      </a:pPr>
                      <a:r>
                        <a:rPr sz="1600" spc="-20">
                          <a:latin typeface="Arial"/>
                          <a:cs typeface="Arial"/>
                        </a:rPr>
                        <a:t>p+ug</a:t>
                      </a:r>
                      <a:endParaRPr sz="1600">
                        <a:latin typeface="Arial"/>
                        <a:cs typeface="Arial"/>
                      </a:endParaRPr>
                    </a:p>
                  </a:txBody>
                  <a:tcPr marL="0" marR="0" marT="41275" marB="0">
                    <a:solidFill>
                      <a:srgbClr val="E3E5E8"/>
                    </a:solidFill>
                  </a:tcPr>
                </a:tc>
                <a:tc>
                  <a:txBody>
                    <a:bodyPr/>
                    <a:lstStyle/>
                    <a:p>
                      <a:pPr marL="83185" algn="ctr">
                        <a:lnSpc>
                          <a:spcPct val="100000"/>
                        </a:lnSpc>
                        <a:spcBef>
                          <a:spcPts val="325"/>
                        </a:spcBef>
                      </a:pPr>
                      <a:r>
                        <a:rPr sz="1600" spc="-50">
                          <a:latin typeface="Arial"/>
                          <a:cs typeface="Arial"/>
                        </a:rPr>
                        <a:t>5</a:t>
                      </a:r>
                      <a:endParaRPr sz="1600">
                        <a:latin typeface="Arial"/>
                        <a:cs typeface="Arial"/>
                      </a:endParaRPr>
                    </a:p>
                  </a:txBody>
                  <a:tcPr marL="0" marR="0" marT="41275" marB="0">
                    <a:solidFill>
                      <a:srgbClr val="E3E5E8"/>
                    </a:solidFill>
                  </a:tcPr>
                </a:tc>
                <a:extLst>
                  <a:ext uri="{0D108BD9-81ED-4DB2-BD59-A6C34878D82A}">
                    <a16:rowId xmlns:a16="http://schemas.microsoft.com/office/drawing/2014/main" val="10002"/>
                  </a:ext>
                </a:extLst>
              </a:tr>
              <a:tr h="345440">
                <a:tc>
                  <a:txBody>
                    <a:bodyPr/>
                    <a:lstStyle/>
                    <a:p>
                      <a:pPr marL="83185" algn="ctr">
                        <a:lnSpc>
                          <a:spcPct val="100000"/>
                        </a:lnSpc>
                        <a:spcBef>
                          <a:spcPts val="325"/>
                        </a:spcBef>
                      </a:pPr>
                      <a:r>
                        <a:rPr sz="1600" spc="-10">
                          <a:latin typeface="Arial"/>
                          <a:cs typeface="Arial"/>
                        </a:rPr>
                        <a:t>p+u+n</a:t>
                      </a:r>
                      <a:endParaRPr sz="1600">
                        <a:latin typeface="Arial"/>
                        <a:cs typeface="Arial"/>
                      </a:endParaRPr>
                    </a:p>
                  </a:txBody>
                  <a:tcPr marL="0" marR="0" marT="41275" marB="0"/>
                </a:tc>
                <a:tc>
                  <a:txBody>
                    <a:bodyPr/>
                    <a:lstStyle/>
                    <a:p>
                      <a:pPr marL="83185" algn="ctr">
                        <a:lnSpc>
                          <a:spcPct val="100000"/>
                        </a:lnSpc>
                        <a:spcBef>
                          <a:spcPts val="325"/>
                        </a:spcBef>
                      </a:pPr>
                      <a:r>
                        <a:rPr sz="1600" spc="-25">
                          <a:latin typeface="Arial"/>
                          <a:cs typeface="Arial"/>
                        </a:rPr>
                        <a:t>12</a:t>
                      </a:r>
                      <a:endParaRPr sz="1600">
                        <a:latin typeface="Arial"/>
                        <a:cs typeface="Arial"/>
                      </a:endParaRPr>
                    </a:p>
                  </a:txBody>
                  <a:tcPr marL="0" marR="0" marT="41275" marB="0"/>
                </a:tc>
                <a:extLst>
                  <a:ext uri="{0D108BD9-81ED-4DB2-BD59-A6C34878D82A}">
                    <a16:rowId xmlns:a16="http://schemas.microsoft.com/office/drawing/2014/main" val="10003"/>
                  </a:ext>
                </a:extLst>
              </a:tr>
              <a:tr h="345440">
                <a:tc>
                  <a:txBody>
                    <a:bodyPr/>
                    <a:lstStyle/>
                    <a:p>
                      <a:pPr marL="83185" algn="ctr">
                        <a:lnSpc>
                          <a:spcPct val="100000"/>
                        </a:lnSpc>
                        <a:spcBef>
                          <a:spcPts val="325"/>
                        </a:spcBef>
                      </a:pPr>
                      <a:r>
                        <a:rPr sz="1600" spc="-10">
                          <a:latin typeface="Arial"/>
                          <a:cs typeface="Arial"/>
                        </a:rPr>
                        <a:t>b+u+n</a:t>
                      </a:r>
                      <a:endParaRPr sz="1600">
                        <a:latin typeface="Arial"/>
                        <a:cs typeface="Arial"/>
                      </a:endParaRPr>
                    </a:p>
                  </a:txBody>
                  <a:tcPr marL="0" marR="0" marT="41275" marB="0">
                    <a:solidFill>
                      <a:srgbClr val="E3E5E8"/>
                    </a:solidFill>
                  </a:tcPr>
                </a:tc>
                <a:tc>
                  <a:txBody>
                    <a:bodyPr/>
                    <a:lstStyle/>
                    <a:p>
                      <a:pPr marL="83185" algn="ctr">
                        <a:lnSpc>
                          <a:spcPct val="100000"/>
                        </a:lnSpc>
                        <a:spcBef>
                          <a:spcPts val="325"/>
                        </a:spcBef>
                      </a:pPr>
                      <a:r>
                        <a:rPr sz="1600" spc="-50">
                          <a:latin typeface="Arial"/>
                          <a:cs typeface="Arial"/>
                        </a:rPr>
                        <a:t>4</a:t>
                      </a:r>
                      <a:endParaRPr sz="1600">
                        <a:latin typeface="Arial"/>
                        <a:cs typeface="Arial"/>
                      </a:endParaRPr>
                    </a:p>
                  </a:txBody>
                  <a:tcPr marL="0" marR="0" marT="41275" marB="0">
                    <a:solidFill>
                      <a:srgbClr val="E3E5E8"/>
                    </a:solidFill>
                  </a:tcPr>
                </a:tc>
                <a:extLst>
                  <a:ext uri="{0D108BD9-81ED-4DB2-BD59-A6C34878D82A}">
                    <a16:rowId xmlns:a16="http://schemas.microsoft.com/office/drawing/2014/main" val="10004"/>
                  </a:ext>
                </a:extLst>
              </a:tr>
              <a:tr h="288290">
                <a:tc>
                  <a:txBody>
                    <a:bodyPr/>
                    <a:lstStyle/>
                    <a:p>
                      <a:pPr marL="83185" algn="ctr">
                        <a:lnSpc>
                          <a:spcPts val="1845"/>
                        </a:lnSpc>
                        <a:spcBef>
                          <a:spcPts val="325"/>
                        </a:spcBef>
                      </a:pPr>
                      <a:r>
                        <a:rPr sz="1600" spc="-10">
                          <a:latin typeface="Arial"/>
                          <a:cs typeface="Arial"/>
                        </a:rPr>
                        <a:t>h+ug+s</a:t>
                      </a:r>
                      <a:endParaRPr sz="1600">
                        <a:latin typeface="Arial"/>
                        <a:cs typeface="Arial"/>
                      </a:endParaRPr>
                    </a:p>
                  </a:txBody>
                  <a:tcPr marL="0" marR="0" marT="41275" marB="0"/>
                </a:tc>
                <a:tc>
                  <a:txBody>
                    <a:bodyPr/>
                    <a:lstStyle/>
                    <a:p>
                      <a:pPr marL="83185" algn="ctr">
                        <a:lnSpc>
                          <a:spcPts val="1845"/>
                        </a:lnSpc>
                        <a:spcBef>
                          <a:spcPts val="325"/>
                        </a:spcBef>
                      </a:pPr>
                      <a:r>
                        <a:rPr sz="1600" spc="-50">
                          <a:latin typeface="Arial"/>
                          <a:cs typeface="Arial"/>
                        </a:rPr>
                        <a:t>5</a:t>
                      </a:r>
                      <a:endParaRPr sz="1600">
                        <a:latin typeface="Arial"/>
                        <a:cs typeface="Arial"/>
                      </a:endParaRPr>
                    </a:p>
                  </a:txBody>
                  <a:tcPr marL="0" marR="0" marT="41275" marB="0"/>
                </a:tc>
                <a:extLst>
                  <a:ext uri="{0D108BD9-81ED-4DB2-BD59-A6C34878D82A}">
                    <a16:rowId xmlns:a16="http://schemas.microsoft.com/office/drawing/2014/main" val="10005"/>
                  </a:ext>
                </a:extLst>
              </a:tr>
            </a:tbl>
          </a:graphicData>
        </a:graphic>
      </p:graphicFrame>
      <p:sp>
        <p:nvSpPr>
          <p:cNvPr id="7" name="object 7"/>
          <p:cNvSpPr txBox="1"/>
          <p:nvPr/>
        </p:nvSpPr>
        <p:spPr>
          <a:xfrm>
            <a:off x="5916150" y="2305999"/>
            <a:ext cx="3298825" cy="379095"/>
          </a:xfrm>
          <a:prstGeom prst="rect">
            <a:avLst/>
          </a:prstGeom>
        </p:spPr>
        <p:txBody>
          <a:bodyPr vert="horz" wrap="square" lIns="0" tIns="15240" rIns="0" bIns="0" rtlCol="0">
            <a:spAutoFit/>
          </a:bodyPr>
          <a:lstStyle/>
          <a:p>
            <a:pPr marL="12700">
              <a:lnSpc>
                <a:spcPct val="100000"/>
              </a:lnSpc>
              <a:spcBef>
                <a:spcPts val="120"/>
              </a:spcBef>
            </a:pPr>
            <a:r>
              <a:rPr sz="2300" spc="590">
                <a:latin typeface="Cambria"/>
                <a:cs typeface="Cambria"/>
              </a:rPr>
              <a:t>𝒱</a:t>
            </a:r>
            <a:r>
              <a:rPr sz="2300" spc="140">
                <a:latin typeface="Cambria"/>
                <a:cs typeface="Cambria"/>
              </a:rPr>
              <a:t> </a:t>
            </a:r>
            <a:r>
              <a:rPr sz="2300" spc="305">
                <a:latin typeface="Cambria"/>
                <a:cs typeface="Cambria"/>
              </a:rPr>
              <a:t>=</a:t>
            </a:r>
            <a:r>
              <a:rPr sz="2300" spc="145">
                <a:latin typeface="Cambria"/>
                <a:cs typeface="Cambria"/>
              </a:rPr>
              <a:t> </a:t>
            </a:r>
            <a:r>
              <a:rPr sz="2300" spc="135">
                <a:latin typeface="Cambria"/>
                <a:cs typeface="Cambria"/>
              </a:rPr>
              <a:t>{</a:t>
            </a:r>
            <a:r>
              <a:rPr sz="2300" spc="135">
                <a:latin typeface="Arial"/>
                <a:cs typeface="Arial"/>
              </a:rPr>
              <a:t>b</a:t>
            </a:r>
            <a:r>
              <a:rPr sz="2300" spc="135">
                <a:latin typeface="Cambria"/>
                <a:cs typeface="Cambria"/>
              </a:rPr>
              <a:t>,</a:t>
            </a:r>
            <a:r>
              <a:rPr sz="2300" spc="-114">
                <a:latin typeface="Cambria"/>
                <a:cs typeface="Cambria"/>
              </a:rPr>
              <a:t> </a:t>
            </a:r>
            <a:r>
              <a:rPr sz="2300" spc="75">
                <a:latin typeface="Arial"/>
                <a:cs typeface="Arial"/>
              </a:rPr>
              <a:t>g</a:t>
            </a:r>
            <a:r>
              <a:rPr sz="2300" spc="75">
                <a:latin typeface="Cambria"/>
                <a:cs typeface="Cambria"/>
              </a:rPr>
              <a:t>,</a:t>
            </a:r>
            <a:r>
              <a:rPr sz="2300" spc="-114">
                <a:latin typeface="Cambria"/>
                <a:cs typeface="Cambria"/>
              </a:rPr>
              <a:t> </a:t>
            </a:r>
            <a:r>
              <a:rPr sz="2300" spc="55">
                <a:latin typeface="Arial"/>
                <a:cs typeface="Arial"/>
              </a:rPr>
              <a:t>h</a:t>
            </a:r>
            <a:r>
              <a:rPr sz="2300" spc="55">
                <a:latin typeface="Cambria"/>
                <a:cs typeface="Cambria"/>
              </a:rPr>
              <a:t>,</a:t>
            </a:r>
            <a:r>
              <a:rPr sz="2300" spc="-114">
                <a:latin typeface="Cambria"/>
                <a:cs typeface="Cambria"/>
              </a:rPr>
              <a:t> </a:t>
            </a:r>
            <a:r>
              <a:rPr sz="2300" spc="55">
                <a:latin typeface="Arial"/>
                <a:cs typeface="Arial"/>
              </a:rPr>
              <a:t>n</a:t>
            </a:r>
            <a:r>
              <a:rPr sz="2300" spc="55">
                <a:latin typeface="Cambria"/>
                <a:cs typeface="Cambria"/>
              </a:rPr>
              <a:t>,</a:t>
            </a:r>
            <a:r>
              <a:rPr sz="2300" spc="-114">
                <a:latin typeface="Cambria"/>
                <a:cs typeface="Cambria"/>
              </a:rPr>
              <a:t> </a:t>
            </a:r>
            <a:r>
              <a:rPr sz="2300" spc="95">
                <a:latin typeface="Arial"/>
                <a:cs typeface="Arial"/>
              </a:rPr>
              <a:t>p</a:t>
            </a:r>
            <a:r>
              <a:rPr sz="2300" spc="95">
                <a:latin typeface="Cambria"/>
                <a:cs typeface="Cambria"/>
              </a:rPr>
              <a:t>,</a:t>
            </a:r>
            <a:r>
              <a:rPr sz="2300" spc="-114">
                <a:latin typeface="Cambria"/>
                <a:cs typeface="Cambria"/>
              </a:rPr>
              <a:t> </a:t>
            </a:r>
            <a:r>
              <a:rPr sz="2300" spc="50">
                <a:latin typeface="Arial"/>
                <a:cs typeface="Arial"/>
              </a:rPr>
              <a:t>s</a:t>
            </a:r>
            <a:r>
              <a:rPr sz="2300" spc="50">
                <a:latin typeface="Cambria"/>
                <a:cs typeface="Cambria"/>
              </a:rPr>
              <a:t>,</a:t>
            </a:r>
            <a:r>
              <a:rPr sz="2300" spc="-114">
                <a:latin typeface="Cambria"/>
                <a:cs typeface="Cambria"/>
              </a:rPr>
              <a:t> </a:t>
            </a:r>
            <a:r>
              <a:rPr sz="2300" spc="55">
                <a:latin typeface="Arial"/>
                <a:cs typeface="Arial"/>
              </a:rPr>
              <a:t>u</a:t>
            </a:r>
            <a:r>
              <a:rPr sz="2300" spc="55">
                <a:latin typeface="Cambria"/>
                <a:cs typeface="Cambria"/>
              </a:rPr>
              <a:t>,</a:t>
            </a:r>
            <a:r>
              <a:rPr sz="2300" spc="-114">
                <a:latin typeface="Cambria"/>
                <a:cs typeface="Cambria"/>
              </a:rPr>
              <a:t> </a:t>
            </a:r>
            <a:r>
              <a:rPr sz="2300" spc="65">
                <a:latin typeface="Arial"/>
                <a:cs typeface="Arial"/>
              </a:rPr>
              <a:t>ug</a:t>
            </a:r>
            <a:r>
              <a:rPr sz="2300" spc="65">
                <a:latin typeface="Cambria"/>
                <a:cs typeface="Cambria"/>
              </a:rPr>
              <a:t>}</a:t>
            </a:r>
            <a:endParaRPr sz="2300">
              <a:latin typeface="Cambria"/>
              <a:cs typeface="Cambria"/>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 name="object 9"/>
          <p:cNvSpPr txBox="1">
            <a:spLocks noGrp="1"/>
          </p:cNvSpPr>
          <p:nvPr>
            <p:ph type="sldNum" sz="quarter" idx="7"/>
          </p:nvPr>
        </p:nvSpPr>
        <p:spPr>
          <a:prstGeom prst="rect">
            <a:avLst/>
          </a:prstGeom>
        </p:spPr>
        <p:txBody>
          <a:bodyPr vert="horz" wrap="square" lIns="0" tIns="6985" rIns="0" bIns="0" rtlCol="0">
            <a:spAutoFit/>
          </a:bodyPr>
          <a:lstStyle/>
          <a:p>
            <a:pPr marL="38100">
              <a:lnSpc>
                <a:spcPct val="100000"/>
              </a:lnSpc>
              <a:spcBef>
                <a:spcPts val="55"/>
              </a:spcBef>
            </a:pPr>
            <a:fld id="{81D60167-4931-47E6-BA6A-407CBD079E47}" type="slidenum">
              <a:rPr spc="-25" dirty="0"/>
              <a:t>20</a:t>
            </a:fld>
            <a:endParaRPr spc="-25"/>
          </a:p>
        </p:txBody>
      </p:sp>
      <p:sp>
        <p:nvSpPr>
          <p:cNvPr id="10" name="object 10"/>
          <p:cNvSpPr txBox="1"/>
          <p:nvPr/>
        </p:nvSpPr>
        <p:spPr>
          <a:xfrm>
            <a:off x="5562139" y="7457345"/>
            <a:ext cx="4424680" cy="174625"/>
          </a:xfrm>
          <a:prstGeom prst="rect">
            <a:avLst/>
          </a:prstGeom>
        </p:spPr>
        <p:txBody>
          <a:bodyPr vert="horz" wrap="square" lIns="0" tIns="6985" rIns="0" bIns="0" rtlCol="0">
            <a:spAutoFit/>
          </a:bodyPr>
          <a:lstStyle/>
          <a:p>
            <a:pPr marL="12700">
              <a:lnSpc>
                <a:spcPct val="100000"/>
              </a:lnSpc>
              <a:spcBef>
                <a:spcPts val="55"/>
              </a:spcBef>
            </a:pPr>
            <a:r>
              <a:rPr sz="1000">
                <a:latin typeface="Arial"/>
                <a:cs typeface="Arial"/>
              </a:rPr>
              <a:t>Example</a:t>
            </a:r>
            <a:r>
              <a:rPr sz="1000" spc="290">
                <a:latin typeface="Arial"/>
                <a:cs typeface="Arial"/>
              </a:rPr>
              <a:t> </a:t>
            </a:r>
            <a:r>
              <a:rPr sz="1000">
                <a:latin typeface="Arial"/>
                <a:cs typeface="Arial"/>
              </a:rPr>
              <a:t>from:</a:t>
            </a:r>
            <a:r>
              <a:rPr sz="1000" spc="290">
                <a:latin typeface="Arial"/>
                <a:cs typeface="Arial"/>
              </a:rPr>
              <a:t> </a:t>
            </a:r>
            <a:r>
              <a:rPr sz="1000" u="sng" spc="-10">
                <a:uFill>
                  <a:solidFill>
                    <a:srgbClr val="000000"/>
                  </a:solidFill>
                </a:uFill>
                <a:latin typeface="Arial"/>
                <a:cs typeface="Arial"/>
                <a:hlinkClick r:id="rId2"/>
              </a:rPr>
              <a:t>https://huggingface.co/docs/transformers/tokenizer_summary</a:t>
            </a:r>
            <a:endParaRPr sz="1000">
              <a:latin typeface="Arial"/>
              <a:cs typeface="Arial"/>
            </a:endParaRPr>
          </a:p>
        </p:txBody>
      </p:sp>
      <p:sp>
        <p:nvSpPr>
          <p:cNvPr id="2" name="object 2"/>
          <p:cNvSpPr txBox="1">
            <a:spLocks noGrp="1"/>
          </p:cNvSpPr>
          <p:nvPr>
            <p:ph type="body" idx="1"/>
          </p:nvPr>
        </p:nvSpPr>
        <p:spPr>
          <a:prstGeom prst="rect">
            <a:avLst/>
          </a:prstGeom>
        </p:spPr>
        <p:txBody>
          <a:bodyPr vert="horz" wrap="square" lIns="0" tIns="39370" rIns="0" bIns="0" rtlCol="0">
            <a:spAutoFit/>
          </a:bodyPr>
          <a:lstStyle/>
          <a:p>
            <a:pPr marL="233679" marR="23495" indent="-221615">
              <a:lnSpc>
                <a:spcPct val="91700"/>
              </a:lnSpc>
              <a:spcBef>
                <a:spcPts val="310"/>
              </a:spcBef>
              <a:buSzPct val="102380"/>
              <a:buFont typeface="Arial"/>
              <a:buChar char="•"/>
              <a:tabLst>
                <a:tab pos="233679" algn="l"/>
              </a:tabLst>
            </a:pPr>
            <a:r>
              <a:rPr sz="2100" spc="525">
                <a:latin typeface="Cambria"/>
                <a:cs typeface="Cambria"/>
              </a:rPr>
              <a:t>𝒱</a:t>
            </a:r>
            <a:r>
              <a:rPr sz="2100" spc="110">
                <a:latin typeface="Cambria"/>
                <a:cs typeface="Cambria"/>
              </a:rPr>
              <a:t> </a:t>
            </a:r>
            <a:r>
              <a:rPr sz="2100" spc="175">
                <a:latin typeface="Cambria"/>
                <a:cs typeface="Cambria"/>
              </a:rPr>
              <a:t>←</a:t>
            </a:r>
            <a:r>
              <a:rPr sz="2100" spc="110">
                <a:latin typeface="Cambria"/>
                <a:cs typeface="Cambria"/>
              </a:rPr>
              <a:t> </a:t>
            </a:r>
            <a:r>
              <a:rPr sz="1750"/>
              <a:t>All</a:t>
            </a:r>
            <a:r>
              <a:rPr sz="1750" spc="-10"/>
              <a:t> </a:t>
            </a:r>
            <a:r>
              <a:rPr sz="1750"/>
              <a:t>characters</a:t>
            </a:r>
            <a:r>
              <a:rPr sz="1750" spc="-10"/>
              <a:t> </a:t>
            </a:r>
            <a:r>
              <a:rPr sz="1750"/>
              <a:t>in</a:t>
            </a:r>
            <a:r>
              <a:rPr sz="1750" spc="-15"/>
              <a:t> </a:t>
            </a:r>
            <a:r>
              <a:rPr sz="1750"/>
              <a:t>the</a:t>
            </a:r>
            <a:r>
              <a:rPr sz="1750" spc="-10"/>
              <a:t> </a:t>
            </a:r>
            <a:r>
              <a:rPr sz="1750"/>
              <a:t>training</a:t>
            </a:r>
            <a:r>
              <a:rPr sz="1750" spc="-10"/>
              <a:t> </a:t>
            </a:r>
            <a:r>
              <a:rPr sz="1750" spc="-20"/>
              <a:t>data </a:t>
            </a:r>
            <a:r>
              <a:rPr sz="1750" spc="-45"/>
              <a:t>(as</a:t>
            </a:r>
            <a:r>
              <a:rPr sz="1750" spc="-55"/>
              <a:t> </a:t>
            </a:r>
            <a:r>
              <a:rPr sz="1750"/>
              <a:t>base</a:t>
            </a:r>
            <a:r>
              <a:rPr sz="1750" spc="-55"/>
              <a:t> </a:t>
            </a:r>
            <a:r>
              <a:rPr sz="1750" b="1" spc="-10">
                <a:latin typeface="Arial"/>
                <a:cs typeface="Arial"/>
              </a:rPr>
              <a:t>tokens</a:t>
            </a:r>
            <a:r>
              <a:rPr sz="1750" spc="-10"/>
              <a:t>)</a:t>
            </a:r>
            <a:endParaRPr sz="1750">
              <a:latin typeface="Arial"/>
              <a:cs typeface="Arial"/>
            </a:endParaRPr>
          </a:p>
          <a:p>
            <a:pPr marL="233679" indent="-220979">
              <a:lnSpc>
                <a:spcPct val="100000"/>
              </a:lnSpc>
              <a:spcBef>
                <a:spcPts val="1625"/>
              </a:spcBef>
              <a:buSzPct val="122857"/>
              <a:buChar char="•"/>
              <a:tabLst>
                <a:tab pos="233679" algn="l"/>
              </a:tabLst>
            </a:pPr>
            <a:r>
              <a:rPr sz="1750"/>
              <a:t>For</a:t>
            </a:r>
            <a:r>
              <a:rPr sz="1750" spc="-50"/>
              <a:t> </a:t>
            </a:r>
            <a:r>
              <a:rPr sz="2100" i="1">
                <a:latin typeface="Times New Roman"/>
                <a:cs typeface="Times New Roman"/>
              </a:rPr>
              <a:t>k</a:t>
            </a:r>
            <a:r>
              <a:rPr sz="2100" i="1" spc="-90">
                <a:latin typeface="Times New Roman"/>
                <a:cs typeface="Times New Roman"/>
              </a:rPr>
              <a:t> </a:t>
            </a:r>
            <a:r>
              <a:rPr sz="1750" spc="-10"/>
              <a:t>steps:</a:t>
            </a:r>
            <a:endParaRPr sz="1750">
              <a:latin typeface="Times New Roman"/>
              <a:cs typeface="Times New Roman"/>
            </a:endParaRPr>
          </a:p>
          <a:p>
            <a:pPr marL="528320" marR="5080" indent="-221615">
              <a:lnSpc>
                <a:spcPct val="86400"/>
              </a:lnSpc>
              <a:spcBef>
                <a:spcPts val="1555"/>
              </a:spcBef>
            </a:pPr>
            <a:r>
              <a:rPr sz="3225" spc="165" baseline="-3875"/>
              <a:t>-</a:t>
            </a:r>
            <a:r>
              <a:rPr sz="3225" spc="465" baseline="-3875"/>
              <a:t> </a:t>
            </a:r>
            <a:r>
              <a:rPr sz="1750" spc="-40"/>
              <a:t>Tokenize</a:t>
            </a:r>
            <a:r>
              <a:rPr sz="1750" spc="-5"/>
              <a:t> </a:t>
            </a:r>
            <a:r>
              <a:rPr sz="1750"/>
              <a:t>the</a:t>
            </a:r>
            <a:r>
              <a:rPr sz="1750" spc="-5"/>
              <a:t> </a:t>
            </a:r>
            <a:r>
              <a:rPr sz="1750"/>
              <a:t>data, taking</a:t>
            </a:r>
            <a:r>
              <a:rPr sz="1750" spc="-5"/>
              <a:t> </a:t>
            </a:r>
            <a:r>
              <a:rPr sz="1750"/>
              <a:t>the</a:t>
            </a:r>
            <a:r>
              <a:rPr sz="1750" spc="-5"/>
              <a:t> </a:t>
            </a:r>
            <a:r>
              <a:rPr sz="1750" spc="-10"/>
              <a:t>longest </a:t>
            </a:r>
            <a:r>
              <a:rPr sz="1750"/>
              <a:t>prefix</a:t>
            </a:r>
            <a:r>
              <a:rPr sz="1750" spc="-20"/>
              <a:t> </a:t>
            </a:r>
            <a:r>
              <a:rPr sz="1750"/>
              <a:t>each</a:t>
            </a:r>
            <a:r>
              <a:rPr sz="1750" spc="-15"/>
              <a:t> </a:t>
            </a:r>
            <a:r>
              <a:rPr sz="1750" spc="-20"/>
              <a:t>time</a:t>
            </a:r>
            <a:endParaRPr sz="1750"/>
          </a:p>
        </p:txBody>
      </p:sp>
      <p:sp>
        <p:nvSpPr>
          <p:cNvPr id="3" name="object 3"/>
          <p:cNvSpPr txBox="1"/>
          <p:nvPr/>
        </p:nvSpPr>
        <p:spPr>
          <a:xfrm>
            <a:off x="0" y="4320714"/>
            <a:ext cx="5142230" cy="676275"/>
          </a:xfrm>
          <a:prstGeom prst="rect">
            <a:avLst/>
          </a:prstGeom>
          <a:solidFill>
            <a:srgbClr val="FFD932">
              <a:alpha val="42759"/>
            </a:srgbClr>
          </a:solidFill>
        </p:spPr>
        <p:txBody>
          <a:bodyPr vert="horz" wrap="square" lIns="0" tIns="111125" rIns="0" bIns="0" rtlCol="0">
            <a:spAutoFit/>
          </a:bodyPr>
          <a:lstStyle/>
          <a:p>
            <a:pPr marL="1094740" marR="247650" indent="-221615">
              <a:lnSpc>
                <a:spcPct val="86400"/>
              </a:lnSpc>
              <a:spcBef>
                <a:spcPts val="875"/>
              </a:spcBef>
            </a:pPr>
            <a:r>
              <a:rPr sz="3225" spc="165" baseline="-3875">
                <a:latin typeface="Arial"/>
                <a:cs typeface="Arial"/>
              </a:rPr>
              <a:t>-</a:t>
            </a:r>
            <a:r>
              <a:rPr sz="3225" spc="494" baseline="-3875">
                <a:latin typeface="Arial"/>
                <a:cs typeface="Arial"/>
              </a:rPr>
              <a:t> </a:t>
            </a:r>
            <a:r>
              <a:rPr sz="1750">
                <a:latin typeface="Arial"/>
                <a:cs typeface="Arial"/>
              </a:rPr>
              <a:t>Count the</a:t>
            </a:r>
            <a:r>
              <a:rPr sz="1750" spc="5">
                <a:latin typeface="Arial"/>
                <a:cs typeface="Arial"/>
              </a:rPr>
              <a:t> </a:t>
            </a:r>
            <a:r>
              <a:rPr sz="1750">
                <a:latin typeface="Arial"/>
                <a:cs typeface="Arial"/>
              </a:rPr>
              <a:t>frequency</a:t>
            </a:r>
            <a:r>
              <a:rPr sz="1750" spc="5">
                <a:latin typeface="Arial"/>
                <a:cs typeface="Arial"/>
              </a:rPr>
              <a:t> </a:t>
            </a:r>
            <a:r>
              <a:rPr sz="1750">
                <a:latin typeface="Arial"/>
                <a:cs typeface="Arial"/>
              </a:rPr>
              <a:t>of</a:t>
            </a:r>
            <a:r>
              <a:rPr sz="1750" spc="10">
                <a:latin typeface="Arial"/>
                <a:cs typeface="Arial"/>
              </a:rPr>
              <a:t> </a:t>
            </a:r>
            <a:r>
              <a:rPr sz="1750">
                <a:latin typeface="Arial"/>
                <a:cs typeface="Arial"/>
              </a:rPr>
              <a:t>adjacent</a:t>
            </a:r>
            <a:r>
              <a:rPr sz="1750" spc="5">
                <a:latin typeface="Arial"/>
                <a:cs typeface="Arial"/>
              </a:rPr>
              <a:t> </a:t>
            </a:r>
            <a:r>
              <a:rPr sz="1750" spc="-10">
                <a:latin typeface="Arial"/>
                <a:cs typeface="Arial"/>
              </a:rPr>
              <a:t>token </a:t>
            </a:r>
            <a:r>
              <a:rPr sz="1750">
                <a:latin typeface="Arial"/>
                <a:cs typeface="Arial"/>
              </a:rPr>
              <a:t>pairs</a:t>
            </a:r>
            <a:r>
              <a:rPr sz="1750" spc="-10">
                <a:latin typeface="Arial"/>
                <a:cs typeface="Arial"/>
              </a:rPr>
              <a:t> </a:t>
            </a:r>
            <a:r>
              <a:rPr sz="1750">
                <a:latin typeface="Arial"/>
                <a:cs typeface="Arial"/>
              </a:rPr>
              <a:t>in</a:t>
            </a:r>
            <a:r>
              <a:rPr sz="1750" spc="-10">
                <a:latin typeface="Arial"/>
                <a:cs typeface="Arial"/>
              </a:rPr>
              <a:t> </a:t>
            </a:r>
            <a:r>
              <a:rPr sz="1750">
                <a:latin typeface="Arial"/>
                <a:cs typeface="Arial"/>
              </a:rPr>
              <a:t>the</a:t>
            </a:r>
            <a:r>
              <a:rPr sz="1750" spc="-10">
                <a:latin typeface="Arial"/>
                <a:cs typeface="Arial"/>
              </a:rPr>
              <a:t> </a:t>
            </a:r>
            <a:r>
              <a:rPr sz="1750" spc="-20">
                <a:latin typeface="Arial"/>
                <a:cs typeface="Arial"/>
              </a:rPr>
              <a:t>data</a:t>
            </a:r>
            <a:endParaRPr sz="1750">
              <a:latin typeface="Arial"/>
              <a:cs typeface="Arial"/>
            </a:endParaRPr>
          </a:p>
        </p:txBody>
      </p:sp>
      <p:sp>
        <p:nvSpPr>
          <p:cNvPr id="4" name="object 4"/>
          <p:cNvSpPr txBox="1"/>
          <p:nvPr/>
        </p:nvSpPr>
        <p:spPr>
          <a:xfrm>
            <a:off x="566836" y="5137342"/>
            <a:ext cx="4409440" cy="1872614"/>
          </a:xfrm>
          <a:prstGeom prst="rect">
            <a:avLst/>
          </a:prstGeom>
        </p:spPr>
        <p:txBody>
          <a:bodyPr vert="horz" wrap="square" lIns="0" tIns="41275" rIns="0" bIns="0" rtlCol="0">
            <a:spAutoFit/>
          </a:bodyPr>
          <a:lstStyle/>
          <a:p>
            <a:pPr marL="528320" marR="5080" indent="-221615">
              <a:lnSpc>
                <a:spcPct val="89300"/>
              </a:lnSpc>
              <a:spcBef>
                <a:spcPts val="325"/>
              </a:spcBef>
              <a:buSzPct val="122857"/>
              <a:buChar char="-"/>
              <a:tabLst>
                <a:tab pos="528320" algn="l"/>
              </a:tabLst>
            </a:pPr>
            <a:r>
              <a:rPr sz="1750">
                <a:latin typeface="Arial"/>
                <a:cs typeface="Arial"/>
              </a:rPr>
              <a:t>Choose</a:t>
            </a:r>
            <a:r>
              <a:rPr sz="1750" spc="20">
                <a:latin typeface="Arial"/>
                <a:cs typeface="Arial"/>
              </a:rPr>
              <a:t> </a:t>
            </a:r>
            <a:r>
              <a:rPr sz="1750">
                <a:latin typeface="Arial"/>
                <a:cs typeface="Arial"/>
              </a:rPr>
              <a:t>the</a:t>
            </a:r>
            <a:r>
              <a:rPr sz="1750" spc="25">
                <a:latin typeface="Arial"/>
                <a:cs typeface="Arial"/>
              </a:rPr>
              <a:t> </a:t>
            </a:r>
            <a:r>
              <a:rPr sz="1750">
                <a:latin typeface="Arial"/>
                <a:cs typeface="Arial"/>
              </a:rPr>
              <a:t>pair</a:t>
            </a:r>
            <a:r>
              <a:rPr sz="1750" spc="25">
                <a:latin typeface="Arial"/>
                <a:cs typeface="Arial"/>
              </a:rPr>
              <a:t> </a:t>
            </a:r>
            <a:r>
              <a:rPr sz="2100" spc="60">
                <a:latin typeface="Cambria"/>
                <a:cs typeface="Cambria"/>
              </a:rPr>
              <a:t>⟨</a:t>
            </a:r>
            <a:r>
              <a:rPr sz="2100" i="1" spc="60">
                <a:latin typeface="Times New Roman"/>
                <a:cs typeface="Times New Roman"/>
              </a:rPr>
              <a:t>l</a:t>
            </a:r>
            <a:r>
              <a:rPr sz="2100" spc="60">
                <a:latin typeface="Cambria"/>
                <a:cs typeface="Cambria"/>
              </a:rPr>
              <a:t>,</a:t>
            </a:r>
            <a:r>
              <a:rPr sz="2100" spc="-95">
                <a:latin typeface="Cambria"/>
                <a:cs typeface="Cambria"/>
              </a:rPr>
              <a:t> </a:t>
            </a:r>
            <a:r>
              <a:rPr sz="2100" i="1">
                <a:latin typeface="Times New Roman"/>
                <a:cs typeface="Times New Roman"/>
              </a:rPr>
              <a:t>r</a:t>
            </a:r>
            <a:r>
              <a:rPr sz="2100">
                <a:latin typeface="Cambria"/>
                <a:cs typeface="Cambria"/>
              </a:rPr>
              <a:t>⟩</a:t>
            </a:r>
            <a:r>
              <a:rPr sz="2100" spc="50">
                <a:latin typeface="Cambria"/>
                <a:cs typeface="Cambria"/>
              </a:rPr>
              <a:t> </a:t>
            </a:r>
            <a:r>
              <a:rPr sz="1750">
                <a:latin typeface="Arial"/>
                <a:cs typeface="Arial"/>
              </a:rPr>
              <a:t>that</a:t>
            </a:r>
            <a:r>
              <a:rPr sz="1750" spc="20">
                <a:latin typeface="Arial"/>
                <a:cs typeface="Arial"/>
              </a:rPr>
              <a:t> </a:t>
            </a:r>
            <a:r>
              <a:rPr sz="1750">
                <a:latin typeface="Arial"/>
                <a:cs typeface="Arial"/>
              </a:rPr>
              <a:t>occurs</a:t>
            </a:r>
            <a:r>
              <a:rPr sz="1750" spc="25">
                <a:latin typeface="Arial"/>
                <a:cs typeface="Arial"/>
              </a:rPr>
              <a:t> </a:t>
            </a:r>
            <a:r>
              <a:rPr sz="1750" spc="-20">
                <a:latin typeface="Arial"/>
                <a:cs typeface="Arial"/>
              </a:rPr>
              <a:t>most </a:t>
            </a:r>
            <a:r>
              <a:rPr sz="1750" spc="-10">
                <a:latin typeface="Arial"/>
                <a:cs typeface="Arial"/>
              </a:rPr>
              <a:t>frequently</a:t>
            </a:r>
            <a:endParaRPr sz="1750">
              <a:latin typeface="Arial"/>
              <a:cs typeface="Arial"/>
            </a:endParaRPr>
          </a:p>
          <a:p>
            <a:pPr marL="528320" marR="417830" indent="-221615">
              <a:lnSpc>
                <a:spcPts val="2220"/>
              </a:lnSpc>
              <a:spcBef>
                <a:spcPts val="1614"/>
              </a:spcBef>
              <a:buSzPct val="122857"/>
              <a:buChar char="-"/>
              <a:tabLst>
                <a:tab pos="528320" algn="l"/>
              </a:tabLst>
            </a:pPr>
            <a:r>
              <a:rPr sz="1750">
                <a:latin typeface="Arial"/>
                <a:cs typeface="Arial"/>
              </a:rPr>
              <a:t>Add</a:t>
            </a:r>
            <a:r>
              <a:rPr sz="1750" spc="5">
                <a:latin typeface="Arial"/>
                <a:cs typeface="Arial"/>
              </a:rPr>
              <a:t> </a:t>
            </a:r>
            <a:r>
              <a:rPr sz="1750">
                <a:latin typeface="Arial"/>
                <a:cs typeface="Arial"/>
              </a:rPr>
              <a:t>the</a:t>
            </a:r>
            <a:r>
              <a:rPr sz="1750" spc="5">
                <a:latin typeface="Arial"/>
                <a:cs typeface="Arial"/>
              </a:rPr>
              <a:t> </a:t>
            </a:r>
            <a:r>
              <a:rPr sz="1750">
                <a:latin typeface="Arial"/>
                <a:cs typeface="Arial"/>
              </a:rPr>
              <a:t>pair</a:t>
            </a:r>
            <a:r>
              <a:rPr sz="1750" spc="5">
                <a:latin typeface="Arial"/>
                <a:cs typeface="Arial"/>
              </a:rPr>
              <a:t> </a:t>
            </a:r>
            <a:r>
              <a:rPr sz="1750">
                <a:latin typeface="Arial"/>
                <a:cs typeface="Arial"/>
              </a:rPr>
              <a:t>to</a:t>
            </a:r>
            <a:r>
              <a:rPr sz="1750" spc="10">
                <a:latin typeface="Arial"/>
                <a:cs typeface="Arial"/>
              </a:rPr>
              <a:t> </a:t>
            </a:r>
            <a:r>
              <a:rPr sz="1750">
                <a:latin typeface="Arial"/>
                <a:cs typeface="Arial"/>
              </a:rPr>
              <a:t>the</a:t>
            </a:r>
            <a:r>
              <a:rPr sz="1750" spc="5">
                <a:latin typeface="Arial"/>
                <a:cs typeface="Arial"/>
              </a:rPr>
              <a:t> </a:t>
            </a:r>
            <a:r>
              <a:rPr sz="1750">
                <a:latin typeface="Arial"/>
                <a:cs typeface="Arial"/>
              </a:rPr>
              <a:t>vocabulary</a:t>
            </a:r>
            <a:r>
              <a:rPr sz="1750" spc="5">
                <a:latin typeface="Arial"/>
                <a:cs typeface="Arial"/>
              </a:rPr>
              <a:t> </a:t>
            </a:r>
            <a:r>
              <a:rPr sz="1750">
                <a:latin typeface="Arial"/>
                <a:cs typeface="Arial"/>
              </a:rPr>
              <a:t>as</a:t>
            </a:r>
            <a:r>
              <a:rPr sz="1750" spc="5">
                <a:latin typeface="Arial"/>
                <a:cs typeface="Arial"/>
              </a:rPr>
              <a:t> </a:t>
            </a:r>
            <a:r>
              <a:rPr sz="1750" spc="-50">
                <a:latin typeface="Arial"/>
                <a:cs typeface="Arial"/>
              </a:rPr>
              <a:t>a </a:t>
            </a:r>
            <a:r>
              <a:rPr sz="1750">
                <a:latin typeface="Arial"/>
                <a:cs typeface="Arial"/>
              </a:rPr>
              <a:t>new token</a:t>
            </a:r>
            <a:r>
              <a:rPr sz="1750" spc="5">
                <a:latin typeface="Arial"/>
                <a:cs typeface="Arial"/>
              </a:rPr>
              <a:t> </a:t>
            </a:r>
            <a:r>
              <a:rPr sz="2100" spc="525">
                <a:latin typeface="Cambria"/>
                <a:cs typeface="Cambria"/>
              </a:rPr>
              <a:t>𝒱</a:t>
            </a:r>
            <a:r>
              <a:rPr sz="2100" spc="130">
                <a:latin typeface="Cambria"/>
                <a:cs typeface="Cambria"/>
              </a:rPr>
              <a:t> </a:t>
            </a:r>
            <a:r>
              <a:rPr sz="2100" spc="175">
                <a:latin typeface="Cambria"/>
                <a:cs typeface="Cambria"/>
              </a:rPr>
              <a:t>←</a:t>
            </a:r>
            <a:r>
              <a:rPr sz="2100" spc="130">
                <a:latin typeface="Cambria"/>
                <a:cs typeface="Cambria"/>
              </a:rPr>
              <a:t> </a:t>
            </a:r>
            <a:r>
              <a:rPr sz="2100" spc="525">
                <a:latin typeface="Cambria"/>
                <a:cs typeface="Cambria"/>
              </a:rPr>
              <a:t>𝒱</a:t>
            </a:r>
            <a:r>
              <a:rPr sz="2100" spc="5">
                <a:latin typeface="Cambria"/>
                <a:cs typeface="Cambria"/>
              </a:rPr>
              <a:t> </a:t>
            </a:r>
            <a:r>
              <a:rPr sz="2100" spc="-130">
                <a:latin typeface="Cambria"/>
                <a:cs typeface="Cambria"/>
              </a:rPr>
              <a:t>∪</a:t>
            </a:r>
            <a:r>
              <a:rPr sz="2100" spc="10">
                <a:latin typeface="Cambria"/>
                <a:cs typeface="Cambria"/>
              </a:rPr>
              <a:t> </a:t>
            </a:r>
            <a:r>
              <a:rPr sz="2100" spc="75">
                <a:latin typeface="Cambria"/>
                <a:cs typeface="Cambria"/>
              </a:rPr>
              <a:t>{</a:t>
            </a:r>
            <a:r>
              <a:rPr sz="2100" i="1" spc="75">
                <a:latin typeface="Times New Roman"/>
                <a:cs typeface="Times New Roman"/>
              </a:rPr>
              <a:t>lr</a:t>
            </a:r>
            <a:r>
              <a:rPr sz="2100" spc="75">
                <a:latin typeface="Cambria"/>
                <a:cs typeface="Cambria"/>
              </a:rPr>
              <a:t>}</a:t>
            </a:r>
            <a:endParaRPr sz="2100">
              <a:latin typeface="Cambria"/>
              <a:cs typeface="Cambria"/>
            </a:endParaRPr>
          </a:p>
          <a:p>
            <a:pPr marL="233679" indent="-220979">
              <a:lnSpc>
                <a:spcPct val="100000"/>
              </a:lnSpc>
              <a:spcBef>
                <a:spcPts val="1565"/>
              </a:spcBef>
              <a:buSzPct val="122857"/>
              <a:buChar char="•"/>
              <a:tabLst>
                <a:tab pos="233679" algn="l"/>
              </a:tabLst>
            </a:pPr>
            <a:r>
              <a:rPr sz="1750">
                <a:latin typeface="Arial"/>
                <a:cs typeface="Arial"/>
              </a:rPr>
              <a:t>Return</a:t>
            </a:r>
            <a:r>
              <a:rPr sz="1750" spc="-75">
                <a:latin typeface="Arial"/>
                <a:cs typeface="Arial"/>
              </a:rPr>
              <a:t> </a:t>
            </a:r>
            <a:r>
              <a:rPr sz="2100" spc="475">
                <a:latin typeface="Cambria"/>
                <a:cs typeface="Cambria"/>
              </a:rPr>
              <a:t>𝒱</a:t>
            </a:r>
            <a:endParaRPr sz="2100">
              <a:latin typeface="Cambria"/>
              <a:cs typeface="Cambria"/>
            </a:endParaRPr>
          </a:p>
        </p:txBody>
      </p:sp>
      <p:sp>
        <p:nvSpPr>
          <p:cNvPr id="5" name="object 5" descr="$PPTXTitle"/>
          <p:cNvSpPr txBox="1">
            <a:spLocks noGrp="1"/>
          </p:cNvSpPr>
          <p:nvPr>
            <p:ph type="title"/>
          </p:nvPr>
        </p:nvSpPr>
        <p:spPr>
          <a:prstGeom prst="rect">
            <a:avLst/>
          </a:prstGeom>
        </p:spPr>
        <p:txBody>
          <a:bodyPr vert="horz" wrap="square" lIns="0" tIns="88466" rIns="0" bIns="0" rtlCol="0">
            <a:spAutoFit/>
          </a:bodyPr>
          <a:lstStyle/>
          <a:p>
            <a:pPr marL="12700">
              <a:lnSpc>
                <a:spcPct val="100000"/>
              </a:lnSpc>
              <a:spcBef>
                <a:spcPts val="95"/>
              </a:spcBef>
            </a:pPr>
            <a:r>
              <a:rPr spc="-125"/>
              <a:t>Byte</a:t>
            </a:r>
            <a:r>
              <a:rPr spc="-190"/>
              <a:t> </a:t>
            </a:r>
            <a:r>
              <a:rPr spc="-80"/>
              <a:t>Pair</a:t>
            </a:r>
            <a:r>
              <a:rPr spc="-185"/>
              <a:t> </a:t>
            </a:r>
            <a:r>
              <a:rPr spc="-140"/>
              <a:t>Encoding</a:t>
            </a:r>
            <a:r>
              <a:rPr spc="-185"/>
              <a:t> </a:t>
            </a:r>
            <a:r>
              <a:rPr spc="-130"/>
              <a:t>(BPE)</a:t>
            </a:r>
          </a:p>
        </p:txBody>
      </p:sp>
      <p:graphicFrame>
        <p:nvGraphicFramePr>
          <p:cNvPr id="6" name="object 6"/>
          <p:cNvGraphicFramePr>
            <a:graphicFrameLocks noGrp="1"/>
          </p:cNvGraphicFramePr>
          <p:nvPr/>
        </p:nvGraphicFramePr>
        <p:xfrm>
          <a:off x="6021288" y="2983185"/>
          <a:ext cx="3068320" cy="4214495"/>
        </p:xfrm>
        <a:graphic>
          <a:graphicData uri="http://schemas.openxmlformats.org/drawingml/2006/table">
            <a:tbl>
              <a:tblPr firstRow="1" bandRow="1">
                <a:tableStyleId>{2D5ABB26-0587-4C30-8999-92F81FD0307C}</a:tableStyleId>
              </a:tblPr>
              <a:tblGrid>
                <a:gridCol w="1450975">
                  <a:extLst>
                    <a:ext uri="{9D8B030D-6E8A-4147-A177-3AD203B41FA5}">
                      <a16:colId xmlns:a16="http://schemas.microsoft.com/office/drawing/2014/main" val="20000"/>
                    </a:ext>
                  </a:extLst>
                </a:gridCol>
                <a:gridCol w="1617345">
                  <a:extLst>
                    <a:ext uri="{9D8B030D-6E8A-4147-A177-3AD203B41FA5}">
                      <a16:colId xmlns:a16="http://schemas.microsoft.com/office/drawing/2014/main" val="20001"/>
                    </a:ext>
                  </a:extLst>
                </a:gridCol>
              </a:tblGrid>
              <a:tr h="345440">
                <a:tc>
                  <a:txBody>
                    <a:bodyPr/>
                    <a:lstStyle/>
                    <a:p>
                      <a:pPr marL="83185" algn="ctr">
                        <a:lnSpc>
                          <a:spcPct val="100000"/>
                        </a:lnSpc>
                        <a:spcBef>
                          <a:spcPts val="395"/>
                        </a:spcBef>
                      </a:pPr>
                      <a:r>
                        <a:rPr sz="1600" b="1" spc="-20">
                          <a:latin typeface="Arial"/>
                          <a:cs typeface="Arial"/>
                        </a:rPr>
                        <a:t>Word</a:t>
                      </a:r>
                      <a:endParaRPr sz="1600">
                        <a:latin typeface="Arial"/>
                        <a:cs typeface="Arial"/>
                      </a:endParaRPr>
                    </a:p>
                  </a:txBody>
                  <a:tcPr marL="0" marR="0" marT="50165" marB="0">
                    <a:lnB w="12700">
                      <a:solidFill>
                        <a:srgbClr val="536773"/>
                      </a:solidFill>
                      <a:prstDash val="solid"/>
                    </a:lnB>
                    <a:solidFill>
                      <a:srgbClr val="56C1FF"/>
                    </a:solidFill>
                  </a:tcPr>
                </a:tc>
                <a:tc>
                  <a:txBody>
                    <a:bodyPr/>
                    <a:lstStyle/>
                    <a:p>
                      <a:pPr marL="83185" algn="ctr">
                        <a:lnSpc>
                          <a:spcPct val="100000"/>
                        </a:lnSpc>
                        <a:spcBef>
                          <a:spcPts val="395"/>
                        </a:spcBef>
                      </a:pPr>
                      <a:r>
                        <a:rPr sz="1600" b="1" spc="-10">
                          <a:latin typeface="Arial"/>
                          <a:cs typeface="Arial"/>
                        </a:rPr>
                        <a:t>Frequency</a:t>
                      </a:r>
                      <a:endParaRPr sz="1600">
                        <a:latin typeface="Arial"/>
                        <a:cs typeface="Arial"/>
                      </a:endParaRPr>
                    </a:p>
                  </a:txBody>
                  <a:tcPr marL="0" marR="0" marT="50165" marB="0">
                    <a:lnB w="12700">
                      <a:solidFill>
                        <a:srgbClr val="536773"/>
                      </a:solidFill>
                      <a:prstDash val="solid"/>
                    </a:lnB>
                    <a:solidFill>
                      <a:srgbClr val="56C1FF"/>
                    </a:solidFill>
                  </a:tcPr>
                </a:tc>
                <a:extLst>
                  <a:ext uri="{0D108BD9-81ED-4DB2-BD59-A6C34878D82A}">
                    <a16:rowId xmlns:a16="http://schemas.microsoft.com/office/drawing/2014/main" val="10000"/>
                  </a:ext>
                </a:extLst>
              </a:tr>
              <a:tr h="345440">
                <a:tc>
                  <a:txBody>
                    <a:bodyPr/>
                    <a:lstStyle/>
                    <a:p>
                      <a:pPr marL="83185" algn="ctr">
                        <a:lnSpc>
                          <a:spcPct val="100000"/>
                        </a:lnSpc>
                        <a:spcBef>
                          <a:spcPts val="365"/>
                        </a:spcBef>
                      </a:pPr>
                      <a:r>
                        <a:rPr sz="1600" spc="-20">
                          <a:latin typeface="Arial"/>
                          <a:cs typeface="Arial"/>
                        </a:rPr>
                        <a:t>h+ug</a:t>
                      </a:r>
                      <a:endParaRPr sz="1600">
                        <a:latin typeface="Arial"/>
                        <a:cs typeface="Arial"/>
                      </a:endParaRPr>
                    </a:p>
                  </a:txBody>
                  <a:tcPr marL="0" marR="0" marT="46355" marB="0">
                    <a:lnT w="12700">
                      <a:solidFill>
                        <a:srgbClr val="536773"/>
                      </a:solidFill>
                      <a:prstDash val="solid"/>
                    </a:lnT>
                  </a:tcPr>
                </a:tc>
                <a:tc>
                  <a:txBody>
                    <a:bodyPr/>
                    <a:lstStyle/>
                    <a:p>
                      <a:pPr marL="83185" algn="ctr">
                        <a:lnSpc>
                          <a:spcPct val="100000"/>
                        </a:lnSpc>
                        <a:spcBef>
                          <a:spcPts val="365"/>
                        </a:spcBef>
                      </a:pPr>
                      <a:r>
                        <a:rPr sz="1600" spc="-25">
                          <a:latin typeface="Arial"/>
                          <a:cs typeface="Arial"/>
                        </a:rPr>
                        <a:t>10</a:t>
                      </a:r>
                      <a:endParaRPr sz="1600">
                        <a:latin typeface="Arial"/>
                        <a:cs typeface="Arial"/>
                      </a:endParaRPr>
                    </a:p>
                  </a:txBody>
                  <a:tcPr marL="0" marR="0" marT="46355" marB="0">
                    <a:lnT w="12700">
                      <a:solidFill>
                        <a:srgbClr val="536773"/>
                      </a:solidFill>
                      <a:prstDash val="solid"/>
                    </a:lnT>
                  </a:tcPr>
                </a:tc>
                <a:extLst>
                  <a:ext uri="{0D108BD9-81ED-4DB2-BD59-A6C34878D82A}">
                    <a16:rowId xmlns:a16="http://schemas.microsoft.com/office/drawing/2014/main" val="10001"/>
                  </a:ext>
                </a:extLst>
              </a:tr>
              <a:tr h="345440">
                <a:tc>
                  <a:txBody>
                    <a:bodyPr/>
                    <a:lstStyle/>
                    <a:p>
                      <a:pPr marL="83185" algn="ctr">
                        <a:lnSpc>
                          <a:spcPct val="100000"/>
                        </a:lnSpc>
                        <a:spcBef>
                          <a:spcPts val="325"/>
                        </a:spcBef>
                      </a:pPr>
                      <a:r>
                        <a:rPr sz="1600" spc="-20">
                          <a:latin typeface="Arial"/>
                          <a:cs typeface="Arial"/>
                        </a:rPr>
                        <a:t>p+ug</a:t>
                      </a:r>
                      <a:endParaRPr sz="1600">
                        <a:latin typeface="Arial"/>
                        <a:cs typeface="Arial"/>
                      </a:endParaRPr>
                    </a:p>
                  </a:txBody>
                  <a:tcPr marL="0" marR="0" marT="41275" marB="0">
                    <a:solidFill>
                      <a:srgbClr val="E3E5E8"/>
                    </a:solidFill>
                  </a:tcPr>
                </a:tc>
                <a:tc>
                  <a:txBody>
                    <a:bodyPr/>
                    <a:lstStyle/>
                    <a:p>
                      <a:pPr marL="83185" algn="ctr">
                        <a:lnSpc>
                          <a:spcPct val="100000"/>
                        </a:lnSpc>
                        <a:spcBef>
                          <a:spcPts val="325"/>
                        </a:spcBef>
                      </a:pPr>
                      <a:r>
                        <a:rPr sz="1600" spc="-50">
                          <a:latin typeface="Arial"/>
                          <a:cs typeface="Arial"/>
                        </a:rPr>
                        <a:t>5</a:t>
                      </a:r>
                      <a:endParaRPr sz="1600">
                        <a:latin typeface="Arial"/>
                        <a:cs typeface="Arial"/>
                      </a:endParaRPr>
                    </a:p>
                  </a:txBody>
                  <a:tcPr marL="0" marR="0" marT="41275" marB="0">
                    <a:solidFill>
                      <a:srgbClr val="E3E5E8"/>
                    </a:solidFill>
                  </a:tcPr>
                </a:tc>
                <a:extLst>
                  <a:ext uri="{0D108BD9-81ED-4DB2-BD59-A6C34878D82A}">
                    <a16:rowId xmlns:a16="http://schemas.microsoft.com/office/drawing/2014/main" val="10002"/>
                  </a:ext>
                </a:extLst>
              </a:tr>
              <a:tr h="345440">
                <a:tc>
                  <a:txBody>
                    <a:bodyPr/>
                    <a:lstStyle/>
                    <a:p>
                      <a:pPr marL="83185" algn="ctr">
                        <a:lnSpc>
                          <a:spcPct val="100000"/>
                        </a:lnSpc>
                        <a:spcBef>
                          <a:spcPts val="325"/>
                        </a:spcBef>
                      </a:pPr>
                      <a:r>
                        <a:rPr sz="1600" spc="-10">
                          <a:latin typeface="Arial"/>
                          <a:cs typeface="Arial"/>
                        </a:rPr>
                        <a:t>p+u+n</a:t>
                      </a:r>
                      <a:endParaRPr sz="1600">
                        <a:latin typeface="Arial"/>
                        <a:cs typeface="Arial"/>
                      </a:endParaRPr>
                    </a:p>
                  </a:txBody>
                  <a:tcPr marL="0" marR="0" marT="41275" marB="0"/>
                </a:tc>
                <a:tc>
                  <a:txBody>
                    <a:bodyPr/>
                    <a:lstStyle/>
                    <a:p>
                      <a:pPr marL="83185" algn="ctr">
                        <a:lnSpc>
                          <a:spcPct val="100000"/>
                        </a:lnSpc>
                        <a:spcBef>
                          <a:spcPts val="325"/>
                        </a:spcBef>
                      </a:pPr>
                      <a:r>
                        <a:rPr sz="1600" spc="-25">
                          <a:latin typeface="Arial"/>
                          <a:cs typeface="Arial"/>
                        </a:rPr>
                        <a:t>12</a:t>
                      </a:r>
                      <a:endParaRPr sz="1600">
                        <a:latin typeface="Arial"/>
                        <a:cs typeface="Arial"/>
                      </a:endParaRPr>
                    </a:p>
                  </a:txBody>
                  <a:tcPr marL="0" marR="0" marT="41275" marB="0"/>
                </a:tc>
                <a:extLst>
                  <a:ext uri="{0D108BD9-81ED-4DB2-BD59-A6C34878D82A}">
                    <a16:rowId xmlns:a16="http://schemas.microsoft.com/office/drawing/2014/main" val="10003"/>
                  </a:ext>
                </a:extLst>
              </a:tr>
              <a:tr h="345440">
                <a:tc>
                  <a:txBody>
                    <a:bodyPr/>
                    <a:lstStyle/>
                    <a:p>
                      <a:pPr marL="83185" algn="ctr">
                        <a:lnSpc>
                          <a:spcPct val="100000"/>
                        </a:lnSpc>
                        <a:spcBef>
                          <a:spcPts val="325"/>
                        </a:spcBef>
                      </a:pPr>
                      <a:r>
                        <a:rPr sz="1600" spc="-10">
                          <a:latin typeface="Arial"/>
                          <a:cs typeface="Arial"/>
                        </a:rPr>
                        <a:t>b+u+n</a:t>
                      </a:r>
                      <a:endParaRPr sz="1600">
                        <a:latin typeface="Arial"/>
                        <a:cs typeface="Arial"/>
                      </a:endParaRPr>
                    </a:p>
                  </a:txBody>
                  <a:tcPr marL="0" marR="0" marT="41275" marB="0">
                    <a:solidFill>
                      <a:srgbClr val="E3E5E8"/>
                    </a:solidFill>
                  </a:tcPr>
                </a:tc>
                <a:tc>
                  <a:txBody>
                    <a:bodyPr/>
                    <a:lstStyle/>
                    <a:p>
                      <a:pPr marL="83185" algn="ctr">
                        <a:lnSpc>
                          <a:spcPct val="100000"/>
                        </a:lnSpc>
                        <a:spcBef>
                          <a:spcPts val="325"/>
                        </a:spcBef>
                      </a:pPr>
                      <a:r>
                        <a:rPr sz="1600" spc="-50">
                          <a:latin typeface="Arial"/>
                          <a:cs typeface="Arial"/>
                        </a:rPr>
                        <a:t>4</a:t>
                      </a:r>
                      <a:endParaRPr sz="1600">
                        <a:latin typeface="Arial"/>
                        <a:cs typeface="Arial"/>
                      </a:endParaRPr>
                    </a:p>
                  </a:txBody>
                  <a:tcPr marL="0" marR="0" marT="41275" marB="0">
                    <a:solidFill>
                      <a:srgbClr val="E3E5E8"/>
                    </a:solidFill>
                  </a:tcPr>
                </a:tc>
                <a:extLst>
                  <a:ext uri="{0D108BD9-81ED-4DB2-BD59-A6C34878D82A}">
                    <a16:rowId xmlns:a16="http://schemas.microsoft.com/office/drawing/2014/main" val="10004"/>
                  </a:ext>
                </a:extLst>
              </a:tr>
              <a:tr h="440055">
                <a:tc>
                  <a:txBody>
                    <a:bodyPr/>
                    <a:lstStyle/>
                    <a:p>
                      <a:pPr marL="83185" algn="ctr">
                        <a:lnSpc>
                          <a:spcPct val="100000"/>
                        </a:lnSpc>
                        <a:spcBef>
                          <a:spcPts val="325"/>
                        </a:spcBef>
                      </a:pPr>
                      <a:r>
                        <a:rPr sz="1600" spc="-10">
                          <a:latin typeface="Arial"/>
                          <a:cs typeface="Arial"/>
                        </a:rPr>
                        <a:t>h+ug+s</a:t>
                      </a:r>
                      <a:endParaRPr sz="1600">
                        <a:latin typeface="Arial"/>
                        <a:cs typeface="Arial"/>
                      </a:endParaRPr>
                    </a:p>
                  </a:txBody>
                  <a:tcPr marL="0" marR="0" marT="41275" marB="0"/>
                </a:tc>
                <a:tc>
                  <a:txBody>
                    <a:bodyPr/>
                    <a:lstStyle/>
                    <a:p>
                      <a:pPr marL="83185" algn="ctr">
                        <a:lnSpc>
                          <a:spcPct val="100000"/>
                        </a:lnSpc>
                        <a:spcBef>
                          <a:spcPts val="325"/>
                        </a:spcBef>
                      </a:pPr>
                      <a:r>
                        <a:rPr sz="1600" spc="-50">
                          <a:latin typeface="Arial"/>
                          <a:cs typeface="Arial"/>
                        </a:rPr>
                        <a:t>5</a:t>
                      </a:r>
                      <a:endParaRPr sz="1600">
                        <a:latin typeface="Arial"/>
                        <a:cs typeface="Arial"/>
                      </a:endParaRPr>
                    </a:p>
                  </a:txBody>
                  <a:tcPr marL="0" marR="0" marT="41275" marB="0"/>
                </a:tc>
                <a:extLst>
                  <a:ext uri="{0D108BD9-81ED-4DB2-BD59-A6C34878D82A}">
                    <a16:rowId xmlns:a16="http://schemas.microsoft.com/office/drawing/2014/main" val="10005"/>
                  </a:ext>
                </a:extLst>
              </a:tr>
              <a:tr h="345440">
                <a:tc>
                  <a:txBody>
                    <a:bodyPr/>
                    <a:lstStyle/>
                    <a:p>
                      <a:pPr marL="83185" algn="ctr">
                        <a:lnSpc>
                          <a:spcPct val="100000"/>
                        </a:lnSpc>
                        <a:spcBef>
                          <a:spcPts val="395"/>
                        </a:spcBef>
                      </a:pPr>
                      <a:r>
                        <a:rPr sz="1600" b="1" spc="-20">
                          <a:latin typeface="Arial"/>
                          <a:cs typeface="Arial"/>
                        </a:rPr>
                        <a:t>Pair</a:t>
                      </a:r>
                      <a:endParaRPr sz="1600">
                        <a:latin typeface="Arial"/>
                        <a:cs typeface="Arial"/>
                      </a:endParaRPr>
                    </a:p>
                  </a:txBody>
                  <a:tcPr marL="0" marR="0" marT="50165" marB="0">
                    <a:lnB w="12700">
                      <a:solidFill>
                        <a:srgbClr val="536773"/>
                      </a:solidFill>
                      <a:prstDash val="solid"/>
                    </a:lnB>
                    <a:solidFill>
                      <a:srgbClr val="56C1FF"/>
                    </a:solidFill>
                  </a:tcPr>
                </a:tc>
                <a:tc>
                  <a:txBody>
                    <a:bodyPr/>
                    <a:lstStyle/>
                    <a:p>
                      <a:pPr marL="83185" algn="ctr">
                        <a:lnSpc>
                          <a:spcPct val="100000"/>
                        </a:lnSpc>
                        <a:spcBef>
                          <a:spcPts val="395"/>
                        </a:spcBef>
                      </a:pPr>
                      <a:r>
                        <a:rPr sz="1600" b="1" spc="-10">
                          <a:latin typeface="Arial"/>
                          <a:cs typeface="Arial"/>
                        </a:rPr>
                        <a:t>Frequency</a:t>
                      </a:r>
                      <a:endParaRPr sz="1600">
                        <a:latin typeface="Arial"/>
                        <a:cs typeface="Arial"/>
                      </a:endParaRPr>
                    </a:p>
                  </a:txBody>
                  <a:tcPr marL="0" marR="0" marT="50165" marB="0">
                    <a:lnB w="12700">
                      <a:solidFill>
                        <a:srgbClr val="536773"/>
                      </a:solidFill>
                      <a:prstDash val="solid"/>
                    </a:lnB>
                    <a:solidFill>
                      <a:srgbClr val="56C1FF"/>
                    </a:solidFill>
                  </a:tcPr>
                </a:tc>
                <a:extLst>
                  <a:ext uri="{0D108BD9-81ED-4DB2-BD59-A6C34878D82A}">
                    <a16:rowId xmlns:a16="http://schemas.microsoft.com/office/drawing/2014/main" val="10006"/>
                  </a:ext>
                </a:extLst>
              </a:tr>
              <a:tr h="345440">
                <a:tc>
                  <a:txBody>
                    <a:bodyPr/>
                    <a:lstStyle/>
                    <a:p>
                      <a:pPr marL="83185" algn="ctr">
                        <a:lnSpc>
                          <a:spcPct val="100000"/>
                        </a:lnSpc>
                        <a:spcBef>
                          <a:spcPts val="365"/>
                        </a:spcBef>
                      </a:pPr>
                      <a:r>
                        <a:rPr sz="1600" spc="-25">
                          <a:latin typeface="Arial"/>
                          <a:cs typeface="Arial"/>
                        </a:rPr>
                        <a:t>u+n</a:t>
                      </a:r>
                      <a:endParaRPr sz="1600">
                        <a:latin typeface="Arial"/>
                        <a:cs typeface="Arial"/>
                      </a:endParaRPr>
                    </a:p>
                  </a:txBody>
                  <a:tcPr marL="0" marR="0" marT="46355" marB="0">
                    <a:lnT w="12700">
                      <a:solidFill>
                        <a:srgbClr val="536773"/>
                      </a:solidFill>
                      <a:prstDash val="solid"/>
                    </a:lnT>
                  </a:tcPr>
                </a:tc>
                <a:tc>
                  <a:txBody>
                    <a:bodyPr/>
                    <a:lstStyle/>
                    <a:p>
                      <a:pPr marL="83185" algn="ctr">
                        <a:lnSpc>
                          <a:spcPct val="100000"/>
                        </a:lnSpc>
                        <a:spcBef>
                          <a:spcPts val="365"/>
                        </a:spcBef>
                      </a:pPr>
                      <a:r>
                        <a:rPr sz="1600" spc="-25">
                          <a:latin typeface="Arial"/>
                          <a:cs typeface="Arial"/>
                        </a:rPr>
                        <a:t>16</a:t>
                      </a:r>
                      <a:endParaRPr sz="1600">
                        <a:latin typeface="Arial"/>
                        <a:cs typeface="Arial"/>
                      </a:endParaRPr>
                    </a:p>
                  </a:txBody>
                  <a:tcPr marL="0" marR="0" marT="46355" marB="0">
                    <a:lnT w="12700">
                      <a:solidFill>
                        <a:srgbClr val="536773"/>
                      </a:solidFill>
                      <a:prstDash val="solid"/>
                    </a:lnT>
                  </a:tcPr>
                </a:tc>
                <a:extLst>
                  <a:ext uri="{0D108BD9-81ED-4DB2-BD59-A6C34878D82A}">
                    <a16:rowId xmlns:a16="http://schemas.microsoft.com/office/drawing/2014/main" val="10007"/>
                  </a:ext>
                </a:extLst>
              </a:tr>
              <a:tr h="345440">
                <a:tc>
                  <a:txBody>
                    <a:bodyPr/>
                    <a:lstStyle/>
                    <a:p>
                      <a:pPr marL="83185" algn="ctr">
                        <a:lnSpc>
                          <a:spcPct val="100000"/>
                        </a:lnSpc>
                        <a:spcBef>
                          <a:spcPts val="325"/>
                        </a:spcBef>
                      </a:pPr>
                      <a:r>
                        <a:rPr sz="1600" spc="-20">
                          <a:latin typeface="Arial"/>
                          <a:cs typeface="Arial"/>
                        </a:rPr>
                        <a:t>h+ug</a:t>
                      </a:r>
                      <a:endParaRPr sz="1600">
                        <a:latin typeface="Arial"/>
                        <a:cs typeface="Arial"/>
                      </a:endParaRPr>
                    </a:p>
                  </a:txBody>
                  <a:tcPr marL="0" marR="0" marT="41275" marB="0">
                    <a:solidFill>
                      <a:srgbClr val="E3E5E8"/>
                    </a:solidFill>
                  </a:tcPr>
                </a:tc>
                <a:tc>
                  <a:txBody>
                    <a:bodyPr/>
                    <a:lstStyle/>
                    <a:p>
                      <a:pPr marL="83185" algn="ctr">
                        <a:lnSpc>
                          <a:spcPct val="100000"/>
                        </a:lnSpc>
                        <a:spcBef>
                          <a:spcPts val="325"/>
                        </a:spcBef>
                      </a:pPr>
                      <a:r>
                        <a:rPr sz="1600" spc="-25">
                          <a:latin typeface="Arial"/>
                          <a:cs typeface="Arial"/>
                        </a:rPr>
                        <a:t>15</a:t>
                      </a:r>
                      <a:endParaRPr sz="1600">
                        <a:latin typeface="Arial"/>
                        <a:cs typeface="Arial"/>
                      </a:endParaRPr>
                    </a:p>
                  </a:txBody>
                  <a:tcPr marL="0" marR="0" marT="41275" marB="0">
                    <a:solidFill>
                      <a:srgbClr val="E3E5E8"/>
                    </a:solidFill>
                  </a:tcPr>
                </a:tc>
                <a:extLst>
                  <a:ext uri="{0D108BD9-81ED-4DB2-BD59-A6C34878D82A}">
                    <a16:rowId xmlns:a16="http://schemas.microsoft.com/office/drawing/2014/main" val="10008"/>
                  </a:ext>
                </a:extLst>
              </a:tr>
              <a:tr h="345440">
                <a:tc>
                  <a:txBody>
                    <a:bodyPr/>
                    <a:lstStyle/>
                    <a:p>
                      <a:pPr marL="83185" algn="ctr">
                        <a:lnSpc>
                          <a:spcPct val="100000"/>
                        </a:lnSpc>
                        <a:spcBef>
                          <a:spcPts val="325"/>
                        </a:spcBef>
                      </a:pPr>
                      <a:r>
                        <a:rPr sz="1600" spc="-25">
                          <a:latin typeface="Arial"/>
                          <a:cs typeface="Arial"/>
                        </a:rPr>
                        <a:t>p+u</a:t>
                      </a:r>
                      <a:endParaRPr sz="1600">
                        <a:latin typeface="Arial"/>
                        <a:cs typeface="Arial"/>
                      </a:endParaRPr>
                    </a:p>
                  </a:txBody>
                  <a:tcPr marL="0" marR="0" marT="41275" marB="0"/>
                </a:tc>
                <a:tc>
                  <a:txBody>
                    <a:bodyPr/>
                    <a:lstStyle/>
                    <a:p>
                      <a:pPr marL="83185" algn="ctr">
                        <a:lnSpc>
                          <a:spcPct val="100000"/>
                        </a:lnSpc>
                        <a:spcBef>
                          <a:spcPts val="325"/>
                        </a:spcBef>
                      </a:pPr>
                      <a:r>
                        <a:rPr sz="1600" spc="-25">
                          <a:latin typeface="Arial"/>
                          <a:cs typeface="Arial"/>
                        </a:rPr>
                        <a:t>12</a:t>
                      </a:r>
                      <a:endParaRPr sz="1600">
                        <a:latin typeface="Arial"/>
                        <a:cs typeface="Arial"/>
                      </a:endParaRPr>
                    </a:p>
                  </a:txBody>
                  <a:tcPr marL="0" marR="0" marT="41275" marB="0"/>
                </a:tc>
                <a:extLst>
                  <a:ext uri="{0D108BD9-81ED-4DB2-BD59-A6C34878D82A}">
                    <a16:rowId xmlns:a16="http://schemas.microsoft.com/office/drawing/2014/main" val="10009"/>
                  </a:ext>
                </a:extLst>
              </a:tr>
              <a:tr h="345440">
                <a:tc>
                  <a:txBody>
                    <a:bodyPr/>
                    <a:lstStyle/>
                    <a:p>
                      <a:pPr marL="83185" algn="ctr">
                        <a:lnSpc>
                          <a:spcPct val="100000"/>
                        </a:lnSpc>
                        <a:spcBef>
                          <a:spcPts val="325"/>
                        </a:spcBef>
                      </a:pPr>
                      <a:r>
                        <a:rPr sz="1600" spc="-20">
                          <a:latin typeface="Arial"/>
                          <a:cs typeface="Arial"/>
                        </a:rPr>
                        <a:t>p+ug</a:t>
                      </a:r>
                      <a:endParaRPr sz="1600">
                        <a:latin typeface="Arial"/>
                        <a:cs typeface="Arial"/>
                      </a:endParaRPr>
                    </a:p>
                  </a:txBody>
                  <a:tcPr marL="0" marR="0" marT="41275" marB="0">
                    <a:solidFill>
                      <a:srgbClr val="E3E5E8"/>
                    </a:solidFill>
                  </a:tcPr>
                </a:tc>
                <a:tc>
                  <a:txBody>
                    <a:bodyPr/>
                    <a:lstStyle/>
                    <a:p>
                      <a:pPr marL="83185" algn="ctr">
                        <a:lnSpc>
                          <a:spcPct val="100000"/>
                        </a:lnSpc>
                        <a:spcBef>
                          <a:spcPts val="325"/>
                        </a:spcBef>
                      </a:pPr>
                      <a:r>
                        <a:rPr sz="1600" spc="-50">
                          <a:latin typeface="Arial"/>
                          <a:cs typeface="Arial"/>
                        </a:rPr>
                        <a:t>5</a:t>
                      </a:r>
                      <a:endParaRPr sz="1600">
                        <a:latin typeface="Arial"/>
                        <a:cs typeface="Arial"/>
                      </a:endParaRPr>
                    </a:p>
                  </a:txBody>
                  <a:tcPr marL="0" marR="0" marT="41275" marB="0">
                    <a:solidFill>
                      <a:srgbClr val="E3E5E8"/>
                    </a:solidFill>
                  </a:tcPr>
                </a:tc>
                <a:extLst>
                  <a:ext uri="{0D108BD9-81ED-4DB2-BD59-A6C34878D82A}">
                    <a16:rowId xmlns:a16="http://schemas.microsoft.com/office/drawing/2014/main" val="10010"/>
                  </a:ext>
                </a:extLst>
              </a:tr>
              <a:tr h="320040">
                <a:tc>
                  <a:txBody>
                    <a:bodyPr/>
                    <a:lstStyle/>
                    <a:p>
                      <a:pPr marL="83185" algn="ctr">
                        <a:lnSpc>
                          <a:spcPct val="100000"/>
                        </a:lnSpc>
                        <a:spcBef>
                          <a:spcPts val="325"/>
                        </a:spcBef>
                      </a:pPr>
                      <a:r>
                        <a:rPr sz="1600" spc="-20">
                          <a:latin typeface="Arial"/>
                          <a:cs typeface="Arial"/>
                        </a:rPr>
                        <a:t>ug+s</a:t>
                      </a:r>
                      <a:endParaRPr sz="1600">
                        <a:latin typeface="Arial"/>
                        <a:cs typeface="Arial"/>
                      </a:endParaRPr>
                    </a:p>
                  </a:txBody>
                  <a:tcPr marL="0" marR="0" marT="41275" marB="0"/>
                </a:tc>
                <a:tc>
                  <a:txBody>
                    <a:bodyPr/>
                    <a:lstStyle/>
                    <a:p>
                      <a:pPr marL="83185" algn="ctr">
                        <a:lnSpc>
                          <a:spcPct val="100000"/>
                        </a:lnSpc>
                        <a:spcBef>
                          <a:spcPts val="325"/>
                        </a:spcBef>
                      </a:pPr>
                      <a:r>
                        <a:rPr sz="1600" spc="-50">
                          <a:latin typeface="Arial"/>
                          <a:cs typeface="Arial"/>
                        </a:rPr>
                        <a:t>5</a:t>
                      </a:r>
                      <a:endParaRPr sz="1600">
                        <a:latin typeface="Arial"/>
                        <a:cs typeface="Arial"/>
                      </a:endParaRPr>
                    </a:p>
                  </a:txBody>
                  <a:tcPr marL="0" marR="0" marT="41275" marB="0"/>
                </a:tc>
                <a:extLst>
                  <a:ext uri="{0D108BD9-81ED-4DB2-BD59-A6C34878D82A}">
                    <a16:rowId xmlns:a16="http://schemas.microsoft.com/office/drawing/2014/main" val="10011"/>
                  </a:ext>
                </a:extLst>
              </a:tr>
            </a:tbl>
          </a:graphicData>
        </a:graphic>
      </p:graphicFrame>
      <p:sp>
        <p:nvSpPr>
          <p:cNvPr id="7" name="object 7"/>
          <p:cNvSpPr txBox="1"/>
          <p:nvPr/>
        </p:nvSpPr>
        <p:spPr>
          <a:xfrm>
            <a:off x="5916150" y="2305999"/>
            <a:ext cx="3298825" cy="379095"/>
          </a:xfrm>
          <a:prstGeom prst="rect">
            <a:avLst/>
          </a:prstGeom>
        </p:spPr>
        <p:txBody>
          <a:bodyPr vert="horz" wrap="square" lIns="0" tIns="15240" rIns="0" bIns="0" rtlCol="0">
            <a:spAutoFit/>
          </a:bodyPr>
          <a:lstStyle/>
          <a:p>
            <a:pPr marL="12700">
              <a:lnSpc>
                <a:spcPct val="100000"/>
              </a:lnSpc>
              <a:spcBef>
                <a:spcPts val="120"/>
              </a:spcBef>
            </a:pPr>
            <a:r>
              <a:rPr sz="2300" spc="590">
                <a:latin typeface="Cambria"/>
                <a:cs typeface="Cambria"/>
              </a:rPr>
              <a:t>𝒱</a:t>
            </a:r>
            <a:r>
              <a:rPr sz="2300" spc="140">
                <a:latin typeface="Cambria"/>
                <a:cs typeface="Cambria"/>
              </a:rPr>
              <a:t> </a:t>
            </a:r>
            <a:r>
              <a:rPr sz="2300" spc="305">
                <a:latin typeface="Cambria"/>
                <a:cs typeface="Cambria"/>
              </a:rPr>
              <a:t>=</a:t>
            </a:r>
            <a:r>
              <a:rPr sz="2300" spc="145">
                <a:latin typeface="Cambria"/>
                <a:cs typeface="Cambria"/>
              </a:rPr>
              <a:t> </a:t>
            </a:r>
            <a:r>
              <a:rPr sz="2300" spc="135">
                <a:latin typeface="Cambria"/>
                <a:cs typeface="Cambria"/>
              </a:rPr>
              <a:t>{</a:t>
            </a:r>
            <a:r>
              <a:rPr sz="2300" spc="135">
                <a:latin typeface="Arial"/>
                <a:cs typeface="Arial"/>
              </a:rPr>
              <a:t>b</a:t>
            </a:r>
            <a:r>
              <a:rPr sz="2300" spc="135">
                <a:latin typeface="Cambria"/>
                <a:cs typeface="Cambria"/>
              </a:rPr>
              <a:t>,</a:t>
            </a:r>
            <a:r>
              <a:rPr sz="2300" spc="-114">
                <a:latin typeface="Cambria"/>
                <a:cs typeface="Cambria"/>
              </a:rPr>
              <a:t> </a:t>
            </a:r>
            <a:r>
              <a:rPr sz="2300" spc="75">
                <a:latin typeface="Arial"/>
                <a:cs typeface="Arial"/>
              </a:rPr>
              <a:t>g</a:t>
            </a:r>
            <a:r>
              <a:rPr sz="2300" spc="75">
                <a:latin typeface="Cambria"/>
                <a:cs typeface="Cambria"/>
              </a:rPr>
              <a:t>,</a:t>
            </a:r>
            <a:r>
              <a:rPr sz="2300" spc="-114">
                <a:latin typeface="Cambria"/>
                <a:cs typeface="Cambria"/>
              </a:rPr>
              <a:t> </a:t>
            </a:r>
            <a:r>
              <a:rPr sz="2300" spc="55">
                <a:latin typeface="Arial"/>
                <a:cs typeface="Arial"/>
              </a:rPr>
              <a:t>h</a:t>
            </a:r>
            <a:r>
              <a:rPr sz="2300" spc="55">
                <a:latin typeface="Cambria"/>
                <a:cs typeface="Cambria"/>
              </a:rPr>
              <a:t>,</a:t>
            </a:r>
            <a:r>
              <a:rPr sz="2300" spc="-114">
                <a:latin typeface="Cambria"/>
                <a:cs typeface="Cambria"/>
              </a:rPr>
              <a:t> </a:t>
            </a:r>
            <a:r>
              <a:rPr sz="2300" spc="55">
                <a:latin typeface="Arial"/>
                <a:cs typeface="Arial"/>
              </a:rPr>
              <a:t>n</a:t>
            </a:r>
            <a:r>
              <a:rPr sz="2300" spc="55">
                <a:latin typeface="Cambria"/>
                <a:cs typeface="Cambria"/>
              </a:rPr>
              <a:t>,</a:t>
            </a:r>
            <a:r>
              <a:rPr sz="2300" spc="-114">
                <a:latin typeface="Cambria"/>
                <a:cs typeface="Cambria"/>
              </a:rPr>
              <a:t> </a:t>
            </a:r>
            <a:r>
              <a:rPr sz="2300" spc="95">
                <a:latin typeface="Arial"/>
                <a:cs typeface="Arial"/>
              </a:rPr>
              <a:t>p</a:t>
            </a:r>
            <a:r>
              <a:rPr sz="2300" spc="95">
                <a:latin typeface="Cambria"/>
                <a:cs typeface="Cambria"/>
              </a:rPr>
              <a:t>,</a:t>
            </a:r>
            <a:r>
              <a:rPr sz="2300" spc="-114">
                <a:latin typeface="Cambria"/>
                <a:cs typeface="Cambria"/>
              </a:rPr>
              <a:t> </a:t>
            </a:r>
            <a:r>
              <a:rPr sz="2300" spc="50">
                <a:latin typeface="Arial"/>
                <a:cs typeface="Arial"/>
              </a:rPr>
              <a:t>s</a:t>
            </a:r>
            <a:r>
              <a:rPr sz="2300" spc="50">
                <a:latin typeface="Cambria"/>
                <a:cs typeface="Cambria"/>
              </a:rPr>
              <a:t>,</a:t>
            </a:r>
            <a:r>
              <a:rPr sz="2300" spc="-114">
                <a:latin typeface="Cambria"/>
                <a:cs typeface="Cambria"/>
              </a:rPr>
              <a:t> </a:t>
            </a:r>
            <a:r>
              <a:rPr sz="2300" spc="55">
                <a:latin typeface="Arial"/>
                <a:cs typeface="Arial"/>
              </a:rPr>
              <a:t>u</a:t>
            </a:r>
            <a:r>
              <a:rPr sz="2300" spc="55">
                <a:latin typeface="Cambria"/>
                <a:cs typeface="Cambria"/>
              </a:rPr>
              <a:t>,</a:t>
            </a:r>
            <a:r>
              <a:rPr sz="2300" spc="-114">
                <a:latin typeface="Cambria"/>
                <a:cs typeface="Cambria"/>
              </a:rPr>
              <a:t> </a:t>
            </a:r>
            <a:r>
              <a:rPr sz="2300" spc="65">
                <a:latin typeface="Arial"/>
                <a:cs typeface="Arial"/>
              </a:rPr>
              <a:t>ug</a:t>
            </a:r>
            <a:r>
              <a:rPr sz="2300" spc="65">
                <a:latin typeface="Cambria"/>
                <a:cs typeface="Cambria"/>
              </a:rPr>
              <a:t>}</a:t>
            </a:r>
            <a:endParaRPr sz="2300">
              <a:latin typeface="Cambria"/>
              <a:cs typeface="Cambria"/>
            </a:endParaRPr>
          </a:p>
        </p:txBody>
      </p:sp>
      <p:sp>
        <p:nvSpPr>
          <p:cNvPr id="8" name="object 8"/>
          <p:cNvSpPr txBox="1"/>
          <p:nvPr/>
        </p:nvSpPr>
        <p:spPr>
          <a:xfrm>
            <a:off x="7513640" y="7144444"/>
            <a:ext cx="377190" cy="320675"/>
          </a:xfrm>
          <a:prstGeom prst="rect">
            <a:avLst/>
          </a:prstGeom>
        </p:spPr>
        <p:txBody>
          <a:bodyPr vert="vert" wrap="square" lIns="0" tIns="7620" rIns="0" bIns="0" rtlCol="0">
            <a:spAutoFit/>
          </a:bodyPr>
          <a:lstStyle/>
          <a:p>
            <a:pPr marL="12700">
              <a:lnSpc>
                <a:spcPct val="100000"/>
              </a:lnSpc>
              <a:spcBef>
                <a:spcPts val="60"/>
              </a:spcBef>
            </a:pPr>
            <a:r>
              <a:rPr sz="2300" b="1" spc="-50">
                <a:latin typeface="Arial"/>
                <a:cs typeface="Arial"/>
              </a:rPr>
              <a:t>…</a:t>
            </a:r>
            <a:endParaRPr sz="2300">
              <a:latin typeface="Arial"/>
              <a:cs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 name="object 7"/>
          <p:cNvSpPr txBox="1">
            <a:spLocks noGrp="1"/>
          </p:cNvSpPr>
          <p:nvPr>
            <p:ph type="sldNum" sz="quarter" idx="7"/>
          </p:nvPr>
        </p:nvSpPr>
        <p:spPr>
          <a:prstGeom prst="rect">
            <a:avLst/>
          </a:prstGeom>
        </p:spPr>
        <p:txBody>
          <a:bodyPr vert="horz" wrap="square" lIns="0" tIns="6985" rIns="0" bIns="0" rtlCol="0">
            <a:spAutoFit/>
          </a:bodyPr>
          <a:lstStyle/>
          <a:p>
            <a:pPr marL="38100">
              <a:lnSpc>
                <a:spcPct val="100000"/>
              </a:lnSpc>
              <a:spcBef>
                <a:spcPts val="55"/>
              </a:spcBef>
            </a:pPr>
            <a:fld id="{81D60167-4931-47E6-BA6A-407CBD079E47}" type="slidenum">
              <a:rPr spc="-25" dirty="0"/>
              <a:t>21</a:t>
            </a:fld>
            <a:endParaRPr spc="-25"/>
          </a:p>
        </p:txBody>
      </p:sp>
      <p:sp>
        <p:nvSpPr>
          <p:cNvPr id="8" name="object 8"/>
          <p:cNvSpPr txBox="1"/>
          <p:nvPr/>
        </p:nvSpPr>
        <p:spPr>
          <a:xfrm>
            <a:off x="5562139" y="7457345"/>
            <a:ext cx="4424680" cy="174625"/>
          </a:xfrm>
          <a:prstGeom prst="rect">
            <a:avLst/>
          </a:prstGeom>
        </p:spPr>
        <p:txBody>
          <a:bodyPr vert="horz" wrap="square" lIns="0" tIns="6985" rIns="0" bIns="0" rtlCol="0">
            <a:spAutoFit/>
          </a:bodyPr>
          <a:lstStyle/>
          <a:p>
            <a:pPr marL="12700">
              <a:lnSpc>
                <a:spcPct val="100000"/>
              </a:lnSpc>
              <a:spcBef>
                <a:spcPts val="55"/>
              </a:spcBef>
            </a:pPr>
            <a:r>
              <a:rPr sz="1000">
                <a:latin typeface="Arial"/>
                <a:cs typeface="Arial"/>
              </a:rPr>
              <a:t>Example</a:t>
            </a:r>
            <a:r>
              <a:rPr sz="1000" spc="290">
                <a:latin typeface="Arial"/>
                <a:cs typeface="Arial"/>
              </a:rPr>
              <a:t> </a:t>
            </a:r>
            <a:r>
              <a:rPr sz="1000">
                <a:latin typeface="Arial"/>
                <a:cs typeface="Arial"/>
              </a:rPr>
              <a:t>from:</a:t>
            </a:r>
            <a:r>
              <a:rPr sz="1000" spc="290">
                <a:latin typeface="Arial"/>
                <a:cs typeface="Arial"/>
              </a:rPr>
              <a:t> </a:t>
            </a:r>
            <a:r>
              <a:rPr sz="1000" u="sng" spc="-10">
                <a:uFill>
                  <a:solidFill>
                    <a:srgbClr val="000000"/>
                  </a:solidFill>
                </a:uFill>
                <a:latin typeface="Arial"/>
                <a:cs typeface="Arial"/>
                <a:hlinkClick r:id="rId2"/>
              </a:rPr>
              <a:t>https://huggingface.co/docs/transformers/tokenizer_summary</a:t>
            </a:r>
            <a:endParaRPr sz="1000">
              <a:latin typeface="Arial"/>
              <a:cs typeface="Arial"/>
            </a:endParaRPr>
          </a:p>
        </p:txBody>
      </p:sp>
      <p:sp>
        <p:nvSpPr>
          <p:cNvPr id="2" name="object 2"/>
          <p:cNvSpPr txBox="1">
            <a:spLocks noGrp="1"/>
          </p:cNvSpPr>
          <p:nvPr>
            <p:ph sz="half" idx="2"/>
          </p:nvPr>
        </p:nvSpPr>
        <p:spPr>
          <a:prstGeom prst="rect">
            <a:avLst/>
          </a:prstGeom>
        </p:spPr>
        <p:txBody>
          <a:bodyPr vert="horz" wrap="square" lIns="0" tIns="39370" rIns="0" bIns="0" rtlCol="0">
            <a:spAutoFit/>
          </a:bodyPr>
          <a:lstStyle/>
          <a:p>
            <a:pPr marL="233679" marR="276860" indent="-221615">
              <a:lnSpc>
                <a:spcPct val="91700"/>
              </a:lnSpc>
              <a:spcBef>
                <a:spcPts val="310"/>
              </a:spcBef>
              <a:buSzPct val="102380"/>
              <a:buFont typeface="Arial"/>
              <a:buChar char="•"/>
              <a:tabLst>
                <a:tab pos="233679" algn="l"/>
              </a:tabLst>
            </a:pPr>
            <a:r>
              <a:rPr sz="2100" spc="525">
                <a:latin typeface="Cambria"/>
                <a:cs typeface="Cambria"/>
              </a:rPr>
              <a:t>𝒱</a:t>
            </a:r>
            <a:r>
              <a:rPr sz="2100" spc="110">
                <a:latin typeface="Cambria"/>
                <a:cs typeface="Cambria"/>
              </a:rPr>
              <a:t> </a:t>
            </a:r>
            <a:r>
              <a:rPr sz="2100" spc="175">
                <a:latin typeface="Cambria"/>
                <a:cs typeface="Cambria"/>
              </a:rPr>
              <a:t>←</a:t>
            </a:r>
            <a:r>
              <a:rPr sz="2100" spc="110">
                <a:latin typeface="Cambria"/>
                <a:cs typeface="Cambria"/>
              </a:rPr>
              <a:t> </a:t>
            </a:r>
            <a:r>
              <a:rPr sz="1750"/>
              <a:t>All</a:t>
            </a:r>
            <a:r>
              <a:rPr sz="1750" spc="-10"/>
              <a:t> </a:t>
            </a:r>
            <a:r>
              <a:rPr sz="1750"/>
              <a:t>characters</a:t>
            </a:r>
            <a:r>
              <a:rPr sz="1750" spc="-10"/>
              <a:t> </a:t>
            </a:r>
            <a:r>
              <a:rPr sz="1750"/>
              <a:t>in</a:t>
            </a:r>
            <a:r>
              <a:rPr sz="1750" spc="-15"/>
              <a:t> </a:t>
            </a:r>
            <a:r>
              <a:rPr sz="1750"/>
              <a:t>the</a:t>
            </a:r>
            <a:r>
              <a:rPr sz="1750" spc="-10"/>
              <a:t> </a:t>
            </a:r>
            <a:r>
              <a:rPr sz="1750"/>
              <a:t>training</a:t>
            </a:r>
            <a:r>
              <a:rPr sz="1750" spc="-10"/>
              <a:t> </a:t>
            </a:r>
            <a:r>
              <a:rPr sz="1750" spc="-20"/>
              <a:t>data </a:t>
            </a:r>
            <a:r>
              <a:rPr sz="1750" spc="-45"/>
              <a:t>(as</a:t>
            </a:r>
            <a:r>
              <a:rPr sz="1750" spc="-55"/>
              <a:t> </a:t>
            </a:r>
            <a:r>
              <a:rPr sz="1750"/>
              <a:t>base</a:t>
            </a:r>
            <a:r>
              <a:rPr sz="1750" spc="-55"/>
              <a:t> </a:t>
            </a:r>
            <a:r>
              <a:rPr sz="1750" b="1" spc="-10">
                <a:latin typeface="Arial"/>
                <a:cs typeface="Arial"/>
              </a:rPr>
              <a:t>tokens</a:t>
            </a:r>
            <a:r>
              <a:rPr sz="1750" spc="-10"/>
              <a:t>)</a:t>
            </a:r>
            <a:endParaRPr sz="1750">
              <a:latin typeface="Arial"/>
              <a:cs typeface="Arial"/>
            </a:endParaRPr>
          </a:p>
          <a:p>
            <a:pPr marL="233679" indent="-220979">
              <a:lnSpc>
                <a:spcPct val="100000"/>
              </a:lnSpc>
              <a:spcBef>
                <a:spcPts val="1625"/>
              </a:spcBef>
              <a:buSzPct val="122857"/>
              <a:buChar char="•"/>
              <a:tabLst>
                <a:tab pos="233679" algn="l"/>
              </a:tabLst>
            </a:pPr>
            <a:r>
              <a:rPr sz="1750"/>
              <a:t>For</a:t>
            </a:r>
            <a:r>
              <a:rPr sz="1750" spc="-50"/>
              <a:t> </a:t>
            </a:r>
            <a:r>
              <a:rPr sz="2100" i="1">
                <a:latin typeface="Times New Roman"/>
                <a:cs typeface="Times New Roman"/>
              </a:rPr>
              <a:t>k</a:t>
            </a:r>
            <a:r>
              <a:rPr sz="2100" i="1" spc="-90">
                <a:latin typeface="Times New Roman"/>
                <a:cs typeface="Times New Roman"/>
              </a:rPr>
              <a:t> </a:t>
            </a:r>
            <a:r>
              <a:rPr sz="1750" spc="-10"/>
              <a:t>steps:</a:t>
            </a:r>
            <a:endParaRPr sz="1750">
              <a:latin typeface="Times New Roman"/>
              <a:cs typeface="Times New Roman"/>
            </a:endParaRPr>
          </a:p>
          <a:p>
            <a:pPr marL="528320" marR="257810" lvl="1" indent="-221615">
              <a:lnSpc>
                <a:spcPct val="86400"/>
              </a:lnSpc>
              <a:spcBef>
                <a:spcPts val="1555"/>
              </a:spcBef>
              <a:buSzPct val="122857"/>
              <a:buChar char="-"/>
              <a:tabLst>
                <a:tab pos="528320" algn="l"/>
              </a:tabLst>
            </a:pPr>
            <a:r>
              <a:rPr sz="1750" spc="-40">
                <a:latin typeface="Arial"/>
                <a:cs typeface="Arial"/>
              </a:rPr>
              <a:t>Tokenize</a:t>
            </a:r>
            <a:r>
              <a:rPr sz="1750" spc="-5">
                <a:latin typeface="Arial"/>
                <a:cs typeface="Arial"/>
              </a:rPr>
              <a:t> </a:t>
            </a:r>
            <a:r>
              <a:rPr sz="1750">
                <a:latin typeface="Arial"/>
                <a:cs typeface="Arial"/>
              </a:rPr>
              <a:t>the</a:t>
            </a:r>
            <a:r>
              <a:rPr sz="1750" spc="-5">
                <a:latin typeface="Arial"/>
                <a:cs typeface="Arial"/>
              </a:rPr>
              <a:t> </a:t>
            </a:r>
            <a:r>
              <a:rPr sz="1750">
                <a:latin typeface="Arial"/>
                <a:cs typeface="Arial"/>
              </a:rPr>
              <a:t>data,</a:t>
            </a:r>
            <a:r>
              <a:rPr sz="1750" spc="-5">
                <a:latin typeface="Arial"/>
                <a:cs typeface="Arial"/>
              </a:rPr>
              <a:t> </a:t>
            </a:r>
            <a:r>
              <a:rPr sz="1750">
                <a:latin typeface="Arial"/>
                <a:cs typeface="Arial"/>
              </a:rPr>
              <a:t>taking</a:t>
            </a:r>
            <a:r>
              <a:rPr sz="1750" spc="-5">
                <a:latin typeface="Arial"/>
                <a:cs typeface="Arial"/>
              </a:rPr>
              <a:t> </a:t>
            </a:r>
            <a:r>
              <a:rPr sz="1750">
                <a:latin typeface="Arial"/>
                <a:cs typeface="Arial"/>
              </a:rPr>
              <a:t>the</a:t>
            </a:r>
            <a:r>
              <a:rPr sz="1750" spc="-5">
                <a:latin typeface="Arial"/>
                <a:cs typeface="Arial"/>
              </a:rPr>
              <a:t> </a:t>
            </a:r>
            <a:r>
              <a:rPr sz="1750" spc="-10">
                <a:latin typeface="Arial"/>
                <a:cs typeface="Arial"/>
              </a:rPr>
              <a:t>longest </a:t>
            </a:r>
            <a:r>
              <a:rPr sz="1750">
                <a:latin typeface="Arial"/>
                <a:cs typeface="Arial"/>
              </a:rPr>
              <a:t>prefix</a:t>
            </a:r>
            <a:r>
              <a:rPr sz="1750" spc="-20">
                <a:latin typeface="Arial"/>
                <a:cs typeface="Arial"/>
              </a:rPr>
              <a:t> </a:t>
            </a:r>
            <a:r>
              <a:rPr sz="1750">
                <a:latin typeface="Arial"/>
                <a:cs typeface="Arial"/>
              </a:rPr>
              <a:t>each</a:t>
            </a:r>
            <a:r>
              <a:rPr sz="1750" spc="-15">
                <a:latin typeface="Arial"/>
                <a:cs typeface="Arial"/>
              </a:rPr>
              <a:t> </a:t>
            </a:r>
            <a:r>
              <a:rPr sz="1750" spc="-20">
                <a:latin typeface="Arial"/>
                <a:cs typeface="Arial"/>
              </a:rPr>
              <a:t>time</a:t>
            </a:r>
            <a:endParaRPr sz="1750">
              <a:latin typeface="Arial"/>
              <a:cs typeface="Arial"/>
            </a:endParaRPr>
          </a:p>
          <a:p>
            <a:pPr marL="528320" marR="81915" lvl="1" indent="-221615">
              <a:lnSpc>
                <a:spcPct val="86400"/>
              </a:lnSpc>
              <a:spcBef>
                <a:spcPts val="1595"/>
              </a:spcBef>
              <a:buSzPct val="122857"/>
              <a:buChar char="-"/>
              <a:tabLst>
                <a:tab pos="528320" algn="l"/>
              </a:tabLst>
            </a:pPr>
            <a:r>
              <a:rPr sz="1750">
                <a:latin typeface="Arial"/>
                <a:cs typeface="Arial"/>
              </a:rPr>
              <a:t>Count</a:t>
            </a:r>
            <a:r>
              <a:rPr sz="1750" spc="5">
                <a:latin typeface="Arial"/>
                <a:cs typeface="Arial"/>
              </a:rPr>
              <a:t> </a:t>
            </a:r>
            <a:r>
              <a:rPr sz="1750">
                <a:latin typeface="Arial"/>
                <a:cs typeface="Arial"/>
              </a:rPr>
              <a:t>the</a:t>
            </a:r>
            <a:r>
              <a:rPr sz="1750" spc="10">
                <a:latin typeface="Arial"/>
                <a:cs typeface="Arial"/>
              </a:rPr>
              <a:t> </a:t>
            </a:r>
            <a:r>
              <a:rPr sz="1750">
                <a:latin typeface="Arial"/>
                <a:cs typeface="Arial"/>
              </a:rPr>
              <a:t>frequency</a:t>
            </a:r>
            <a:r>
              <a:rPr sz="1750" spc="5">
                <a:latin typeface="Arial"/>
                <a:cs typeface="Arial"/>
              </a:rPr>
              <a:t> </a:t>
            </a:r>
            <a:r>
              <a:rPr sz="1750">
                <a:latin typeface="Arial"/>
                <a:cs typeface="Arial"/>
              </a:rPr>
              <a:t>of</a:t>
            </a:r>
            <a:r>
              <a:rPr sz="1750" spc="10">
                <a:latin typeface="Arial"/>
                <a:cs typeface="Arial"/>
              </a:rPr>
              <a:t> </a:t>
            </a:r>
            <a:r>
              <a:rPr sz="1750">
                <a:latin typeface="Arial"/>
                <a:cs typeface="Arial"/>
              </a:rPr>
              <a:t>adjacent</a:t>
            </a:r>
            <a:r>
              <a:rPr sz="1750" spc="10">
                <a:latin typeface="Arial"/>
                <a:cs typeface="Arial"/>
              </a:rPr>
              <a:t> </a:t>
            </a:r>
            <a:r>
              <a:rPr sz="1750" spc="-20">
                <a:latin typeface="Arial"/>
                <a:cs typeface="Arial"/>
              </a:rPr>
              <a:t>token </a:t>
            </a:r>
            <a:r>
              <a:rPr sz="1750">
                <a:latin typeface="Arial"/>
                <a:cs typeface="Arial"/>
              </a:rPr>
              <a:t>pairs</a:t>
            </a:r>
            <a:r>
              <a:rPr sz="1750" spc="-10">
                <a:latin typeface="Arial"/>
                <a:cs typeface="Arial"/>
              </a:rPr>
              <a:t> </a:t>
            </a:r>
            <a:r>
              <a:rPr sz="1750">
                <a:latin typeface="Arial"/>
                <a:cs typeface="Arial"/>
              </a:rPr>
              <a:t>in</a:t>
            </a:r>
            <a:r>
              <a:rPr sz="1750" spc="-10">
                <a:latin typeface="Arial"/>
                <a:cs typeface="Arial"/>
              </a:rPr>
              <a:t> </a:t>
            </a:r>
            <a:r>
              <a:rPr sz="1750">
                <a:latin typeface="Arial"/>
                <a:cs typeface="Arial"/>
              </a:rPr>
              <a:t>the</a:t>
            </a:r>
            <a:r>
              <a:rPr sz="1750" spc="-10">
                <a:latin typeface="Arial"/>
                <a:cs typeface="Arial"/>
              </a:rPr>
              <a:t> </a:t>
            </a:r>
            <a:r>
              <a:rPr sz="1750" spc="-20">
                <a:latin typeface="Arial"/>
                <a:cs typeface="Arial"/>
              </a:rPr>
              <a:t>data</a:t>
            </a:r>
            <a:endParaRPr sz="1750">
              <a:latin typeface="Arial"/>
              <a:cs typeface="Arial"/>
            </a:endParaRPr>
          </a:p>
          <a:p>
            <a:pPr marL="528320" marR="5080" lvl="1" indent="-221615">
              <a:lnSpc>
                <a:spcPct val="89300"/>
              </a:lnSpc>
              <a:spcBef>
                <a:spcPts val="1845"/>
              </a:spcBef>
              <a:buSzPct val="122857"/>
              <a:buChar char="-"/>
              <a:tabLst>
                <a:tab pos="528320" algn="l"/>
              </a:tabLst>
            </a:pPr>
            <a:r>
              <a:rPr sz="1750">
                <a:latin typeface="Arial"/>
                <a:cs typeface="Arial"/>
              </a:rPr>
              <a:t>Choose</a:t>
            </a:r>
            <a:r>
              <a:rPr sz="1750" spc="20">
                <a:latin typeface="Arial"/>
                <a:cs typeface="Arial"/>
              </a:rPr>
              <a:t> </a:t>
            </a:r>
            <a:r>
              <a:rPr sz="1750">
                <a:latin typeface="Arial"/>
                <a:cs typeface="Arial"/>
              </a:rPr>
              <a:t>the</a:t>
            </a:r>
            <a:r>
              <a:rPr sz="1750" spc="25">
                <a:latin typeface="Arial"/>
                <a:cs typeface="Arial"/>
              </a:rPr>
              <a:t> </a:t>
            </a:r>
            <a:r>
              <a:rPr sz="1750">
                <a:latin typeface="Arial"/>
                <a:cs typeface="Arial"/>
              </a:rPr>
              <a:t>pair</a:t>
            </a:r>
            <a:r>
              <a:rPr sz="1750" spc="25">
                <a:latin typeface="Arial"/>
                <a:cs typeface="Arial"/>
              </a:rPr>
              <a:t> </a:t>
            </a:r>
            <a:r>
              <a:rPr sz="2100" spc="60">
                <a:latin typeface="Cambria"/>
                <a:cs typeface="Cambria"/>
              </a:rPr>
              <a:t>⟨</a:t>
            </a:r>
            <a:r>
              <a:rPr sz="2100" i="1" spc="60">
                <a:latin typeface="Times New Roman"/>
                <a:cs typeface="Times New Roman"/>
              </a:rPr>
              <a:t>l</a:t>
            </a:r>
            <a:r>
              <a:rPr sz="2100" spc="60">
                <a:latin typeface="Cambria"/>
                <a:cs typeface="Cambria"/>
              </a:rPr>
              <a:t>,</a:t>
            </a:r>
            <a:r>
              <a:rPr sz="2100" spc="-95">
                <a:latin typeface="Cambria"/>
                <a:cs typeface="Cambria"/>
              </a:rPr>
              <a:t> </a:t>
            </a:r>
            <a:r>
              <a:rPr sz="2100" i="1">
                <a:latin typeface="Times New Roman"/>
                <a:cs typeface="Times New Roman"/>
              </a:rPr>
              <a:t>r</a:t>
            </a:r>
            <a:r>
              <a:rPr sz="2100">
                <a:latin typeface="Cambria"/>
                <a:cs typeface="Cambria"/>
              </a:rPr>
              <a:t>⟩</a:t>
            </a:r>
            <a:r>
              <a:rPr sz="2100" spc="50">
                <a:latin typeface="Cambria"/>
                <a:cs typeface="Cambria"/>
              </a:rPr>
              <a:t> </a:t>
            </a:r>
            <a:r>
              <a:rPr sz="1750">
                <a:latin typeface="Arial"/>
                <a:cs typeface="Arial"/>
              </a:rPr>
              <a:t>that</a:t>
            </a:r>
            <a:r>
              <a:rPr sz="1750" spc="20">
                <a:latin typeface="Arial"/>
                <a:cs typeface="Arial"/>
              </a:rPr>
              <a:t> </a:t>
            </a:r>
            <a:r>
              <a:rPr sz="1750">
                <a:latin typeface="Arial"/>
                <a:cs typeface="Arial"/>
              </a:rPr>
              <a:t>occurs</a:t>
            </a:r>
            <a:r>
              <a:rPr sz="1750" spc="25">
                <a:latin typeface="Arial"/>
                <a:cs typeface="Arial"/>
              </a:rPr>
              <a:t> </a:t>
            </a:r>
            <a:r>
              <a:rPr sz="1750" spc="-20">
                <a:latin typeface="Arial"/>
                <a:cs typeface="Arial"/>
              </a:rPr>
              <a:t>most </a:t>
            </a:r>
            <a:r>
              <a:rPr sz="1750" spc="-10">
                <a:latin typeface="Arial"/>
                <a:cs typeface="Arial"/>
              </a:rPr>
              <a:t>frequently</a:t>
            </a:r>
            <a:endParaRPr sz="1750">
              <a:latin typeface="Arial"/>
              <a:cs typeface="Arial"/>
            </a:endParaRPr>
          </a:p>
          <a:p>
            <a:pPr marL="528320" marR="417830" lvl="1" indent="-221615">
              <a:lnSpc>
                <a:spcPts val="2220"/>
              </a:lnSpc>
              <a:spcBef>
                <a:spcPts val="1614"/>
              </a:spcBef>
              <a:buSzPct val="122857"/>
              <a:buChar char="-"/>
              <a:tabLst>
                <a:tab pos="528320" algn="l"/>
              </a:tabLst>
            </a:pPr>
            <a:r>
              <a:rPr sz="1750">
                <a:latin typeface="Arial"/>
                <a:cs typeface="Arial"/>
              </a:rPr>
              <a:t>Add</a:t>
            </a:r>
            <a:r>
              <a:rPr sz="1750" spc="5">
                <a:latin typeface="Arial"/>
                <a:cs typeface="Arial"/>
              </a:rPr>
              <a:t> </a:t>
            </a:r>
            <a:r>
              <a:rPr sz="1750">
                <a:latin typeface="Arial"/>
                <a:cs typeface="Arial"/>
              </a:rPr>
              <a:t>the</a:t>
            </a:r>
            <a:r>
              <a:rPr sz="1750" spc="5">
                <a:latin typeface="Arial"/>
                <a:cs typeface="Arial"/>
              </a:rPr>
              <a:t> </a:t>
            </a:r>
            <a:r>
              <a:rPr sz="1750">
                <a:latin typeface="Arial"/>
                <a:cs typeface="Arial"/>
              </a:rPr>
              <a:t>pair</a:t>
            </a:r>
            <a:r>
              <a:rPr sz="1750" spc="5">
                <a:latin typeface="Arial"/>
                <a:cs typeface="Arial"/>
              </a:rPr>
              <a:t> </a:t>
            </a:r>
            <a:r>
              <a:rPr sz="1750">
                <a:latin typeface="Arial"/>
                <a:cs typeface="Arial"/>
              </a:rPr>
              <a:t>to</a:t>
            </a:r>
            <a:r>
              <a:rPr sz="1750" spc="10">
                <a:latin typeface="Arial"/>
                <a:cs typeface="Arial"/>
              </a:rPr>
              <a:t> </a:t>
            </a:r>
            <a:r>
              <a:rPr sz="1750">
                <a:latin typeface="Arial"/>
                <a:cs typeface="Arial"/>
              </a:rPr>
              <a:t>the</a:t>
            </a:r>
            <a:r>
              <a:rPr sz="1750" spc="5">
                <a:latin typeface="Arial"/>
                <a:cs typeface="Arial"/>
              </a:rPr>
              <a:t> </a:t>
            </a:r>
            <a:r>
              <a:rPr sz="1750">
                <a:latin typeface="Arial"/>
                <a:cs typeface="Arial"/>
              </a:rPr>
              <a:t>vocabulary</a:t>
            </a:r>
            <a:r>
              <a:rPr sz="1750" spc="5">
                <a:latin typeface="Arial"/>
                <a:cs typeface="Arial"/>
              </a:rPr>
              <a:t> </a:t>
            </a:r>
            <a:r>
              <a:rPr sz="1750">
                <a:latin typeface="Arial"/>
                <a:cs typeface="Arial"/>
              </a:rPr>
              <a:t>as</a:t>
            </a:r>
            <a:r>
              <a:rPr sz="1750" spc="5">
                <a:latin typeface="Arial"/>
                <a:cs typeface="Arial"/>
              </a:rPr>
              <a:t> </a:t>
            </a:r>
            <a:r>
              <a:rPr sz="1750" spc="-50">
                <a:latin typeface="Arial"/>
                <a:cs typeface="Arial"/>
              </a:rPr>
              <a:t>a </a:t>
            </a:r>
            <a:r>
              <a:rPr sz="1750">
                <a:latin typeface="Arial"/>
                <a:cs typeface="Arial"/>
              </a:rPr>
              <a:t>new token</a:t>
            </a:r>
            <a:r>
              <a:rPr sz="1750" spc="5">
                <a:latin typeface="Arial"/>
                <a:cs typeface="Arial"/>
              </a:rPr>
              <a:t> </a:t>
            </a:r>
            <a:r>
              <a:rPr sz="2100" spc="525">
                <a:latin typeface="Cambria"/>
                <a:cs typeface="Cambria"/>
              </a:rPr>
              <a:t>𝒱</a:t>
            </a:r>
            <a:r>
              <a:rPr sz="2100" spc="130">
                <a:latin typeface="Cambria"/>
                <a:cs typeface="Cambria"/>
              </a:rPr>
              <a:t> </a:t>
            </a:r>
            <a:r>
              <a:rPr sz="2100" spc="175">
                <a:latin typeface="Cambria"/>
                <a:cs typeface="Cambria"/>
              </a:rPr>
              <a:t>←</a:t>
            </a:r>
            <a:r>
              <a:rPr sz="2100" spc="130">
                <a:latin typeface="Cambria"/>
                <a:cs typeface="Cambria"/>
              </a:rPr>
              <a:t> </a:t>
            </a:r>
            <a:r>
              <a:rPr sz="2100" spc="525">
                <a:latin typeface="Cambria"/>
                <a:cs typeface="Cambria"/>
              </a:rPr>
              <a:t>𝒱</a:t>
            </a:r>
            <a:r>
              <a:rPr sz="2100" spc="5">
                <a:latin typeface="Cambria"/>
                <a:cs typeface="Cambria"/>
              </a:rPr>
              <a:t> </a:t>
            </a:r>
            <a:r>
              <a:rPr sz="2100" spc="-130">
                <a:latin typeface="Cambria"/>
                <a:cs typeface="Cambria"/>
              </a:rPr>
              <a:t>∪</a:t>
            </a:r>
            <a:r>
              <a:rPr sz="2100" spc="10">
                <a:latin typeface="Cambria"/>
                <a:cs typeface="Cambria"/>
              </a:rPr>
              <a:t> </a:t>
            </a:r>
            <a:r>
              <a:rPr sz="2100" spc="75">
                <a:latin typeface="Cambria"/>
                <a:cs typeface="Cambria"/>
              </a:rPr>
              <a:t>{</a:t>
            </a:r>
            <a:r>
              <a:rPr sz="2100" i="1" spc="75">
                <a:latin typeface="Times New Roman"/>
                <a:cs typeface="Times New Roman"/>
              </a:rPr>
              <a:t>lr</a:t>
            </a:r>
            <a:r>
              <a:rPr sz="2100" spc="75">
                <a:latin typeface="Cambria"/>
                <a:cs typeface="Cambria"/>
              </a:rPr>
              <a:t>}</a:t>
            </a:r>
            <a:endParaRPr sz="2100">
              <a:latin typeface="Cambria"/>
              <a:cs typeface="Cambria"/>
            </a:endParaRPr>
          </a:p>
        </p:txBody>
      </p:sp>
      <p:sp>
        <p:nvSpPr>
          <p:cNvPr id="3" name="object 3"/>
          <p:cNvSpPr txBox="1"/>
          <p:nvPr/>
        </p:nvSpPr>
        <p:spPr>
          <a:xfrm>
            <a:off x="0" y="6588794"/>
            <a:ext cx="5142230" cy="520065"/>
          </a:xfrm>
          <a:prstGeom prst="rect">
            <a:avLst/>
          </a:prstGeom>
          <a:solidFill>
            <a:srgbClr val="FFD932">
              <a:alpha val="42759"/>
            </a:srgbClr>
          </a:solidFill>
        </p:spPr>
        <p:txBody>
          <a:bodyPr vert="horz" wrap="square" lIns="0" tIns="86995" rIns="0" bIns="0" rtlCol="0">
            <a:spAutoFit/>
          </a:bodyPr>
          <a:lstStyle/>
          <a:p>
            <a:pPr marL="800100" indent="-220979">
              <a:lnSpc>
                <a:spcPct val="100000"/>
              </a:lnSpc>
              <a:spcBef>
                <a:spcPts val="685"/>
              </a:spcBef>
              <a:buSzPct val="122857"/>
              <a:buChar char="•"/>
              <a:tabLst>
                <a:tab pos="800100" algn="l"/>
              </a:tabLst>
            </a:pPr>
            <a:r>
              <a:rPr sz="1750">
                <a:latin typeface="Arial"/>
                <a:cs typeface="Arial"/>
              </a:rPr>
              <a:t>Return</a:t>
            </a:r>
            <a:r>
              <a:rPr sz="1750" spc="-75">
                <a:latin typeface="Arial"/>
                <a:cs typeface="Arial"/>
              </a:rPr>
              <a:t> </a:t>
            </a:r>
            <a:r>
              <a:rPr sz="2100" spc="475">
                <a:latin typeface="Cambria"/>
                <a:cs typeface="Cambria"/>
              </a:rPr>
              <a:t>𝒱</a:t>
            </a:r>
            <a:endParaRPr sz="2100">
              <a:latin typeface="Cambria"/>
              <a:cs typeface="Cambria"/>
            </a:endParaRPr>
          </a:p>
        </p:txBody>
      </p:sp>
      <p:sp>
        <p:nvSpPr>
          <p:cNvPr id="4" name="object 4" descr="$PPTXTitle"/>
          <p:cNvSpPr txBox="1">
            <a:spLocks noGrp="1"/>
          </p:cNvSpPr>
          <p:nvPr>
            <p:ph type="title"/>
          </p:nvPr>
        </p:nvSpPr>
        <p:spPr>
          <a:prstGeom prst="rect">
            <a:avLst/>
          </a:prstGeom>
        </p:spPr>
        <p:txBody>
          <a:bodyPr vert="horz" wrap="square" lIns="0" tIns="88466" rIns="0" bIns="0" rtlCol="0">
            <a:spAutoFit/>
          </a:bodyPr>
          <a:lstStyle/>
          <a:p>
            <a:pPr marL="12700">
              <a:lnSpc>
                <a:spcPct val="100000"/>
              </a:lnSpc>
              <a:spcBef>
                <a:spcPts val="95"/>
              </a:spcBef>
            </a:pPr>
            <a:r>
              <a:rPr spc="-125"/>
              <a:t>Byte</a:t>
            </a:r>
            <a:r>
              <a:rPr spc="-190"/>
              <a:t> </a:t>
            </a:r>
            <a:r>
              <a:rPr spc="-80"/>
              <a:t>Pair</a:t>
            </a:r>
            <a:r>
              <a:rPr spc="-185"/>
              <a:t> </a:t>
            </a:r>
            <a:r>
              <a:rPr spc="-140"/>
              <a:t>Encoding</a:t>
            </a:r>
            <a:r>
              <a:rPr spc="-185"/>
              <a:t> </a:t>
            </a:r>
            <a:r>
              <a:rPr spc="-130"/>
              <a:t>(BPE)</a:t>
            </a:r>
          </a:p>
        </p:txBody>
      </p:sp>
      <p:graphicFrame>
        <p:nvGraphicFramePr>
          <p:cNvPr id="5" name="object 5"/>
          <p:cNvGraphicFramePr>
            <a:graphicFrameLocks noGrp="1"/>
          </p:cNvGraphicFramePr>
          <p:nvPr/>
        </p:nvGraphicFramePr>
        <p:xfrm>
          <a:off x="6021288" y="2983185"/>
          <a:ext cx="3069590" cy="2015490"/>
        </p:xfrm>
        <a:graphic>
          <a:graphicData uri="http://schemas.openxmlformats.org/drawingml/2006/table">
            <a:tbl>
              <a:tblPr firstRow="1" bandRow="1">
                <a:tableStyleId>{2D5ABB26-0587-4C30-8999-92F81FD0307C}</a:tableStyleId>
              </a:tblPr>
              <a:tblGrid>
                <a:gridCol w="1420495">
                  <a:extLst>
                    <a:ext uri="{9D8B030D-6E8A-4147-A177-3AD203B41FA5}">
                      <a16:colId xmlns:a16="http://schemas.microsoft.com/office/drawing/2014/main" val="20000"/>
                    </a:ext>
                  </a:extLst>
                </a:gridCol>
                <a:gridCol w="1649095">
                  <a:extLst>
                    <a:ext uri="{9D8B030D-6E8A-4147-A177-3AD203B41FA5}">
                      <a16:colId xmlns:a16="http://schemas.microsoft.com/office/drawing/2014/main" val="20001"/>
                    </a:ext>
                  </a:extLst>
                </a:gridCol>
              </a:tblGrid>
              <a:tr h="345440">
                <a:tc>
                  <a:txBody>
                    <a:bodyPr/>
                    <a:lstStyle/>
                    <a:p>
                      <a:pPr marL="113664" algn="ctr">
                        <a:lnSpc>
                          <a:spcPct val="100000"/>
                        </a:lnSpc>
                        <a:spcBef>
                          <a:spcPts val="395"/>
                        </a:spcBef>
                      </a:pPr>
                      <a:r>
                        <a:rPr sz="1600" b="1" spc="-20">
                          <a:latin typeface="Arial"/>
                          <a:cs typeface="Arial"/>
                        </a:rPr>
                        <a:t>Word</a:t>
                      </a:r>
                      <a:endParaRPr sz="1600">
                        <a:latin typeface="Arial"/>
                        <a:cs typeface="Arial"/>
                      </a:endParaRPr>
                    </a:p>
                  </a:txBody>
                  <a:tcPr marL="0" marR="0" marT="50165" marB="0">
                    <a:lnB w="12700">
                      <a:solidFill>
                        <a:srgbClr val="536773"/>
                      </a:solidFill>
                      <a:prstDash val="solid"/>
                    </a:lnB>
                    <a:solidFill>
                      <a:srgbClr val="56C1FF"/>
                    </a:solidFill>
                  </a:tcPr>
                </a:tc>
                <a:tc>
                  <a:txBody>
                    <a:bodyPr/>
                    <a:lstStyle/>
                    <a:p>
                      <a:pPr marL="113664" algn="ctr">
                        <a:lnSpc>
                          <a:spcPct val="100000"/>
                        </a:lnSpc>
                        <a:spcBef>
                          <a:spcPts val="395"/>
                        </a:spcBef>
                      </a:pPr>
                      <a:r>
                        <a:rPr sz="1600" b="1" spc="-10">
                          <a:latin typeface="Arial"/>
                          <a:cs typeface="Arial"/>
                        </a:rPr>
                        <a:t>Frequency</a:t>
                      </a:r>
                      <a:endParaRPr sz="1600">
                        <a:latin typeface="Arial"/>
                        <a:cs typeface="Arial"/>
                      </a:endParaRPr>
                    </a:p>
                  </a:txBody>
                  <a:tcPr marL="0" marR="0" marT="50165" marB="0">
                    <a:lnB w="12700">
                      <a:solidFill>
                        <a:srgbClr val="536773"/>
                      </a:solidFill>
                      <a:prstDash val="solid"/>
                    </a:lnB>
                    <a:solidFill>
                      <a:srgbClr val="56C1FF"/>
                    </a:solidFill>
                  </a:tcPr>
                </a:tc>
                <a:extLst>
                  <a:ext uri="{0D108BD9-81ED-4DB2-BD59-A6C34878D82A}">
                    <a16:rowId xmlns:a16="http://schemas.microsoft.com/office/drawing/2014/main" val="10000"/>
                  </a:ext>
                </a:extLst>
              </a:tr>
              <a:tr h="345440">
                <a:tc>
                  <a:txBody>
                    <a:bodyPr/>
                    <a:lstStyle/>
                    <a:p>
                      <a:pPr marL="113664" algn="ctr">
                        <a:lnSpc>
                          <a:spcPct val="100000"/>
                        </a:lnSpc>
                        <a:spcBef>
                          <a:spcPts val="365"/>
                        </a:spcBef>
                      </a:pPr>
                      <a:r>
                        <a:rPr sz="1600" spc="-25">
                          <a:latin typeface="Arial"/>
                          <a:cs typeface="Arial"/>
                        </a:rPr>
                        <a:t>hug</a:t>
                      </a:r>
                      <a:endParaRPr sz="1600">
                        <a:latin typeface="Arial"/>
                        <a:cs typeface="Arial"/>
                      </a:endParaRPr>
                    </a:p>
                  </a:txBody>
                  <a:tcPr marL="0" marR="0" marT="46355" marB="0">
                    <a:lnT w="12700">
                      <a:solidFill>
                        <a:srgbClr val="536773"/>
                      </a:solidFill>
                      <a:prstDash val="solid"/>
                    </a:lnT>
                  </a:tcPr>
                </a:tc>
                <a:tc>
                  <a:txBody>
                    <a:bodyPr/>
                    <a:lstStyle/>
                    <a:p>
                      <a:pPr marL="113664" algn="ctr">
                        <a:lnSpc>
                          <a:spcPct val="100000"/>
                        </a:lnSpc>
                        <a:spcBef>
                          <a:spcPts val="365"/>
                        </a:spcBef>
                      </a:pPr>
                      <a:r>
                        <a:rPr sz="1600" spc="-25">
                          <a:latin typeface="Arial"/>
                          <a:cs typeface="Arial"/>
                        </a:rPr>
                        <a:t>10</a:t>
                      </a:r>
                      <a:endParaRPr sz="1600">
                        <a:latin typeface="Arial"/>
                        <a:cs typeface="Arial"/>
                      </a:endParaRPr>
                    </a:p>
                  </a:txBody>
                  <a:tcPr marL="0" marR="0" marT="46355" marB="0">
                    <a:lnT w="12700">
                      <a:solidFill>
                        <a:srgbClr val="536773"/>
                      </a:solidFill>
                      <a:prstDash val="solid"/>
                    </a:lnT>
                  </a:tcPr>
                </a:tc>
                <a:extLst>
                  <a:ext uri="{0D108BD9-81ED-4DB2-BD59-A6C34878D82A}">
                    <a16:rowId xmlns:a16="http://schemas.microsoft.com/office/drawing/2014/main" val="10001"/>
                  </a:ext>
                </a:extLst>
              </a:tr>
              <a:tr h="345440">
                <a:tc>
                  <a:txBody>
                    <a:bodyPr/>
                    <a:lstStyle/>
                    <a:p>
                      <a:pPr marL="113664" algn="ctr">
                        <a:lnSpc>
                          <a:spcPct val="100000"/>
                        </a:lnSpc>
                        <a:spcBef>
                          <a:spcPts val="325"/>
                        </a:spcBef>
                      </a:pPr>
                      <a:r>
                        <a:rPr sz="1600" spc="-20">
                          <a:latin typeface="Arial"/>
                          <a:cs typeface="Arial"/>
                        </a:rPr>
                        <a:t>p+ug</a:t>
                      </a:r>
                      <a:endParaRPr sz="1600">
                        <a:latin typeface="Arial"/>
                        <a:cs typeface="Arial"/>
                      </a:endParaRPr>
                    </a:p>
                  </a:txBody>
                  <a:tcPr marL="0" marR="0" marT="41275" marB="0">
                    <a:solidFill>
                      <a:srgbClr val="E3E5E8"/>
                    </a:solidFill>
                  </a:tcPr>
                </a:tc>
                <a:tc>
                  <a:txBody>
                    <a:bodyPr/>
                    <a:lstStyle/>
                    <a:p>
                      <a:pPr marL="113664" algn="ctr">
                        <a:lnSpc>
                          <a:spcPct val="100000"/>
                        </a:lnSpc>
                        <a:spcBef>
                          <a:spcPts val="325"/>
                        </a:spcBef>
                      </a:pPr>
                      <a:r>
                        <a:rPr sz="1600" spc="-50">
                          <a:latin typeface="Arial"/>
                          <a:cs typeface="Arial"/>
                        </a:rPr>
                        <a:t>5</a:t>
                      </a:r>
                      <a:endParaRPr sz="1600">
                        <a:latin typeface="Arial"/>
                        <a:cs typeface="Arial"/>
                      </a:endParaRPr>
                    </a:p>
                  </a:txBody>
                  <a:tcPr marL="0" marR="0" marT="41275" marB="0">
                    <a:solidFill>
                      <a:srgbClr val="E3E5E8"/>
                    </a:solidFill>
                  </a:tcPr>
                </a:tc>
                <a:extLst>
                  <a:ext uri="{0D108BD9-81ED-4DB2-BD59-A6C34878D82A}">
                    <a16:rowId xmlns:a16="http://schemas.microsoft.com/office/drawing/2014/main" val="10002"/>
                  </a:ext>
                </a:extLst>
              </a:tr>
              <a:tr h="345440">
                <a:tc>
                  <a:txBody>
                    <a:bodyPr/>
                    <a:lstStyle/>
                    <a:p>
                      <a:pPr marL="113664" algn="ctr">
                        <a:lnSpc>
                          <a:spcPct val="100000"/>
                        </a:lnSpc>
                        <a:spcBef>
                          <a:spcPts val="325"/>
                        </a:spcBef>
                      </a:pPr>
                      <a:r>
                        <a:rPr sz="1600" spc="-20">
                          <a:latin typeface="Arial"/>
                          <a:cs typeface="Arial"/>
                        </a:rPr>
                        <a:t>p+un</a:t>
                      </a:r>
                      <a:endParaRPr sz="1600">
                        <a:latin typeface="Arial"/>
                        <a:cs typeface="Arial"/>
                      </a:endParaRPr>
                    </a:p>
                  </a:txBody>
                  <a:tcPr marL="0" marR="0" marT="41275" marB="0"/>
                </a:tc>
                <a:tc>
                  <a:txBody>
                    <a:bodyPr/>
                    <a:lstStyle/>
                    <a:p>
                      <a:pPr marL="113664" algn="ctr">
                        <a:lnSpc>
                          <a:spcPct val="100000"/>
                        </a:lnSpc>
                        <a:spcBef>
                          <a:spcPts val="325"/>
                        </a:spcBef>
                      </a:pPr>
                      <a:r>
                        <a:rPr sz="1600" spc="-25">
                          <a:latin typeface="Arial"/>
                          <a:cs typeface="Arial"/>
                        </a:rPr>
                        <a:t>12</a:t>
                      </a:r>
                      <a:endParaRPr sz="1600">
                        <a:latin typeface="Arial"/>
                        <a:cs typeface="Arial"/>
                      </a:endParaRPr>
                    </a:p>
                  </a:txBody>
                  <a:tcPr marL="0" marR="0" marT="41275" marB="0"/>
                </a:tc>
                <a:extLst>
                  <a:ext uri="{0D108BD9-81ED-4DB2-BD59-A6C34878D82A}">
                    <a16:rowId xmlns:a16="http://schemas.microsoft.com/office/drawing/2014/main" val="10003"/>
                  </a:ext>
                </a:extLst>
              </a:tr>
              <a:tr h="345440">
                <a:tc>
                  <a:txBody>
                    <a:bodyPr/>
                    <a:lstStyle/>
                    <a:p>
                      <a:pPr marL="113664" algn="ctr">
                        <a:lnSpc>
                          <a:spcPct val="100000"/>
                        </a:lnSpc>
                        <a:spcBef>
                          <a:spcPts val="325"/>
                        </a:spcBef>
                      </a:pPr>
                      <a:r>
                        <a:rPr sz="1600" spc="-20">
                          <a:latin typeface="Arial"/>
                          <a:cs typeface="Arial"/>
                        </a:rPr>
                        <a:t>b+un</a:t>
                      </a:r>
                      <a:endParaRPr sz="1600">
                        <a:latin typeface="Arial"/>
                        <a:cs typeface="Arial"/>
                      </a:endParaRPr>
                    </a:p>
                  </a:txBody>
                  <a:tcPr marL="0" marR="0" marT="41275" marB="0">
                    <a:solidFill>
                      <a:srgbClr val="E3E5E8"/>
                    </a:solidFill>
                  </a:tcPr>
                </a:tc>
                <a:tc>
                  <a:txBody>
                    <a:bodyPr/>
                    <a:lstStyle/>
                    <a:p>
                      <a:pPr marL="113664" algn="ctr">
                        <a:lnSpc>
                          <a:spcPct val="100000"/>
                        </a:lnSpc>
                        <a:spcBef>
                          <a:spcPts val="325"/>
                        </a:spcBef>
                      </a:pPr>
                      <a:r>
                        <a:rPr sz="1600" spc="-50">
                          <a:latin typeface="Arial"/>
                          <a:cs typeface="Arial"/>
                        </a:rPr>
                        <a:t>4</a:t>
                      </a:r>
                      <a:endParaRPr sz="1600">
                        <a:latin typeface="Arial"/>
                        <a:cs typeface="Arial"/>
                      </a:endParaRPr>
                    </a:p>
                  </a:txBody>
                  <a:tcPr marL="0" marR="0" marT="41275" marB="0">
                    <a:solidFill>
                      <a:srgbClr val="E3E5E8"/>
                    </a:solidFill>
                  </a:tcPr>
                </a:tc>
                <a:extLst>
                  <a:ext uri="{0D108BD9-81ED-4DB2-BD59-A6C34878D82A}">
                    <a16:rowId xmlns:a16="http://schemas.microsoft.com/office/drawing/2014/main" val="10004"/>
                  </a:ext>
                </a:extLst>
              </a:tr>
              <a:tr h="288290">
                <a:tc>
                  <a:txBody>
                    <a:bodyPr/>
                    <a:lstStyle/>
                    <a:p>
                      <a:pPr marL="113664" algn="ctr">
                        <a:lnSpc>
                          <a:spcPts val="1845"/>
                        </a:lnSpc>
                        <a:spcBef>
                          <a:spcPts val="325"/>
                        </a:spcBef>
                      </a:pPr>
                      <a:r>
                        <a:rPr sz="1600" spc="-10">
                          <a:latin typeface="Arial"/>
                          <a:cs typeface="Arial"/>
                        </a:rPr>
                        <a:t>hug+s</a:t>
                      </a:r>
                      <a:endParaRPr sz="1600">
                        <a:latin typeface="Arial"/>
                        <a:cs typeface="Arial"/>
                      </a:endParaRPr>
                    </a:p>
                  </a:txBody>
                  <a:tcPr marL="0" marR="0" marT="41275" marB="0"/>
                </a:tc>
                <a:tc>
                  <a:txBody>
                    <a:bodyPr/>
                    <a:lstStyle/>
                    <a:p>
                      <a:pPr marL="113664" algn="ctr">
                        <a:lnSpc>
                          <a:spcPts val="1845"/>
                        </a:lnSpc>
                        <a:spcBef>
                          <a:spcPts val="325"/>
                        </a:spcBef>
                      </a:pPr>
                      <a:r>
                        <a:rPr sz="1600" spc="-50">
                          <a:latin typeface="Arial"/>
                          <a:cs typeface="Arial"/>
                        </a:rPr>
                        <a:t>5</a:t>
                      </a:r>
                      <a:endParaRPr sz="1600">
                        <a:latin typeface="Arial"/>
                        <a:cs typeface="Arial"/>
                      </a:endParaRPr>
                    </a:p>
                  </a:txBody>
                  <a:tcPr marL="0" marR="0" marT="41275" marB="0"/>
                </a:tc>
                <a:extLst>
                  <a:ext uri="{0D108BD9-81ED-4DB2-BD59-A6C34878D82A}">
                    <a16:rowId xmlns:a16="http://schemas.microsoft.com/office/drawing/2014/main" val="10005"/>
                  </a:ext>
                </a:extLst>
              </a:tr>
            </a:tbl>
          </a:graphicData>
        </a:graphic>
      </p:graphicFrame>
      <p:sp>
        <p:nvSpPr>
          <p:cNvPr id="6" name="object 6"/>
          <p:cNvSpPr txBox="1"/>
          <p:nvPr/>
        </p:nvSpPr>
        <p:spPr>
          <a:xfrm>
            <a:off x="5381110" y="2305999"/>
            <a:ext cx="4368800" cy="379095"/>
          </a:xfrm>
          <a:prstGeom prst="rect">
            <a:avLst/>
          </a:prstGeom>
        </p:spPr>
        <p:txBody>
          <a:bodyPr vert="horz" wrap="square" lIns="0" tIns="15240" rIns="0" bIns="0" rtlCol="0">
            <a:spAutoFit/>
          </a:bodyPr>
          <a:lstStyle/>
          <a:p>
            <a:pPr marL="12700">
              <a:lnSpc>
                <a:spcPct val="100000"/>
              </a:lnSpc>
              <a:spcBef>
                <a:spcPts val="120"/>
              </a:spcBef>
            </a:pPr>
            <a:r>
              <a:rPr sz="2300" spc="590">
                <a:latin typeface="Cambria"/>
                <a:cs typeface="Cambria"/>
              </a:rPr>
              <a:t>𝒱</a:t>
            </a:r>
            <a:r>
              <a:rPr sz="2300" spc="160">
                <a:latin typeface="Cambria"/>
                <a:cs typeface="Cambria"/>
              </a:rPr>
              <a:t> </a:t>
            </a:r>
            <a:r>
              <a:rPr sz="2300" spc="305">
                <a:latin typeface="Cambria"/>
                <a:cs typeface="Cambria"/>
              </a:rPr>
              <a:t>=</a:t>
            </a:r>
            <a:r>
              <a:rPr sz="2300" spc="160">
                <a:latin typeface="Cambria"/>
                <a:cs typeface="Cambria"/>
              </a:rPr>
              <a:t> </a:t>
            </a:r>
            <a:r>
              <a:rPr sz="2300" spc="135">
                <a:latin typeface="Cambria"/>
                <a:cs typeface="Cambria"/>
              </a:rPr>
              <a:t>{</a:t>
            </a:r>
            <a:r>
              <a:rPr sz="2300" spc="135">
                <a:latin typeface="Arial"/>
                <a:cs typeface="Arial"/>
              </a:rPr>
              <a:t>b</a:t>
            </a:r>
            <a:r>
              <a:rPr sz="2300" spc="135">
                <a:latin typeface="Cambria"/>
                <a:cs typeface="Cambria"/>
              </a:rPr>
              <a:t>,</a:t>
            </a:r>
            <a:r>
              <a:rPr sz="2300" spc="-105">
                <a:latin typeface="Cambria"/>
                <a:cs typeface="Cambria"/>
              </a:rPr>
              <a:t> </a:t>
            </a:r>
            <a:r>
              <a:rPr sz="2300" spc="75">
                <a:latin typeface="Arial"/>
                <a:cs typeface="Arial"/>
              </a:rPr>
              <a:t>g</a:t>
            </a:r>
            <a:r>
              <a:rPr sz="2300" spc="75">
                <a:latin typeface="Cambria"/>
                <a:cs typeface="Cambria"/>
              </a:rPr>
              <a:t>,</a:t>
            </a:r>
            <a:r>
              <a:rPr sz="2300" spc="-105">
                <a:latin typeface="Cambria"/>
                <a:cs typeface="Cambria"/>
              </a:rPr>
              <a:t> </a:t>
            </a:r>
            <a:r>
              <a:rPr sz="2300" spc="55">
                <a:latin typeface="Arial"/>
                <a:cs typeface="Arial"/>
              </a:rPr>
              <a:t>h</a:t>
            </a:r>
            <a:r>
              <a:rPr sz="2300" spc="55">
                <a:latin typeface="Cambria"/>
                <a:cs typeface="Cambria"/>
              </a:rPr>
              <a:t>,</a:t>
            </a:r>
            <a:r>
              <a:rPr sz="2300" spc="-105">
                <a:latin typeface="Cambria"/>
                <a:cs typeface="Cambria"/>
              </a:rPr>
              <a:t> </a:t>
            </a:r>
            <a:r>
              <a:rPr sz="2300" spc="55">
                <a:latin typeface="Arial"/>
                <a:cs typeface="Arial"/>
              </a:rPr>
              <a:t>n</a:t>
            </a:r>
            <a:r>
              <a:rPr sz="2300" spc="55">
                <a:latin typeface="Cambria"/>
                <a:cs typeface="Cambria"/>
              </a:rPr>
              <a:t>,</a:t>
            </a:r>
            <a:r>
              <a:rPr sz="2300" spc="-105">
                <a:latin typeface="Cambria"/>
                <a:cs typeface="Cambria"/>
              </a:rPr>
              <a:t> </a:t>
            </a:r>
            <a:r>
              <a:rPr sz="2300" spc="95">
                <a:latin typeface="Arial"/>
                <a:cs typeface="Arial"/>
              </a:rPr>
              <a:t>p</a:t>
            </a:r>
            <a:r>
              <a:rPr sz="2300" spc="95">
                <a:latin typeface="Cambria"/>
                <a:cs typeface="Cambria"/>
              </a:rPr>
              <a:t>,</a:t>
            </a:r>
            <a:r>
              <a:rPr sz="2300" spc="-105">
                <a:latin typeface="Cambria"/>
                <a:cs typeface="Cambria"/>
              </a:rPr>
              <a:t> </a:t>
            </a:r>
            <a:r>
              <a:rPr sz="2300" spc="50">
                <a:latin typeface="Arial"/>
                <a:cs typeface="Arial"/>
              </a:rPr>
              <a:t>s</a:t>
            </a:r>
            <a:r>
              <a:rPr sz="2300" spc="50">
                <a:latin typeface="Cambria"/>
                <a:cs typeface="Cambria"/>
              </a:rPr>
              <a:t>,</a:t>
            </a:r>
            <a:r>
              <a:rPr sz="2300" spc="-105">
                <a:latin typeface="Cambria"/>
                <a:cs typeface="Cambria"/>
              </a:rPr>
              <a:t> </a:t>
            </a:r>
            <a:r>
              <a:rPr sz="2300" spc="55">
                <a:latin typeface="Arial"/>
                <a:cs typeface="Arial"/>
              </a:rPr>
              <a:t>u</a:t>
            </a:r>
            <a:r>
              <a:rPr sz="2300" spc="55">
                <a:latin typeface="Cambria"/>
                <a:cs typeface="Cambria"/>
              </a:rPr>
              <a:t>,</a:t>
            </a:r>
            <a:r>
              <a:rPr sz="2300" spc="-105">
                <a:latin typeface="Cambria"/>
                <a:cs typeface="Cambria"/>
              </a:rPr>
              <a:t> </a:t>
            </a:r>
            <a:r>
              <a:rPr sz="2300" spc="50">
                <a:latin typeface="Arial"/>
                <a:cs typeface="Arial"/>
              </a:rPr>
              <a:t>ug</a:t>
            </a:r>
            <a:r>
              <a:rPr sz="2300" spc="50">
                <a:latin typeface="Cambria"/>
                <a:cs typeface="Cambria"/>
              </a:rPr>
              <a:t>,</a:t>
            </a:r>
            <a:r>
              <a:rPr sz="2300" spc="-105">
                <a:latin typeface="Cambria"/>
                <a:cs typeface="Cambria"/>
              </a:rPr>
              <a:t> </a:t>
            </a:r>
            <a:r>
              <a:rPr sz="2300">
                <a:latin typeface="Arial"/>
                <a:cs typeface="Arial"/>
              </a:rPr>
              <a:t>un</a:t>
            </a:r>
            <a:r>
              <a:rPr sz="2300">
                <a:latin typeface="Cambria"/>
                <a:cs typeface="Cambria"/>
              </a:rPr>
              <a:t>,</a:t>
            </a:r>
            <a:r>
              <a:rPr sz="2300" spc="-105">
                <a:latin typeface="Cambria"/>
                <a:cs typeface="Cambria"/>
              </a:rPr>
              <a:t> </a:t>
            </a:r>
            <a:r>
              <a:rPr sz="2300" spc="50">
                <a:latin typeface="Arial"/>
                <a:cs typeface="Arial"/>
              </a:rPr>
              <a:t>hug</a:t>
            </a:r>
            <a:r>
              <a:rPr sz="2300" spc="50">
                <a:latin typeface="Cambria"/>
                <a:cs typeface="Cambria"/>
              </a:rPr>
              <a:t>}</a:t>
            </a:r>
            <a:endParaRPr sz="2300">
              <a:latin typeface="Cambria"/>
              <a:cs typeface="Cambria"/>
            </a:endParaRPr>
          </a:p>
        </p:txBody>
      </p:sp>
      <p:sp>
        <p:nvSpPr>
          <p:cNvPr id="9" name="TextBox 8">
            <a:extLst>
              <a:ext uri="{FF2B5EF4-FFF2-40B4-BE49-F238E27FC236}">
                <a16:creationId xmlns:a16="http://schemas.microsoft.com/office/drawing/2014/main" id="{D545D1EC-32CB-0F42-0C61-ADC1E1A1039C}"/>
              </a:ext>
            </a:extLst>
          </p:cNvPr>
          <p:cNvSpPr txBox="1"/>
          <p:nvPr/>
        </p:nvSpPr>
        <p:spPr>
          <a:xfrm>
            <a:off x="5248118" y="1863247"/>
            <a:ext cx="5029200" cy="61555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b="1" i="0" u="none" strike="noStrike" baseline="0">
                <a:solidFill>
                  <a:srgbClr val="000000"/>
                </a:solidFill>
                <a:latin typeface="Arial"/>
                <a:ea typeface="Arial"/>
                <a:cs typeface="Arial"/>
              </a:rPr>
              <a:t>Updated vocabulary:</a:t>
            </a:r>
            <a:endParaRPr lang="en-US"/>
          </a:p>
          <a:p>
            <a:pPr algn="ctr"/>
            <a:endParaRPr lang="en-US"/>
          </a:p>
        </p:txBody>
      </p:sp>
      <p:sp>
        <p:nvSpPr>
          <p:cNvPr id="10" name="TextBox 9">
            <a:extLst>
              <a:ext uri="{FF2B5EF4-FFF2-40B4-BE49-F238E27FC236}">
                <a16:creationId xmlns:a16="http://schemas.microsoft.com/office/drawing/2014/main" id="{A239CB05-5C7D-8C01-C747-229380829BC9}"/>
              </a:ext>
            </a:extLst>
          </p:cNvPr>
          <p:cNvSpPr txBox="1"/>
          <p:nvPr/>
        </p:nvSpPr>
        <p:spPr>
          <a:xfrm>
            <a:off x="5662288" y="5329477"/>
            <a:ext cx="5029200" cy="176971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rtl="0"/>
            <a:r>
              <a:rPr lang="en-US" sz="1600" b="1" i="0" u="none" strike="noStrike" baseline="0">
                <a:solidFill>
                  <a:srgbClr val="000000"/>
                </a:solidFill>
                <a:latin typeface="Arial"/>
              </a:rPr>
              <a:t>Final </a:t>
            </a:r>
            <a:r>
              <a:rPr lang="en-US" sz="1600" b="1" i="0" u="none" strike="noStrike" baseline="0" err="1">
                <a:solidFill>
                  <a:srgbClr val="000000"/>
                </a:solidFill>
                <a:latin typeface="Arial"/>
              </a:rPr>
              <a:t>tokenizations</a:t>
            </a:r>
            <a:r>
              <a:rPr lang="en-US" sz="1600" b="1" i="0" u="none" strike="noStrike" baseline="0">
                <a:solidFill>
                  <a:srgbClr val="000000"/>
                </a:solidFill>
                <a:latin typeface="Arial"/>
              </a:rPr>
              <a:t>:</a:t>
            </a:r>
            <a:r>
              <a:rPr lang="en-US" sz="1600" b="0" i="0">
                <a:latin typeface="Arial"/>
              </a:rPr>
              <a:t>​</a:t>
            </a:r>
          </a:p>
          <a:p>
            <a:pPr algn="l" rtl="0"/>
            <a:r>
              <a:rPr lang="en-US" sz="1500" b="0" i="0" u="none" strike="noStrike" baseline="0">
                <a:solidFill>
                  <a:srgbClr val="000000"/>
                </a:solidFill>
                <a:latin typeface="Arial"/>
              </a:rPr>
              <a:t>hug → [hug]</a:t>
            </a:r>
            <a:r>
              <a:rPr lang="en-US" sz="1500" b="0" i="0">
                <a:latin typeface="Arial"/>
              </a:rPr>
              <a:t>​</a:t>
            </a:r>
            <a:endParaRPr lang="en-US"/>
          </a:p>
          <a:p>
            <a:pPr algn="l" rtl="0"/>
            <a:r>
              <a:rPr lang="en-US" sz="1500" b="0" i="0" u="none" strike="noStrike" baseline="0">
                <a:solidFill>
                  <a:srgbClr val="000000"/>
                </a:solidFill>
                <a:latin typeface="Arial"/>
              </a:rPr>
              <a:t>hugs → [</a:t>
            </a:r>
            <a:r>
              <a:rPr lang="en-US" sz="1500">
                <a:solidFill>
                  <a:srgbClr val="000000"/>
                </a:solidFill>
                <a:latin typeface="Arial"/>
              </a:rPr>
              <a:t>hug, s</a:t>
            </a:r>
            <a:r>
              <a:rPr lang="en-US" sz="1500" b="0" i="0" u="none" strike="noStrike" baseline="0">
                <a:solidFill>
                  <a:srgbClr val="000000"/>
                </a:solidFill>
                <a:latin typeface="Arial"/>
              </a:rPr>
              <a:t>]</a:t>
            </a:r>
            <a:r>
              <a:rPr lang="en-US" sz="1500" b="0" i="0">
                <a:latin typeface="Arial"/>
              </a:rPr>
              <a:t>​</a:t>
            </a:r>
          </a:p>
          <a:p>
            <a:pPr algn="l" rtl="0"/>
            <a:r>
              <a:rPr lang="en-US" sz="1500" b="0" i="0" u="none" strike="noStrike" baseline="0">
                <a:solidFill>
                  <a:srgbClr val="000000"/>
                </a:solidFill>
                <a:latin typeface="Arial"/>
              </a:rPr>
              <a:t>pug → [</a:t>
            </a:r>
            <a:r>
              <a:rPr lang="en-US" sz="1500">
                <a:solidFill>
                  <a:srgbClr val="000000"/>
                </a:solidFill>
                <a:latin typeface="Arial"/>
              </a:rPr>
              <a:t>p</a:t>
            </a:r>
            <a:r>
              <a:rPr lang="en-US" sz="1500" b="0" i="0" u="none" strike="noStrike" baseline="0">
                <a:solidFill>
                  <a:srgbClr val="000000"/>
                </a:solidFill>
                <a:latin typeface="Arial"/>
              </a:rPr>
              <a:t>, </a:t>
            </a:r>
            <a:r>
              <a:rPr lang="en-US" sz="1500">
                <a:solidFill>
                  <a:srgbClr val="000000"/>
                </a:solidFill>
                <a:latin typeface="Arial"/>
              </a:rPr>
              <a:t>ug</a:t>
            </a:r>
            <a:r>
              <a:rPr lang="en-US" sz="1500" b="0" i="0" u="none" strike="noStrike" baseline="0">
                <a:solidFill>
                  <a:srgbClr val="000000"/>
                </a:solidFill>
                <a:latin typeface="Arial"/>
              </a:rPr>
              <a:t>]</a:t>
            </a:r>
            <a:r>
              <a:rPr lang="en-US" sz="1500" b="0" i="0">
                <a:latin typeface="Arial"/>
              </a:rPr>
              <a:t>​</a:t>
            </a:r>
          </a:p>
          <a:p>
            <a:pPr algn="l" rtl="0"/>
            <a:r>
              <a:rPr lang="en-US" sz="1500" b="0" i="0" u="none" strike="noStrike" baseline="0">
                <a:solidFill>
                  <a:srgbClr val="000000"/>
                </a:solidFill>
                <a:latin typeface="Arial"/>
              </a:rPr>
              <a:t>pun → [</a:t>
            </a:r>
            <a:r>
              <a:rPr lang="en-US" sz="1500">
                <a:solidFill>
                  <a:srgbClr val="000000"/>
                </a:solidFill>
                <a:latin typeface="Arial"/>
              </a:rPr>
              <a:t>p, un]</a:t>
            </a:r>
            <a:r>
              <a:rPr lang="en-US" sz="1500" b="0" i="0">
                <a:latin typeface="Arial"/>
              </a:rPr>
              <a:t>​</a:t>
            </a:r>
          </a:p>
          <a:p>
            <a:pPr algn="l" rtl="0"/>
            <a:r>
              <a:rPr lang="en-US" sz="1500" b="0" i="0" u="none" strike="noStrike" baseline="0">
                <a:solidFill>
                  <a:srgbClr val="000000"/>
                </a:solidFill>
                <a:latin typeface="Arial"/>
              </a:rPr>
              <a:t>bun → [</a:t>
            </a:r>
            <a:r>
              <a:rPr lang="en-US" sz="1500">
                <a:solidFill>
                  <a:srgbClr val="000000"/>
                </a:solidFill>
                <a:latin typeface="Arial"/>
              </a:rPr>
              <a:t>b, un</a:t>
            </a:r>
            <a:r>
              <a:rPr lang="en-US" sz="1500" b="0" i="0" u="none" strike="noStrike" baseline="0">
                <a:solidFill>
                  <a:srgbClr val="000000"/>
                </a:solidFill>
                <a:latin typeface="Arial"/>
              </a:rPr>
              <a:t>]</a:t>
            </a:r>
          </a:p>
          <a:p>
            <a:pPr algn="ctr"/>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E1B4BD99-64CD-1AC9-B838-8544C0D304C2}"/>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D38FA3D2-34C0-DDCB-E104-83407A693C1F}"/>
              </a:ext>
            </a:extLst>
          </p:cNvPr>
          <p:cNvSpPr txBox="1">
            <a:spLocks noGrp="1"/>
          </p:cNvSpPr>
          <p:nvPr>
            <p:ph type="sldNum" sz="quarter" idx="7"/>
          </p:nvPr>
        </p:nvSpPr>
        <p:spPr>
          <a:prstGeom prst="rect">
            <a:avLst/>
          </a:prstGeom>
        </p:spPr>
        <p:txBody>
          <a:bodyPr vert="horz" wrap="square" lIns="0" tIns="6985" rIns="0" bIns="0" rtlCol="0">
            <a:spAutoFit/>
          </a:bodyPr>
          <a:lstStyle/>
          <a:p>
            <a:pPr marL="38100">
              <a:lnSpc>
                <a:spcPct val="100000"/>
              </a:lnSpc>
              <a:spcBef>
                <a:spcPts val="55"/>
              </a:spcBef>
            </a:pPr>
            <a:fld id="{81D60167-4931-47E6-BA6A-407CBD079E47}" type="slidenum">
              <a:rPr spc="-25" dirty="0"/>
              <a:t>22</a:t>
            </a:fld>
            <a:endParaRPr spc="-25"/>
          </a:p>
        </p:txBody>
      </p:sp>
      <p:sp>
        <p:nvSpPr>
          <p:cNvPr id="2" name="object 2">
            <a:extLst>
              <a:ext uri="{FF2B5EF4-FFF2-40B4-BE49-F238E27FC236}">
                <a16:creationId xmlns:a16="http://schemas.microsoft.com/office/drawing/2014/main" id="{49099663-BDD2-BD80-A751-052ABB7695C9}"/>
              </a:ext>
            </a:extLst>
          </p:cNvPr>
          <p:cNvSpPr txBox="1"/>
          <p:nvPr/>
        </p:nvSpPr>
        <p:spPr>
          <a:xfrm>
            <a:off x="414601" y="5418370"/>
            <a:ext cx="8836720" cy="1978746"/>
          </a:xfrm>
          <a:prstGeom prst="rect">
            <a:avLst/>
          </a:prstGeom>
        </p:spPr>
        <p:txBody>
          <a:bodyPr vert="horz" wrap="square" lIns="0" tIns="52069" rIns="0" bIns="0" rtlCol="0" anchor="t">
            <a:spAutoFit/>
          </a:bodyPr>
          <a:lstStyle/>
          <a:p>
            <a:pPr marL="307340" marR="479425" indent="-295275">
              <a:lnSpc>
                <a:spcPts val="2510"/>
              </a:lnSpc>
              <a:spcBef>
                <a:spcPts val="409"/>
              </a:spcBef>
              <a:buSzPct val="123913"/>
              <a:buChar char="•"/>
              <a:tabLst>
                <a:tab pos="307340" algn="l"/>
              </a:tabLst>
            </a:pPr>
            <a:r>
              <a:rPr lang="en-US" sz="2300" spc="-114">
                <a:latin typeface="Arial"/>
                <a:ea typeface="Calibri"/>
                <a:cs typeface="Arial"/>
              </a:rPr>
              <a:t>Same morphemes → Shared Token Ids Across Languages</a:t>
            </a:r>
            <a:endParaRPr sz="2300">
              <a:latin typeface="Arial"/>
              <a:ea typeface="Calibri"/>
              <a:cs typeface="Arial"/>
            </a:endParaRPr>
          </a:p>
          <a:p>
            <a:pPr marL="306705" indent="-294005">
              <a:spcBef>
                <a:spcPts val="2115"/>
              </a:spcBef>
              <a:buSzPct val="123913"/>
              <a:buChar char="•"/>
              <a:tabLst>
                <a:tab pos="306705" algn="l"/>
              </a:tabLst>
            </a:pPr>
            <a:r>
              <a:rPr lang="en-US" sz="2300">
                <a:latin typeface="Arial"/>
                <a:cs typeface="Arial"/>
              </a:rPr>
              <a:t>Token 166170 is shared between Spanish and French:  BPE learns cross-lingual </a:t>
            </a:r>
            <a:r>
              <a:rPr lang="en-US" sz="2300" err="1">
                <a:latin typeface="Arial"/>
                <a:cs typeface="Arial"/>
              </a:rPr>
              <a:t>subword</a:t>
            </a:r>
            <a:r>
              <a:rPr lang="en-US" sz="2300">
                <a:latin typeface="Arial"/>
                <a:cs typeface="Arial"/>
              </a:rPr>
              <a:t> patterns</a:t>
            </a:r>
            <a:endParaRPr lang="en-US" sz="2300" spc="-10">
              <a:latin typeface="Arial"/>
              <a:cs typeface="Arial"/>
            </a:endParaRPr>
          </a:p>
          <a:p>
            <a:pPr marL="307340" marR="5080" indent="-295275">
              <a:lnSpc>
                <a:spcPts val="2510"/>
              </a:lnSpc>
              <a:spcBef>
                <a:spcPts val="2410"/>
              </a:spcBef>
              <a:buSzPct val="123913"/>
              <a:buChar char="•"/>
              <a:tabLst>
                <a:tab pos="307340" algn="l"/>
              </a:tabLst>
            </a:pPr>
            <a:endParaRPr lang="en-US" sz="2300" spc="-10">
              <a:latin typeface="Arial"/>
              <a:cs typeface="Arial"/>
            </a:endParaRPr>
          </a:p>
        </p:txBody>
      </p:sp>
      <p:sp>
        <p:nvSpPr>
          <p:cNvPr id="3" name="object 3" descr="$PPTXTitle">
            <a:extLst>
              <a:ext uri="{FF2B5EF4-FFF2-40B4-BE49-F238E27FC236}">
                <a16:creationId xmlns:a16="http://schemas.microsoft.com/office/drawing/2014/main" id="{336DCB64-4B91-5367-B396-BEBBA55CCE52}"/>
              </a:ext>
            </a:extLst>
          </p:cNvPr>
          <p:cNvSpPr txBox="1">
            <a:spLocks noGrp="1"/>
          </p:cNvSpPr>
          <p:nvPr>
            <p:ph type="title"/>
          </p:nvPr>
        </p:nvSpPr>
        <p:spPr>
          <a:xfrm>
            <a:off x="566836" y="395062"/>
            <a:ext cx="8842375" cy="1505102"/>
          </a:xfrm>
          <a:prstGeom prst="rect">
            <a:avLst/>
          </a:prstGeom>
        </p:spPr>
        <p:txBody>
          <a:bodyPr vert="horz" wrap="square" lIns="0" tIns="88466" rIns="0" bIns="0" rtlCol="0" anchor="t">
            <a:spAutoFit/>
          </a:bodyPr>
          <a:lstStyle/>
          <a:p>
            <a:pPr marL="12700">
              <a:spcBef>
                <a:spcPts val="95"/>
              </a:spcBef>
            </a:pPr>
            <a:r>
              <a:rPr lang="en-US" spc="-130"/>
              <a:t>Cross-Lingual Token Reuse: Language Agnostic BPE</a:t>
            </a:r>
          </a:p>
        </p:txBody>
      </p:sp>
      <p:pic>
        <p:nvPicPr>
          <p:cNvPr id="6" name="Picture 5" descr="A screenshot of a cell phone&#10;&#10;AI-generated content may be incorrect.">
            <a:extLst>
              <a:ext uri="{FF2B5EF4-FFF2-40B4-BE49-F238E27FC236}">
                <a16:creationId xmlns:a16="http://schemas.microsoft.com/office/drawing/2014/main" id="{2C11A365-5A5D-752A-17F7-2088F1539B00}"/>
              </a:ext>
            </a:extLst>
          </p:cNvPr>
          <p:cNvPicPr>
            <a:picLocks noChangeAspect="1"/>
          </p:cNvPicPr>
          <p:nvPr/>
        </p:nvPicPr>
        <p:blipFill>
          <a:blip r:embed="rId2"/>
          <a:stretch>
            <a:fillRect/>
          </a:stretch>
        </p:blipFill>
        <p:spPr>
          <a:xfrm>
            <a:off x="361873" y="2123156"/>
            <a:ext cx="9109500" cy="3113009"/>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151334138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86D51E7D-6B70-F43F-9919-988818C968C5}"/>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05CB0E44-B2C0-7091-CFB8-9CBA433BC0EF}"/>
              </a:ext>
            </a:extLst>
          </p:cNvPr>
          <p:cNvSpPr txBox="1">
            <a:spLocks noGrp="1"/>
          </p:cNvSpPr>
          <p:nvPr>
            <p:ph type="sldNum" sz="quarter" idx="7"/>
          </p:nvPr>
        </p:nvSpPr>
        <p:spPr>
          <a:prstGeom prst="rect">
            <a:avLst/>
          </a:prstGeom>
        </p:spPr>
        <p:txBody>
          <a:bodyPr vert="horz" wrap="square" lIns="0" tIns="6985" rIns="0" bIns="0" rtlCol="0">
            <a:spAutoFit/>
          </a:bodyPr>
          <a:lstStyle/>
          <a:p>
            <a:pPr marL="38100">
              <a:lnSpc>
                <a:spcPct val="100000"/>
              </a:lnSpc>
              <a:spcBef>
                <a:spcPts val="55"/>
              </a:spcBef>
            </a:pPr>
            <a:fld id="{81D60167-4931-47E6-BA6A-407CBD079E47}" type="slidenum">
              <a:rPr spc="-25" dirty="0"/>
              <a:t>23</a:t>
            </a:fld>
            <a:endParaRPr spc="-25"/>
          </a:p>
        </p:txBody>
      </p:sp>
      <p:sp>
        <p:nvSpPr>
          <p:cNvPr id="3" name="object 3" descr="$PPTXTitle">
            <a:extLst>
              <a:ext uri="{FF2B5EF4-FFF2-40B4-BE49-F238E27FC236}">
                <a16:creationId xmlns:a16="http://schemas.microsoft.com/office/drawing/2014/main" id="{8BE362F6-F3EA-88AD-FC63-C49E3C09D3C1}"/>
              </a:ext>
            </a:extLst>
          </p:cNvPr>
          <p:cNvSpPr txBox="1">
            <a:spLocks noGrp="1"/>
          </p:cNvSpPr>
          <p:nvPr>
            <p:ph type="title"/>
          </p:nvPr>
        </p:nvSpPr>
        <p:spPr>
          <a:xfrm>
            <a:off x="534215" y="395062"/>
            <a:ext cx="9103348" cy="797216"/>
          </a:xfrm>
          <a:prstGeom prst="rect">
            <a:avLst/>
          </a:prstGeom>
        </p:spPr>
        <p:txBody>
          <a:bodyPr vert="horz" wrap="square" lIns="0" tIns="88466" rIns="0" bIns="0" rtlCol="0" anchor="t">
            <a:spAutoFit/>
          </a:bodyPr>
          <a:lstStyle/>
          <a:p>
            <a:pPr marL="12700">
              <a:spcBef>
                <a:spcPts val="95"/>
              </a:spcBef>
            </a:pPr>
            <a:r>
              <a:rPr lang="en-US" spc="-125"/>
              <a:t>How BPE Handles Unseen Words </a:t>
            </a:r>
            <a:endParaRPr lang="en-US" spc="-130"/>
          </a:p>
        </p:txBody>
      </p:sp>
      <p:pic>
        <p:nvPicPr>
          <p:cNvPr id="5" name="Picture 4" descr="A screenshot of a computer screen&#10;&#10;AI-generated content may be incorrect.">
            <a:extLst>
              <a:ext uri="{FF2B5EF4-FFF2-40B4-BE49-F238E27FC236}">
                <a16:creationId xmlns:a16="http://schemas.microsoft.com/office/drawing/2014/main" id="{CA9260A8-6D26-FEB1-D1B7-DC5D164FBFB2}"/>
              </a:ext>
            </a:extLst>
          </p:cNvPr>
          <p:cNvPicPr>
            <a:picLocks noChangeAspect="1"/>
          </p:cNvPicPr>
          <p:nvPr/>
        </p:nvPicPr>
        <p:blipFill>
          <a:blip r:embed="rId2"/>
          <a:stretch>
            <a:fillRect/>
          </a:stretch>
        </p:blipFill>
        <p:spPr>
          <a:xfrm>
            <a:off x="241232" y="1433127"/>
            <a:ext cx="9687874" cy="4166955"/>
          </a:xfrm>
          <a:prstGeom prst="rect">
            <a:avLst/>
          </a:prstGeom>
        </p:spPr>
      </p:pic>
      <p:sp>
        <p:nvSpPr>
          <p:cNvPr id="7" name="object 2">
            <a:extLst>
              <a:ext uri="{FF2B5EF4-FFF2-40B4-BE49-F238E27FC236}">
                <a16:creationId xmlns:a16="http://schemas.microsoft.com/office/drawing/2014/main" id="{E6469448-ED7C-B3D7-91CF-B6BD585EAC52}"/>
              </a:ext>
            </a:extLst>
          </p:cNvPr>
          <p:cNvSpPr txBox="1"/>
          <p:nvPr/>
        </p:nvSpPr>
        <p:spPr>
          <a:xfrm>
            <a:off x="534214" y="5907542"/>
            <a:ext cx="8836720" cy="693779"/>
          </a:xfrm>
          <a:prstGeom prst="rect">
            <a:avLst/>
          </a:prstGeom>
        </p:spPr>
        <p:txBody>
          <a:bodyPr vert="horz" wrap="square" lIns="0" tIns="52069" rIns="0" bIns="0" rtlCol="0" anchor="t">
            <a:spAutoFit/>
          </a:bodyPr>
          <a:lstStyle/>
          <a:p>
            <a:pPr marL="307340" marR="479425" indent="-295275">
              <a:lnSpc>
                <a:spcPts val="2510"/>
              </a:lnSpc>
              <a:spcBef>
                <a:spcPts val="409"/>
              </a:spcBef>
              <a:buSzPct val="123913"/>
              <a:buChar char="•"/>
              <a:tabLst>
                <a:tab pos="307340" algn="l"/>
              </a:tabLst>
            </a:pPr>
            <a:r>
              <a:rPr lang="en-US" sz="2300" spc="-114">
                <a:latin typeface="Arial"/>
                <a:cs typeface="Arial"/>
              </a:rPr>
              <a:t>Shared </a:t>
            </a:r>
            <a:r>
              <a:rPr lang="en-US" sz="2300" spc="-114" err="1">
                <a:latin typeface="Arial"/>
                <a:cs typeface="Arial"/>
              </a:rPr>
              <a:t>subwords</a:t>
            </a:r>
            <a:r>
              <a:rPr lang="en-US" sz="2300" spc="-114">
                <a:latin typeface="Arial"/>
                <a:cs typeface="Arial"/>
              </a:rPr>
              <a:t> like "walk" may appear across walking,  walked, and walker giving the model indirect cues about morphology.</a:t>
            </a:r>
          </a:p>
        </p:txBody>
      </p:sp>
    </p:spTree>
    <p:extLst>
      <p:ext uri="{BB962C8B-B14F-4D97-AF65-F5344CB8AC3E}">
        <p14:creationId xmlns:p14="http://schemas.microsoft.com/office/powerpoint/2010/main" val="217069616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txBox="1">
            <a:spLocks noGrp="1"/>
          </p:cNvSpPr>
          <p:nvPr>
            <p:ph type="sldNum" sz="quarter" idx="7"/>
          </p:nvPr>
        </p:nvSpPr>
        <p:spPr>
          <a:prstGeom prst="rect">
            <a:avLst/>
          </a:prstGeom>
        </p:spPr>
        <p:txBody>
          <a:bodyPr vert="horz" wrap="square" lIns="0" tIns="6985" rIns="0" bIns="0" rtlCol="0">
            <a:spAutoFit/>
          </a:bodyPr>
          <a:lstStyle/>
          <a:p>
            <a:pPr marL="38100">
              <a:lnSpc>
                <a:spcPct val="100000"/>
              </a:lnSpc>
              <a:spcBef>
                <a:spcPts val="55"/>
              </a:spcBef>
            </a:pPr>
            <a:fld id="{81D60167-4931-47E6-BA6A-407CBD079E47}" type="slidenum">
              <a:rPr spc="-25" dirty="0"/>
              <a:t>24</a:t>
            </a:fld>
            <a:endParaRPr spc="-25"/>
          </a:p>
        </p:txBody>
      </p:sp>
      <p:sp>
        <p:nvSpPr>
          <p:cNvPr id="3" name="object 3" descr="$PPTXTitle"/>
          <p:cNvSpPr txBox="1">
            <a:spLocks noGrp="1"/>
          </p:cNvSpPr>
          <p:nvPr>
            <p:ph type="title"/>
          </p:nvPr>
        </p:nvSpPr>
        <p:spPr>
          <a:xfrm>
            <a:off x="381980" y="395062"/>
            <a:ext cx="9168592" cy="1537713"/>
          </a:xfrm>
          <a:prstGeom prst="rect">
            <a:avLst/>
          </a:prstGeom>
        </p:spPr>
        <p:txBody>
          <a:bodyPr vert="horz" wrap="square" lIns="0" tIns="88466" rIns="0" bIns="0" rtlCol="0" anchor="t">
            <a:spAutoFit/>
          </a:bodyPr>
          <a:lstStyle/>
          <a:p>
            <a:pPr marL="12700">
              <a:spcBef>
                <a:spcPts val="95"/>
              </a:spcBef>
            </a:pPr>
            <a:r>
              <a:rPr spc="-125"/>
              <a:t>BPE</a:t>
            </a:r>
            <a:r>
              <a:rPr lang="en-US" spc="-125"/>
              <a:t> in Practice: Bytes, Vocabulary &amp; Tooling</a:t>
            </a:r>
            <a:endParaRPr lang="en-US" spc="-130"/>
          </a:p>
        </p:txBody>
      </p:sp>
      <p:pic>
        <p:nvPicPr>
          <p:cNvPr id="5" name="Picture 4" descr="A screenshot of a computer&#10;&#10;AI-generated content may be incorrect.">
            <a:extLst>
              <a:ext uri="{FF2B5EF4-FFF2-40B4-BE49-F238E27FC236}">
                <a16:creationId xmlns:a16="http://schemas.microsoft.com/office/drawing/2014/main" id="{7283E0DF-F062-FC8B-1191-5FE3D349747B}"/>
              </a:ext>
            </a:extLst>
          </p:cNvPr>
          <p:cNvPicPr>
            <a:picLocks noChangeAspect="1"/>
          </p:cNvPicPr>
          <p:nvPr/>
        </p:nvPicPr>
        <p:blipFill>
          <a:blip r:embed="rId2"/>
          <a:stretch>
            <a:fillRect/>
          </a:stretch>
        </p:blipFill>
        <p:spPr>
          <a:xfrm>
            <a:off x="245272" y="2050054"/>
            <a:ext cx="9494939" cy="4020148"/>
          </a:xfrm>
          <a:prstGeom prst="rect">
            <a:avLst/>
          </a:prstGeom>
        </p:spPr>
      </p:pic>
      <p:sp>
        <p:nvSpPr>
          <p:cNvPr id="7" name="object 2">
            <a:extLst>
              <a:ext uri="{FF2B5EF4-FFF2-40B4-BE49-F238E27FC236}">
                <a16:creationId xmlns:a16="http://schemas.microsoft.com/office/drawing/2014/main" id="{E5B4B668-F8CE-9E76-345E-4D9392157523}"/>
              </a:ext>
            </a:extLst>
          </p:cNvPr>
          <p:cNvSpPr txBox="1"/>
          <p:nvPr/>
        </p:nvSpPr>
        <p:spPr>
          <a:xfrm>
            <a:off x="501592" y="6255398"/>
            <a:ext cx="8836720" cy="1014379"/>
          </a:xfrm>
          <a:prstGeom prst="rect">
            <a:avLst/>
          </a:prstGeom>
        </p:spPr>
        <p:txBody>
          <a:bodyPr vert="horz" wrap="square" lIns="0" tIns="52069" rIns="0" bIns="0" rtlCol="0" anchor="t">
            <a:spAutoFit/>
          </a:bodyPr>
          <a:lstStyle/>
          <a:p>
            <a:pPr marL="307340" marR="479425" indent="-295275">
              <a:lnSpc>
                <a:spcPts val="2510"/>
              </a:lnSpc>
              <a:spcBef>
                <a:spcPts val="409"/>
              </a:spcBef>
              <a:buSzPct val="123913"/>
              <a:buChar char="•"/>
              <a:tabLst>
                <a:tab pos="307340" algn="l"/>
              </a:tabLst>
            </a:pPr>
            <a:r>
              <a:rPr lang="en-US" sz="2300" spc="-114">
                <a:latin typeface="Arial"/>
                <a:cs typeface="Arial"/>
              </a:rPr>
              <a:t>Because any text, regardless of language, emoji, or symbol, can be represented as a sequence of UTF-8 bytes: no symbol in any language can ever be out of vocabulary.</a:t>
            </a:r>
            <a:endParaRPr lang="en-US" sz="2300" spc="-114">
              <a:solidFill>
                <a:srgbClr val="000000"/>
              </a:solidFill>
              <a:latin typeface="Arial"/>
              <a:cs typeface="Arial"/>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740A40C8-9559-5DBC-A242-25CA7E93E8E1}"/>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815A026B-7709-FB8F-1450-274975DD3B40}"/>
              </a:ext>
            </a:extLst>
          </p:cNvPr>
          <p:cNvSpPr txBox="1">
            <a:spLocks noGrp="1"/>
          </p:cNvSpPr>
          <p:nvPr>
            <p:ph type="sldNum" sz="quarter" idx="7"/>
          </p:nvPr>
        </p:nvSpPr>
        <p:spPr>
          <a:prstGeom prst="rect">
            <a:avLst/>
          </a:prstGeom>
        </p:spPr>
        <p:txBody>
          <a:bodyPr vert="horz" wrap="square" lIns="0" tIns="6985" rIns="0" bIns="0" rtlCol="0">
            <a:spAutoFit/>
          </a:bodyPr>
          <a:lstStyle/>
          <a:p>
            <a:pPr marL="38100">
              <a:lnSpc>
                <a:spcPct val="100000"/>
              </a:lnSpc>
              <a:spcBef>
                <a:spcPts val="55"/>
              </a:spcBef>
            </a:pPr>
            <a:fld id="{81D60167-4931-47E6-BA6A-407CBD079E47}" type="slidenum">
              <a:rPr spc="-25" dirty="0"/>
              <a:t>25</a:t>
            </a:fld>
            <a:endParaRPr spc="-25"/>
          </a:p>
        </p:txBody>
      </p:sp>
      <p:sp>
        <p:nvSpPr>
          <p:cNvPr id="5" name="object 5">
            <a:extLst>
              <a:ext uri="{FF2B5EF4-FFF2-40B4-BE49-F238E27FC236}">
                <a16:creationId xmlns:a16="http://schemas.microsoft.com/office/drawing/2014/main" id="{9414D056-6DC4-41FA-11D4-CDF3545B1AFB}"/>
              </a:ext>
            </a:extLst>
          </p:cNvPr>
          <p:cNvSpPr txBox="1"/>
          <p:nvPr/>
        </p:nvSpPr>
        <p:spPr>
          <a:xfrm>
            <a:off x="5562139" y="7457345"/>
            <a:ext cx="4424680" cy="174625"/>
          </a:xfrm>
          <a:prstGeom prst="rect">
            <a:avLst/>
          </a:prstGeom>
        </p:spPr>
        <p:txBody>
          <a:bodyPr vert="horz" wrap="square" lIns="0" tIns="6985" rIns="0" bIns="0" rtlCol="0">
            <a:spAutoFit/>
          </a:bodyPr>
          <a:lstStyle/>
          <a:p>
            <a:pPr marL="12700">
              <a:lnSpc>
                <a:spcPct val="100000"/>
              </a:lnSpc>
              <a:spcBef>
                <a:spcPts val="55"/>
              </a:spcBef>
            </a:pPr>
            <a:r>
              <a:rPr sz="1000">
                <a:latin typeface="Arial"/>
                <a:cs typeface="Arial"/>
              </a:rPr>
              <a:t>Example</a:t>
            </a:r>
            <a:r>
              <a:rPr sz="1000" spc="290">
                <a:latin typeface="Arial"/>
                <a:cs typeface="Arial"/>
              </a:rPr>
              <a:t> </a:t>
            </a:r>
            <a:r>
              <a:rPr sz="1000">
                <a:latin typeface="Arial"/>
                <a:cs typeface="Arial"/>
              </a:rPr>
              <a:t>from:</a:t>
            </a:r>
            <a:r>
              <a:rPr sz="1000" spc="290">
                <a:latin typeface="Arial"/>
                <a:cs typeface="Arial"/>
              </a:rPr>
              <a:t> </a:t>
            </a:r>
            <a:r>
              <a:rPr sz="1000" u="sng" spc="-10">
                <a:uFill>
                  <a:solidFill>
                    <a:srgbClr val="000000"/>
                  </a:solidFill>
                </a:uFill>
                <a:latin typeface="Arial"/>
                <a:cs typeface="Arial"/>
                <a:hlinkClick r:id="rId2"/>
              </a:rPr>
              <a:t>https://huggingface.co/docs/transformers/tokenizer_summary</a:t>
            </a:r>
            <a:endParaRPr sz="1000">
              <a:latin typeface="Arial"/>
              <a:cs typeface="Arial"/>
            </a:endParaRPr>
          </a:p>
        </p:txBody>
      </p:sp>
      <mc:AlternateContent xmlns:mc="http://schemas.openxmlformats.org/markup-compatibility/2006">
        <mc:Choice xmlns:a14="http://schemas.microsoft.com/office/drawing/2010/main" Requires="a14">
          <p:sp>
            <p:nvSpPr>
              <p:cNvPr id="2" name="object 2">
                <a:extLst>
                  <a:ext uri="{FF2B5EF4-FFF2-40B4-BE49-F238E27FC236}">
                    <a16:creationId xmlns:a16="http://schemas.microsoft.com/office/drawing/2014/main" id="{1A2EC782-FF73-A480-95C3-6290A923F7A9}"/>
                  </a:ext>
                </a:extLst>
              </p:cNvPr>
              <p:cNvSpPr txBox="1"/>
              <p:nvPr/>
            </p:nvSpPr>
            <p:spPr>
              <a:xfrm>
                <a:off x="566836" y="2416754"/>
                <a:ext cx="4409440" cy="4916282"/>
              </a:xfrm>
              <a:prstGeom prst="rect">
                <a:avLst/>
              </a:prstGeom>
            </p:spPr>
            <p:txBody>
              <a:bodyPr vert="horz" wrap="square" lIns="0" tIns="39370" rIns="0" bIns="0" rtlCol="0" anchor="t">
                <a:spAutoFit/>
              </a:bodyPr>
              <a:lstStyle/>
              <a:p>
                <a:pPr marL="233679" marR="276860" indent="-221615">
                  <a:lnSpc>
                    <a:spcPct val="91700"/>
                  </a:lnSpc>
                  <a:spcBef>
                    <a:spcPts val="310"/>
                  </a:spcBef>
                  <a:buSzPct val="102380"/>
                  <a:buFont typeface="Arial"/>
                  <a:buChar char="•"/>
                  <a:tabLst>
                    <a:tab pos="233679" algn="l"/>
                  </a:tabLst>
                </a:pPr>
                <a:r>
                  <a:rPr sz="2100" spc="525">
                    <a:latin typeface="Cambria"/>
                    <a:cs typeface="Cambria"/>
                  </a:rPr>
                  <a:t>𝒱</a:t>
                </a:r>
                <a:r>
                  <a:rPr sz="2100" spc="110">
                    <a:latin typeface="Cambria"/>
                    <a:cs typeface="Cambria"/>
                  </a:rPr>
                  <a:t> </a:t>
                </a:r>
                <a:r>
                  <a:rPr sz="2100" spc="175">
                    <a:latin typeface="Cambria"/>
                    <a:cs typeface="Cambria"/>
                  </a:rPr>
                  <a:t>←</a:t>
                </a:r>
                <a:r>
                  <a:rPr sz="2100" spc="110">
                    <a:latin typeface="Cambria"/>
                    <a:cs typeface="Cambria"/>
                  </a:rPr>
                  <a:t> </a:t>
                </a:r>
                <a:r>
                  <a:rPr sz="1750">
                    <a:latin typeface="Arial"/>
                    <a:cs typeface="Arial"/>
                  </a:rPr>
                  <a:t>All</a:t>
                </a:r>
                <a:r>
                  <a:rPr sz="1750" spc="-10">
                    <a:latin typeface="Arial"/>
                    <a:cs typeface="Arial"/>
                  </a:rPr>
                  <a:t> </a:t>
                </a:r>
                <a:r>
                  <a:rPr sz="1750">
                    <a:latin typeface="Arial"/>
                    <a:cs typeface="Arial"/>
                  </a:rPr>
                  <a:t>characters</a:t>
                </a:r>
                <a:r>
                  <a:rPr sz="1750" spc="-10">
                    <a:latin typeface="Arial"/>
                    <a:cs typeface="Arial"/>
                  </a:rPr>
                  <a:t> </a:t>
                </a:r>
                <a:r>
                  <a:rPr sz="1750">
                    <a:latin typeface="Arial"/>
                    <a:cs typeface="Arial"/>
                  </a:rPr>
                  <a:t>in</a:t>
                </a:r>
                <a:r>
                  <a:rPr sz="1750" spc="-15">
                    <a:latin typeface="Arial"/>
                    <a:cs typeface="Arial"/>
                  </a:rPr>
                  <a:t> </a:t>
                </a:r>
                <a:r>
                  <a:rPr sz="1750">
                    <a:latin typeface="Arial"/>
                    <a:cs typeface="Arial"/>
                  </a:rPr>
                  <a:t>the</a:t>
                </a:r>
                <a:r>
                  <a:rPr sz="1750" spc="-10">
                    <a:latin typeface="Arial"/>
                    <a:cs typeface="Arial"/>
                  </a:rPr>
                  <a:t> </a:t>
                </a:r>
                <a:r>
                  <a:rPr sz="1750">
                    <a:latin typeface="Arial"/>
                    <a:cs typeface="Arial"/>
                  </a:rPr>
                  <a:t>training</a:t>
                </a:r>
                <a:r>
                  <a:rPr sz="1750" spc="-10">
                    <a:latin typeface="Arial"/>
                    <a:cs typeface="Arial"/>
                  </a:rPr>
                  <a:t> </a:t>
                </a:r>
                <a:r>
                  <a:rPr sz="1750" spc="-20">
                    <a:latin typeface="Arial"/>
                    <a:cs typeface="Arial"/>
                  </a:rPr>
                  <a:t>data </a:t>
                </a:r>
                <a:r>
                  <a:rPr sz="1750" spc="-45">
                    <a:latin typeface="Arial"/>
                    <a:cs typeface="Arial"/>
                  </a:rPr>
                  <a:t>(as</a:t>
                </a:r>
                <a:r>
                  <a:rPr sz="1750" spc="-55">
                    <a:latin typeface="Arial"/>
                    <a:cs typeface="Arial"/>
                  </a:rPr>
                  <a:t> </a:t>
                </a:r>
                <a:r>
                  <a:rPr sz="1750">
                    <a:latin typeface="Arial"/>
                    <a:cs typeface="Arial"/>
                  </a:rPr>
                  <a:t>base</a:t>
                </a:r>
                <a:r>
                  <a:rPr sz="1750" spc="-55">
                    <a:latin typeface="Arial"/>
                    <a:cs typeface="Arial"/>
                  </a:rPr>
                  <a:t> </a:t>
                </a:r>
                <a:r>
                  <a:rPr sz="1750" b="1" spc="-10">
                    <a:latin typeface="Arial"/>
                    <a:cs typeface="Arial"/>
                  </a:rPr>
                  <a:t>tokens</a:t>
                </a:r>
                <a:r>
                  <a:rPr sz="1750" spc="-10">
                    <a:latin typeface="Arial"/>
                    <a:cs typeface="Arial"/>
                  </a:rPr>
                  <a:t>)</a:t>
                </a:r>
                <a:endParaRPr sz="1750">
                  <a:latin typeface="Arial"/>
                  <a:cs typeface="Arial"/>
                </a:endParaRPr>
              </a:p>
              <a:p>
                <a:pPr marL="233045" indent="-220345">
                  <a:lnSpc>
                    <a:spcPct val="100000"/>
                  </a:lnSpc>
                  <a:spcBef>
                    <a:spcPts val="1625"/>
                  </a:spcBef>
                  <a:buSzPct val="122857"/>
                  <a:buChar char="•"/>
                  <a:tabLst>
                    <a:tab pos="233679" algn="l"/>
                  </a:tabLst>
                </a:pPr>
                <a:r>
                  <a:rPr sz="1750">
                    <a:latin typeface="Arial"/>
                    <a:cs typeface="Arial"/>
                  </a:rPr>
                  <a:t>For</a:t>
                </a:r>
                <a:r>
                  <a:rPr sz="1750" spc="-50">
                    <a:latin typeface="Arial"/>
                    <a:cs typeface="Arial"/>
                  </a:rPr>
                  <a:t> </a:t>
                </a:r>
                <a:r>
                  <a:rPr sz="2100" i="1">
                    <a:latin typeface="Times New Roman"/>
                    <a:cs typeface="Times New Roman"/>
                  </a:rPr>
                  <a:t>k</a:t>
                </a:r>
                <a:r>
                  <a:rPr sz="2100" i="1" spc="-90">
                    <a:latin typeface="Times New Roman"/>
                    <a:cs typeface="Times New Roman"/>
                  </a:rPr>
                  <a:t> </a:t>
                </a:r>
                <a:r>
                  <a:rPr sz="1750" spc="-10">
                    <a:latin typeface="Arial"/>
                    <a:cs typeface="Arial"/>
                  </a:rPr>
                  <a:t>steps:</a:t>
                </a:r>
                <a:endParaRPr sz="1750">
                  <a:latin typeface="Arial"/>
                  <a:cs typeface="Arial"/>
                </a:endParaRPr>
              </a:p>
              <a:p>
                <a:pPr marL="528320" marR="5080" lvl="1" indent="-221615">
                  <a:lnSpc>
                    <a:spcPct val="89300"/>
                  </a:lnSpc>
                  <a:spcBef>
                    <a:spcPts val="1845"/>
                  </a:spcBef>
                  <a:buSzPct val="122857"/>
                  <a:buChar char="-"/>
                  <a:tabLst>
                    <a:tab pos="528320" algn="l"/>
                  </a:tabLst>
                </a:pPr>
                <a:r>
                  <a:rPr lang="en-US" sz="1750">
                    <a:latin typeface="Arial"/>
                    <a:cs typeface="Arial"/>
                  </a:rPr>
                  <a:t>Identify all possible pairs </a:t>
                </a:r>
                <a:r>
                  <a:rPr sz="2100" spc="60">
                    <a:latin typeface="Cambria"/>
                    <a:cs typeface="Cambria"/>
                  </a:rPr>
                  <a:t>⟨</a:t>
                </a:r>
                <a:r>
                  <a:rPr sz="2100" i="1" spc="60">
                    <a:latin typeface="Times New Roman"/>
                    <a:cs typeface="Times New Roman"/>
                  </a:rPr>
                  <a:t>l</a:t>
                </a:r>
                <a:r>
                  <a:rPr sz="2100" spc="60">
                    <a:latin typeface="Cambria"/>
                    <a:cs typeface="Cambria"/>
                  </a:rPr>
                  <a:t>,</a:t>
                </a:r>
                <a:r>
                  <a:rPr sz="2100" spc="-95">
                    <a:latin typeface="Cambria"/>
                    <a:cs typeface="Cambria"/>
                  </a:rPr>
                  <a:t> </a:t>
                </a:r>
                <a:r>
                  <a:rPr sz="2100" i="1">
                    <a:latin typeface="Times New Roman"/>
                    <a:cs typeface="Times New Roman"/>
                  </a:rPr>
                  <a:t>r</a:t>
                </a:r>
                <a:r>
                  <a:rPr sz="2100">
                    <a:latin typeface="Cambria"/>
                    <a:cs typeface="Cambria"/>
                  </a:rPr>
                  <a:t>⟩</a:t>
                </a:r>
                <a:r>
                  <a:rPr sz="2100" spc="50">
                    <a:latin typeface="Cambria"/>
                    <a:cs typeface="Cambria"/>
                  </a:rPr>
                  <a:t> </a:t>
                </a:r>
                <a:r>
                  <a:rPr lang="en-US" sz="1750" spc="-10">
                    <a:latin typeface="Arial"/>
                    <a:cs typeface="Arial"/>
                  </a:rPr>
                  <a:t>from the current vocabulary</a:t>
                </a:r>
                <a:endParaRPr sz="1750">
                  <a:latin typeface="Arial"/>
                  <a:cs typeface="Arial"/>
                </a:endParaRPr>
              </a:p>
              <a:p>
                <a:pPr marL="528320" marR="5080" lvl="1" indent="-221615">
                  <a:lnSpc>
                    <a:spcPct val="89300"/>
                  </a:lnSpc>
                  <a:spcBef>
                    <a:spcPts val="1845"/>
                  </a:spcBef>
                  <a:buSzPct val="122857"/>
                  <a:buChar char="-"/>
                  <a:tabLst>
                    <a:tab pos="528320" algn="l"/>
                  </a:tabLst>
                </a:pPr>
                <a:r>
                  <a:rPr lang="en-US" sz="1750" spc="-10">
                    <a:latin typeface="Arial"/>
                    <a:cs typeface="Arial"/>
                  </a:rPr>
                  <a:t>Calculate a </a:t>
                </a:r>
                <a:r>
                  <a:rPr lang="en-US" sz="1750" b="1" spc="-10">
                    <a:latin typeface="Arial"/>
                    <a:cs typeface="Arial"/>
                  </a:rPr>
                  <a:t>Score</a:t>
                </a:r>
                <a:r>
                  <a:rPr lang="en-US" sz="1750" spc="-10">
                    <a:latin typeface="Arial"/>
                    <a:cs typeface="Arial"/>
                  </a:rPr>
                  <a:t> for each pair: </a:t>
                </a:r>
              </a:p>
              <a:p>
                <a:pPr marL="760350" marR="5080" lvl="1">
                  <a:lnSpc>
                    <a:spcPct val="89300"/>
                  </a:lnSpc>
                  <a:spcBef>
                    <a:spcPts val="310"/>
                  </a:spcBef>
                  <a:buNone/>
                </a:pPr>
                <a14:m>
                  <m:oMathPara xmlns:m="http://schemas.openxmlformats.org/officeDocument/2006/math">
                    <m:oMathParaPr>
                      <m:jc m:val="left"/>
                    </m:oMathParaPr>
                    <m:oMath xmlns:m="http://schemas.openxmlformats.org/officeDocument/2006/math">
                      <m:r>
                        <m:rPr>
                          <m:sty m:val="p"/>
                        </m:rPr>
                        <a:rPr>
                          <a:latin typeface="Cambria Math" panose="02040503050406030204" pitchFamily="18" charset="0"/>
                        </a:rPr>
                        <m:t>Score</m:t>
                      </m:r>
                      <m:r>
                        <a:rPr>
                          <a:latin typeface="Cambria Math" panose="02040503050406030204" pitchFamily="18" charset="0"/>
                        </a:rPr>
                        <m:t> = </m:t>
                      </m:r>
                      <m:f>
                        <m:fPr>
                          <m:ctrlPr>
                            <a:rPr i="1">
                              <a:latin typeface="Cambria Math" panose="02040503050406030204" pitchFamily="18" charset="0"/>
                            </a:rPr>
                          </m:ctrlPr>
                        </m:fPr>
                        <m:num>
                          <m:r>
                            <m:rPr>
                              <m:sty m:val="p"/>
                            </m:rPr>
                            <a:rPr>
                              <a:latin typeface="Cambria Math" panose="02040503050406030204" pitchFamily="18" charset="0"/>
                            </a:rPr>
                            <m:t>freq</m:t>
                          </m:r>
                          <m:r>
                            <a:rPr>
                              <a:latin typeface="Cambria Math" panose="02040503050406030204" pitchFamily="18" charset="0"/>
                            </a:rPr>
                            <m:t>(</m:t>
                          </m:r>
                          <m:r>
                            <a:rPr>
                              <a:latin typeface="Cambria Math" panose="02040503050406030204" pitchFamily="18" charset="0"/>
                            </a:rPr>
                            <m:t>𝑙</m:t>
                          </m:r>
                          <m:r>
                            <a:rPr>
                              <a:latin typeface="Cambria Math" panose="02040503050406030204" pitchFamily="18" charset="0"/>
                            </a:rPr>
                            <m:t>,</m:t>
                          </m:r>
                          <m:r>
                            <a:rPr>
                              <a:latin typeface="Cambria Math" panose="02040503050406030204" pitchFamily="18" charset="0"/>
                            </a:rPr>
                            <m:t>𝑟</m:t>
                          </m:r>
                          <m:r>
                            <a:rPr>
                              <a:latin typeface="Cambria Math" panose="02040503050406030204" pitchFamily="18" charset="0"/>
                            </a:rPr>
                            <m:t>)</m:t>
                          </m:r>
                        </m:num>
                        <m:den>
                          <m:r>
                            <m:rPr>
                              <m:sty m:val="p"/>
                            </m:rPr>
                            <a:rPr>
                              <a:latin typeface="Cambria Math" panose="02040503050406030204" pitchFamily="18" charset="0"/>
                            </a:rPr>
                            <m:t>freq</m:t>
                          </m:r>
                          <m:r>
                            <a:rPr>
                              <a:latin typeface="Cambria Math" panose="02040503050406030204" pitchFamily="18" charset="0"/>
                            </a:rPr>
                            <m:t>(</m:t>
                          </m:r>
                          <m:r>
                            <a:rPr>
                              <a:latin typeface="Cambria Math" panose="02040503050406030204" pitchFamily="18" charset="0"/>
                            </a:rPr>
                            <m:t>𝑙</m:t>
                          </m:r>
                          <m:r>
                            <a:rPr>
                              <a:latin typeface="Cambria Math" panose="02040503050406030204" pitchFamily="18" charset="0"/>
                            </a:rPr>
                            <m:t>) × </m:t>
                          </m:r>
                          <m:r>
                            <m:rPr>
                              <m:sty m:val="p"/>
                            </m:rPr>
                            <a:rPr>
                              <a:latin typeface="Cambria Math" panose="02040503050406030204" pitchFamily="18" charset="0"/>
                            </a:rPr>
                            <m:t>freq</m:t>
                          </m:r>
                          <m:r>
                            <a:rPr>
                              <a:latin typeface="Cambria Math" panose="02040503050406030204" pitchFamily="18" charset="0"/>
                            </a:rPr>
                            <m:t>(</m:t>
                          </m:r>
                          <m:r>
                            <a:rPr>
                              <a:latin typeface="Cambria Math" panose="02040503050406030204" pitchFamily="18" charset="0"/>
                            </a:rPr>
                            <m:t>𝑟</m:t>
                          </m:r>
                          <m:r>
                            <a:rPr>
                              <a:latin typeface="Cambria Math" panose="02040503050406030204" pitchFamily="18" charset="0"/>
                            </a:rPr>
                            <m:t>)</m:t>
                          </m:r>
                        </m:den>
                      </m:f>
                    </m:oMath>
                  </m:oMathPara>
                </a14:m>
                <a:endParaRPr lang="en-US" sz="1750" spc="-10">
                  <a:latin typeface="Arial"/>
                  <a:cs typeface="Arial"/>
                </a:endParaRPr>
              </a:p>
              <a:p>
                <a:pPr marL="528320" marR="5080" lvl="1" indent="-221615">
                  <a:lnSpc>
                    <a:spcPct val="89300"/>
                  </a:lnSpc>
                  <a:spcBef>
                    <a:spcPts val="1845"/>
                  </a:spcBef>
                  <a:buSzPct val="122857"/>
                  <a:buChar char="-"/>
                  <a:tabLst>
                    <a:tab pos="528320" algn="l"/>
                  </a:tabLst>
                </a:pPr>
                <a:r>
                  <a:rPr lang="en-US" sz="1750" spc="-10">
                    <a:latin typeface="Arial"/>
                    <a:cs typeface="Arial"/>
                  </a:rPr>
                  <a:t>Choose the pair </a:t>
                </a:r>
                <a:r>
                  <a:rPr lang="en-US" sz="2100" spc="-10">
                    <a:latin typeface="Cambria"/>
                    <a:ea typeface="Cambria"/>
                    <a:cs typeface="Arial"/>
                  </a:rPr>
                  <a:t>⟨</a:t>
                </a:r>
                <a:r>
                  <a:rPr lang="en-US" sz="2100" i="1" spc="-10">
                    <a:latin typeface="Times New Roman"/>
                    <a:cs typeface="Times New Roman"/>
                  </a:rPr>
                  <a:t>l</a:t>
                </a:r>
                <a:r>
                  <a:rPr lang="en-US" sz="2100" spc="-10">
                    <a:latin typeface="Cambria"/>
                    <a:ea typeface="Cambria"/>
                    <a:cs typeface="Arial"/>
                  </a:rPr>
                  <a:t>, </a:t>
                </a:r>
                <a:r>
                  <a:rPr lang="en-US" sz="2100" i="1" spc="-10">
                    <a:latin typeface="Times New Roman"/>
                    <a:cs typeface="Times New Roman"/>
                  </a:rPr>
                  <a:t>r</a:t>
                </a:r>
                <a:r>
                  <a:rPr lang="en-US" sz="2100" spc="-10">
                    <a:latin typeface="Cambria"/>
                    <a:ea typeface="Cambria"/>
                    <a:cs typeface="Arial"/>
                  </a:rPr>
                  <a:t>⟩ </a:t>
                </a:r>
                <a:r>
                  <a:rPr lang="en-US" sz="1750" spc="-10">
                    <a:latin typeface="Arial"/>
                    <a:cs typeface="Arial"/>
                  </a:rPr>
                  <a:t>that maximizes this score</a:t>
                </a:r>
              </a:p>
              <a:p>
                <a:pPr marL="528320" marR="417830" lvl="1" indent="-221615">
                  <a:lnSpc>
                    <a:spcPts val="2220"/>
                  </a:lnSpc>
                  <a:spcBef>
                    <a:spcPts val="1614"/>
                  </a:spcBef>
                  <a:buSzPct val="122857"/>
                  <a:buChar char="-"/>
                  <a:tabLst>
                    <a:tab pos="528320" algn="l"/>
                  </a:tabLst>
                </a:pPr>
                <a:r>
                  <a:rPr sz="1750">
                    <a:latin typeface="Arial"/>
                    <a:cs typeface="Arial"/>
                  </a:rPr>
                  <a:t>Add</a:t>
                </a:r>
                <a:r>
                  <a:rPr sz="1750" spc="5">
                    <a:latin typeface="Arial"/>
                    <a:cs typeface="Arial"/>
                  </a:rPr>
                  <a:t> </a:t>
                </a:r>
                <a:r>
                  <a:rPr sz="1750">
                    <a:latin typeface="Arial"/>
                    <a:cs typeface="Arial"/>
                  </a:rPr>
                  <a:t>the</a:t>
                </a:r>
                <a:r>
                  <a:rPr sz="1750" spc="5">
                    <a:latin typeface="Arial"/>
                    <a:cs typeface="Arial"/>
                  </a:rPr>
                  <a:t> </a:t>
                </a:r>
                <a:r>
                  <a:rPr sz="1750">
                    <a:latin typeface="Arial"/>
                    <a:cs typeface="Arial"/>
                  </a:rPr>
                  <a:t>pair</a:t>
                </a:r>
                <a:r>
                  <a:rPr sz="1750" spc="5">
                    <a:latin typeface="Arial"/>
                    <a:cs typeface="Arial"/>
                  </a:rPr>
                  <a:t> </a:t>
                </a:r>
                <a:r>
                  <a:rPr sz="1750">
                    <a:latin typeface="Arial"/>
                    <a:cs typeface="Arial"/>
                  </a:rPr>
                  <a:t>to</a:t>
                </a:r>
                <a:r>
                  <a:rPr sz="1750" spc="10">
                    <a:latin typeface="Arial"/>
                    <a:cs typeface="Arial"/>
                  </a:rPr>
                  <a:t> </a:t>
                </a:r>
                <a:r>
                  <a:rPr sz="1750">
                    <a:latin typeface="Arial"/>
                    <a:cs typeface="Arial"/>
                  </a:rPr>
                  <a:t>the</a:t>
                </a:r>
                <a:r>
                  <a:rPr sz="1750" spc="5">
                    <a:latin typeface="Arial"/>
                    <a:cs typeface="Arial"/>
                  </a:rPr>
                  <a:t> </a:t>
                </a:r>
                <a:r>
                  <a:rPr sz="1750">
                    <a:latin typeface="Arial"/>
                    <a:cs typeface="Arial"/>
                  </a:rPr>
                  <a:t>vocabulary</a:t>
                </a:r>
                <a:r>
                  <a:rPr sz="1750" spc="5">
                    <a:latin typeface="Arial"/>
                    <a:cs typeface="Arial"/>
                  </a:rPr>
                  <a:t> </a:t>
                </a:r>
                <a:r>
                  <a:rPr sz="1750">
                    <a:latin typeface="Arial"/>
                    <a:cs typeface="Arial"/>
                  </a:rPr>
                  <a:t>as</a:t>
                </a:r>
                <a:r>
                  <a:rPr sz="1750" spc="5">
                    <a:latin typeface="Arial"/>
                    <a:cs typeface="Arial"/>
                  </a:rPr>
                  <a:t> </a:t>
                </a:r>
                <a:r>
                  <a:rPr sz="1750" spc="-50">
                    <a:latin typeface="Arial"/>
                    <a:cs typeface="Arial"/>
                  </a:rPr>
                  <a:t>a </a:t>
                </a:r>
                <a:r>
                  <a:rPr sz="1750">
                    <a:latin typeface="Arial"/>
                    <a:cs typeface="Arial"/>
                  </a:rPr>
                  <a:t>new token</a:t>
                </a:r>
                <a:r>
                  <a:rPr sz="1750" spc="5">
                    <a:latin typeface="Arial"/>
                    <a:cs typeface="Arial"/>
                  </a:rPr>
                  <a:t> </a:t>
                </a:r>
                <a:r>
                  <a:rPr sz="2100" spc="525">
                    <a:latin typeface="Cambria"/>
                    <a:cs typeface="Cambria"/>
                  </a:rPr>
                  <a:t>𝒱</a:t>
                </a:r>
                <a:r>
                  <a:rPr sz="2100" spc="130">
                    <a:latin typeface="Cambria"/>
                    <a:cs typeface="Cambria"/>
                  </a:rPr>
                  <a:t> </a:t>
                </a:r>
                <a:r>
                  <a:rPr sz="2100" spc="175">
                    <a:latin typeface="Cambria"/>
                    <a:cs typeface="Cambria"/>
                  </a:rPr>
                  <a:t>←</a:t>
                </a:r>
                <a:r>
                  <a:rPr sz="2100" spc="130">
                    <a:latin typeface="Cambria"/>
                    <a:cs typeface="Cambria"/>
                  </a:rPr>
                  <a:t> </a:t>
                </a:r>
                <a:r>
                  <a:rPr sz="2100" spc="525">
                    <a:latin typeface="Cambria"/>
                    <a:cs typeface="Cambria"/>
                  </a:rPr>
                  <a:t>𝒱</a:t>
                </a:r>
                <a:r>
                  <a:rPr sz="2100" spc="5">
                    <a:latin typeface="Cambria"/>
                    <a:cs typeface="Cambria"/>
                  </a:rPr>
                  <a:t> </a:t>
                </a:r>
                <a:r>
                  <a:rPr sz="2100" spc="-130">
                    <a:latin typeface="Cambria"/>
                    <a:cs typeface="Cambria"/>
                  </a:rPr>
                  <a:t>∪</a:t>
                </a:r>
                <a:r>
                  <a:rPr sz="2100" spc="10">
                    <a:latin typeface="Cambria"/>
                    <a:cs typeface="Cambria"/>
                  </a:rPr>
                  <a:t> </a:t>
                </a:r>
                <a:r>
                  <a:rPr sz="2100" spc="75">
                    <a:latin typeface="Cambria"/>
                    <a:cs typeface="Cambria"/>
                  </a:rPr>
                  <a:t>{</a:t>
                </a:r>
                <a:r>
                  <a:rPr sz="2100" i="1" spc="75" err="1">
                    <a:latin typeface="Times New Roman"/>
                    <a:cs typeface="Times New Roman"/>
                  </a:rPr>
                  <a:t>lr</a:t>
                </a:r>
                <a:r>
                  <a:rPr sz="2100" spc="75">
                    <a:latin typeface="Cambria"/>
                    <a:cs typeface="Cambria"/>
                  </a:rPr>
                  <a:t>}</a:t>
                </a:r>
                <a:endParaRPr sz="2100">
                  <a:latin typeface="Cambria"/>
                  <a:cs typeface="Cambria"/>
                </a:endParaRPr>
              </a:p>
              <a:p>
                <a:pPr marL="233679" indent="-220979">
                  <a:lnSpc>
                    <a:spcPct val="100000"/>
                  </a:lnSpc>
                  <a:spcBef>
                    <a:spcPts val="1565"/>
                  </a:spcBef>
                  <a:buSzPct val="122857"/>
                  <a:buChar char="•"/>
                  <a:tabLst>
                    <a:tab pos="233679" algn="l"/>
                  </a:tabLst>
                </a:pPr>
                <a:r>
                  <a:rPr sz="1750">
                    <a:latin typeface="Arial"/>
                    <a:cs typeface="Arial"/>
                  </a:rPr>
                  <a:t>Return</a:t>
                </a:r>
                <a:r>
                  <a:rPr sz="1750" spc="-75">
                    <a:latin typeface="Arial"/>
                    <a:cs typeface="Arial"/>
                  </a:rPr>
                  <a:t> </a:t>
                </a:r>
                <a:r>
                  <a:rPr sz="2100" spc="475">
                    <a:latin typeface="Cambria"/>
                    <a:cs typeface="Cambria"/>
                  </a:rPr>
                  <a:t>𝒱</a:t>
                </a:r>
                <a:endParaRPr sz="2100">
                  <a:latin typeface="Cambria"/>
                  <a:cs typeface="Cambria"/>
                </a:endParaRPr>
              </a:p>
            </p:txBody>
          </p:sp>
        </mc:Choice>
        <mc:Fallback>
          <p:sp>
            <p:nvSpPr>
              <p:cNvPr id="2" name="object 2">
                <a:extLst>
                  <a:ext uri="{FF2B5EF4-FFF2-40B4-BE49-F238E27FC236}">
                    <a16:creationId xmlns:a16="http://schemas.microsoft.com/office/drawing/2014/main" id="{1A2EC782-FF73-A480-95C3-6290A923F7A9}"/>
                  </a:ext>
                </a:extLst>
              </p:cNvPr>
              <p:cNvSpPr txBox="1">
                <a:spLocks noRot="1" noChangeAspect="1" noMove="1" noResize="1" noEditPoints="1" noAdjustHandles="1" noChangeArrowheads="1" noChangeShapeType="1" noTextEdit="1"/>
              </p:cNvSpPr>
              <p:nvPr/>
            </p:nvSpPr>
            <p:spPr>
              <a:xfrm>
                <a:off x="566836" y="2416754"/>
                <a:ext cx="4409440" cy="4916282"/>
              </a:xfrm>
              <a:prstGeom prst="rect">
                <a:avLst/>
              </a:prstGeom>
              <a:blipFill>
                <a:blip r:embed="rId3"/>
                <a:stretch>
                  <a:fillRect l="-3320" t="-1487" r="-3873" b="-2230"/>
                </a:stretch>
              </a:blipFill>
            </p:spPr>
            <p:txBody>
              <a:bodyPr/>
              <a:lstStyle/>
              <a:p>
                <a:r>
                  <a:rPr lang="en-US">
                    <a:noFill/>
                  </a:rPr>
                  <a:t> </a:t>
                </a:r>
              </a:p>
            </p:txBody>
          </p:sp>
        </mc:Fallback>
      </mc:AlternateContent>
      <p:sp>
        <p:nvSpPr>
          <p:cNvPr id="3" name="object 3" descr="$PPTXTitle">
            <a:extLst>
              <a:ext uri="{FF2B5EF4-FFF2-40B4-BE49-F238E27FC236}">
                <a16:creationId xmlns:a16="http://schemas.microsoft.com/office/drawing/2014/main" id="{8A41E762-0447-8CF1-DD50-E496A7B0F549}"/>
              </a:ext>
            </a:extLst>
          </p:cNvPr>
          <p:cNvSpPr txBox="1">
            <a:spLocks noGrp="1"/>
          </p:cNvSpPr>
          <p:nvPr>
            <p:ph type="title"/>
          </p:nvPr>
        </p:nvSpPr>
        <p:spPr>
          <a:xfrm>
            <a:off x="566836" y="395062"/>
            <a:ext cx="8842375" cy="797216"/>
          </a:xfrm>
          <a:prstGeom prst="rect">
            <a:avLst/>
          </a:prstGeom>
        </p:spPr>
        <p:txBody>
          <a:bodyPr vert="horz" wrap="square" lIns="0" tIns="88466" rIns="0" bIns="0" rtlCol="0" anchor="t">
            <a:spAutoFit/>
          </a:bodyPr>
          <a:lstStyle/>
          <a:p>
            <a:pPr marL="12700">
              <a:lnSpc>
                <a:spcPct val="100000"/>
              </a:lnSpc>
              <a:spcBef>
                <a:spcPts val="95"/>
              </a:spcBef>
            </a:pPr>
            <a:r>
              <a:rPr lang="en-US" spc="-125" err="1"/>
              <a:t>Wordpiece</a:t>
            </a:r>
            <a:endParaRPr lang="en-US" spc="-130" err="1"/>
          </a:p>
        </p:txBody>
      </p:sp>
      <p:sp>
        <p:nvSpPr>
          <p:cNvPr id="7" name="object 2">
            <a:extLst>
              <a:ext uri="{FF2B5EF4-FFF2-40B4-BE49-F238E27FC236}">
                <a16:creationId xmlns:a16="http://schemas.microsoft.com/office/drawing/2014/main" id="{86F05BBB-38A7-5BC2-1A1A-E7817CE055B7}"/>
              </a:ext>
            </a:extLst>
          </p:cNvPr>
          <p:cNvSpPr txBox="1"/>
          <p:nvPr/>
        </p:nvSpPr>
        <p:spPr>
          <a:xfrm>
            <a:off x="6772021" y="2566921"/>
            <a:ext cx="4398010" cy="306944"/>
          </a:xfrm>
          <a:prstGeom prst="rect">
            <a:avLst/>
          </a:prstGeom>
        </p:spPr>
        <p:txBody>
          <a:bodyPr vert="horz" wrap="square" lIns="0" tIns="42545" rIns="0" bIns="0" rtlCol="0" anchor="t">
            <a:spAutoFit/>
          </a:bodyPr>
          <a:lstStyle/>
          <a:p>
            <a:pPr marL="11430" marR="71755">
              <a:lnSpc>
                <a:spcPts val="1880"/>
              </a:lnSpc>
              <a:spcBef>
                <a:spcPts val="335"/>
              </a:spcBef>
              <a:buSzPct val="122857"/>
              <a:tabLst>
                <a:tab pos="233679" algn="l"/>
              </a:tabLst>
            </a:pPr>
            <a:r>
              <a:rPr lang="en-US" sz="2200">
                <a:latin typeface="Calibri"/>
                <a:ea typeface="Calibri"/>
                <a:cs typeface="Calibri"/>
              </a:rPr>
              <a:t>Training Data</a:t>
            </a:r>
          </a:p>
        </p:txBody>
      </p:sp>
      <p:graphicFrame>
        <p:nvGraphicFramePr>
          <p:cNvPr id="9" name="object 5">
            <a:extLst>
              <a:ext uri="{FF2B5EF4-FFF2-40B4-BE49-F238E27FC236}">
                <a16:creationId xmlns:a16="http://schemas.microsoft.com/office/drawing/2014/main" id="{D304C95A-80FF-3416-970D-DA95221BCFBA}"/>
              </a:ext>
            </a:extLst>
          </p:cNvPr>
          <p:cNvGraphicFramePr>
            <a:graphicFrameLocks noGrp="1"/>
          </p:cNvGraphicFramePr>
          <p:nvPr>
            <p:extLst>
              <p:ext uri="{D42A27DB-BD31-4B8C-83A1-F6EECF244321}">
                <p14:modId xmlns:p14="http://schemas.microsoft.com/office/powerpoint/2010/main" val="1103085779"/>
              </p:ext>
            </p:extLst>
          </p:nvPr>
        </p:nvGraphicFramePr>
        <p:xfrm>
          <a:off x="6040933" y="3239742"/>
          <a:ext cx="3069590" cy="2015490"/>
        </p:xfrm>
        <a:graphic>
          <a:graphicData uri="http://schemas.openxmlformats.org/drawingml/2006/table">
            <a:tbl>
              <a:tblPr firstRow="1" bandRow="1">
                <a:tableStyleId>{2D5ABB26-0587-4C30-8999-92F81FD0307C}</a:tableStyleId>
              </a:tblPr>
              <a:tblGrid>
                <a:gridCol w="1404620">
                  <a:extLst>
                    <a:ext uri="{9D8B030D-6E8A-4147-A177-3AD203B41FA5}">
                      <a16:colId xmlns:a16="http://schemas.microsoft.com/office/drawing/2014/main" val="20000"/>
                    </a:ext>
                  </a:extLst>
                </a:gridCol>
                <a:gridCol w="1664970">
                  <a:extLst>
                    <a:ext uri="{9D8B030D-6E8A-4147-A177-3AD203B41FA5}">
                      <a16:colId xmlns:a16="http://schemas.microsoft.com/office/drawing/2014/main" val="20001"/>
                    </a:ext>
                  </a:extLst>
                </a:gridCol>
              </a:tblGrid>
              <a:tr h="345440">
                <a:tc>
                  <a:txBody>
                    <a:bodyPr/>
                    <a:lstStyle/>
                    <a:p>
                      <a:pPr marL="129539" algn="ctr">
                        <a:lnSpc>
                          <a:spcPct val="100000"/>
                        </a:lnSpc>
                        <a:spcBef>
                          <a:spcPts val="395"/>
                        </a:spcBef>
                      </a:pPr>
                      <a:r>
                        <a:rPr sz="1600" b="1" spc="-20">
                          <a:latin typeface="Arial"/>
                          <a:cs typeface="Arial"/>
                        </a:rPr>
                        <a:t>Word</a:t>
                      </a:r>
                      <a:endParaRPr sz="1600">
                        <a:latin typeface="Arial"/>
                        <a:cs typeface="Arial"/>
                      </a:endParaRPr>
                    </a:p>
                  </a:txBody>
                  <a:tcPr marL="0" marR="0" marT="50165" marB="0">
                    <a:lnB w="12700">
                      <a:solidFill>
                        <a:srgbClr val="536773"/>
                      </a:solidFill>
                      <a:prstDash val="solid"/>
                    </a:lnB>
                    <a:solidFill>
                      <a:srgbClr val="56C1FF"/>
                    </a:solidFill>
                  </a:tcPr>
                </a:tc>
                <a:tc>
                  <a:txBody>
                    <a:bodyPr/>
                    <a:lstStyle/>
                    <a:p>
                      <a:pPr marL="129539" algn="ctr">
                        <a:lnSpc>
                          <a:spcPct val="100000"/>
                        </a:lnSpc>
                        <a:spcBef>
                          <a:spcPts val="395"/>
                        </a:spcBef>
                      </a:pPr>
                      <a:r>
                        <a:rPr sz="1600" b="1" spc="-10">
                          <a:latin typeface="Arial"/>
                          <a:cs typeface="Arial"/>
                        </a:rPr>
                        <a:t>Frequency</a:t>
                      </a:r>
                      <a:endParaRPr sz="1600">
                        <a:latin typeface="Arial"/>
                        <a:cs typeface="Arial"/>
                      </a:endParaRPr>
                    </a:p>
                  </a:txBody>
                  <a:tcPr marL="0" marR="0" marT="50165" marB="0">
                    <a:lnB w="12700">
                      <a:solidFill>
                        <a:srgbClr val="536773"/>
                      </a:solidFill>
                      <a:prstDash val="solid"/>
                    </a:lnB>
                    <a:solidFill>
                      <a:srgbClr val="56C1FF"/>
                    </a:solidFill>
                  </a:tcPr>
                </a:tc>
                <a:extLst>
                  <a:ext uri="{0D108BD9-81ED-4DB2-BD59-A6C34878D82A}">
                    <a16:rowId xmlns:a16="http://schemas.microsoft.com/office/drawing/2014/main" val="10000"/>
                  </a:ext>
                </a:extLst>
              </a:tr>
              <a:tr h="345440">
                <a:tc>
                  <a:txBody>
                    <a:bodyPr/>
                    <a:lstStyle/>
                    <a:p>
                      <a:pPr marL="129539" algn="ctr">
                        <a:lnSpc>
                          <a:spcPct val="100000"/>
                        </a:lnSpc>
                        <a:spcBef>
                          <a:spcPts val="365"/>
                        </a:spcBef>
                      </a:pPr>
                      <a:r>
                        <a:rPr sz="1600" spc="-25">
                          <a:latin typeface="Arial"/>
                          <a:cs typeface="Arial"/>
                        </a:rPr>
                        <a:t>hug</a:t>
                      </a:r>
                      <a:endParaRPr sz="1600">
                        <a:latin typeface="Arial"/>
                        <a:cs typeface="Arial"/>
                      </a:endParaRPr>
                    </a:p>
                  </a:txBody>
                  <a:tcPr marL="0" marR="0" marT="46355" marB="0">
                    <a:lnT w="12700">
                      <a:solidFill>
                        <a:srgbClr val="536773"/>
                      </a:solidFill>
                      <a:prstDash val="solid"/>
                    </a:lnT>
                  </a:tcPr>
                </a:tc>
                <a:tc>
                  <a:txBody>
                    <a:bodyPr/>
                    <a:lstStyle/>
                    <a:p>
                      <a:pPr marL="129539" algn="ctr">
                        <a:lnSpc>
                          <a:spcPct val="100000"/>
                        </a:lnSpc>
                        <a:spcBef>
                          <a:spcPts val="365"/>
                        </a:spcBef>
                      </a:pPr>
                      <a:r>
                        <a:rPr sz="1600" spc="-25">
                          <a:latin typeface="Arial"/>
                          <a:cs typeface="Arial"/>
                        </a:rPr>
                        <a:t>10</a:t>
                      </a:r>
                      <a:endParaRPr sz="1600">
                        <a:latin typeface="Arial"/>
                        <a:cs typeface="Arial"/>
                      </a:endParaRPr>
                    </a:p>
                  </a:txBody>
                  <a:tcPr marL="0" marR="0" marT="46355" marB="0">
                    <a:lnT w="12700">
                      <a:solidFill>
                        <a:srgbClr val="536773"/>
                      </a:solidFill>
                      <a:prstDash val="solid"/>
                    </a:lnT>
                  </a:tcPr>
                </a:tc>
                <a:extLst>
                  <a:ext uri="{0D108BD9-81ED-4DB2-BD59-A6C34878D82A}">
                    <a16:rowId xmlns:a16="http://schemas.microsoft.com/office/drawing/2014/main" val="10001"/>
                  </a:ext>
                </a:extLst>
              </a:tr>
              <a:tr h="345440">
                <a:tc>
                  <a:txBody>
                    <a:bodyPr/>
                    <a:lstStyle/>
                    <a:p>
                      <a:pPr marL="129539" algn="ctr">
                        <a:lnSpc>
                          <a:spcPct val="100000"/>
                        </a:lnSpc>
                        <a:spcBef>
                          <a:spcPts val="325"/>
                        </a:spcBef>
                      </a:pPr>
                      <a:r>
                        <a:rPr sz="1600" spc="-25">
                          <a:latin typeface="Arial"/>
                          <a:cs typeface="Arial"/>
                        </a:rPr>
                        <a:t>pug</a:t>
                      </a:r>
                      <a:endParaRPr sz="1600">
                        <a:latin typeface="Arial"/>
                        <a:cs typeface="Arial"/>
                      </a:endParaRPr>
                    </a:p>
                  </a:txBody>
                  <a:tcPr marL="0" marR="0" marT="41275" marB="0">
                    <a:solidFill>
                      <a:srgbClr val="E3E5E8"/>
                    </a:solidFill>
                  </a:tcPr>
                </a:tc>
                <a:tc>
                  <a:txBody>
                    <a:bodyPr/>
                    <a:lstStyle/>
                    <a:p>
                      <a:pPr marL="129539" algn="ctr">
                        <a:lnSpc>
                          <a:spcPct val="100000"/>
                        </a:lnSpc>
                        <a:spcBef>
                          <a:spcPts val="325"/>
                        </a:spcBef>
                      </a:pPr>
                      <a:r>
                        <a:rPr sz="1600" spc="-50">
                          <a:latin typeface="Arial"/>
                          <a:cs typeface="Arial"/>
                        </a:rPr>
                        <a:t>5</a:t>
                      </a:r>
                      <a:endParaRPr sz="1600">
                        <a:latin typeface="Arial"/>
                        <a:cs typeface="Arial"/>
                      </a:endParaRPr>
                    </a:p>
                  </a:txBody>
                  <a:tcPr marL="0" marR="0" marT="41275" marB="0">
                    <a:solidFill>
                      <a:srgbClr val="E3E5E8"/>
                    </a:solidFill>
                  </a:tcPr>
                </a:tc>
                <a:extLst>
                  <a:ext uri="{0D108BD9-81ED-4DB2-BD59-A6C34878D82A}">
                    <a16:rowId xmlns:a16="http://schemas.microsoft.com/office/drawing/2014/main" val="10002"/>
                  </a:ext>
                </a:extLst>
              </a:tr>
              <a:tr h="345440">
                <a:tc>
                  <a:txBody>
                    <a:bodyPr/>
                    <a:lstStyle/>
                    <a:p>
                      <a:pPr marL="129539" algn="ctr">
                        <a:lnSpc>
                          <a:spcPct val="100000"/>
                        </a:lnSpc>
                        <a:spcBef>
                          <a:spcPts val="325"/>
                        </a:spcBef>
                      </a:pPr>
                      <a:r>
                        <a:rPr sz="1600" spc="-25">
                          <a:latin typeface="Arial"/>
                          <a:cs typeface="Arial"/>
                        </a:rPr>
                        <a:t>pun</a:t>
                      </a:r>
                      <a:endParaRPr sz="1600">
                        <a:latin typeface="Arial"/>
                        <a:cs typeface="Arial"/>
                      </a:endParaRPr>
                    </a:p>
                  </a:txBody>
                  <a:tcPr marL="0" marR="0" marT="41275" marB="0"/>
                </a:tc>
                <a:tc>
                  <a:txBody>
                    <a:bodyPr/>
                    <a:lstStyle/>
                    <a:p>
                      <a:pPr marL="129539" algn="ctr">
                        <a:lnSpc>
                          <a:spcPct val="100000"/>
                        </a:lnSpc>
                        <a:spcBef>
                          <a:spcPts val="325"/>
                        </a:spcBef>
                      </a:pPr>
                      <a:r>
                        <a:rPr sz="1600" spc="-25">
                          <a:latin typeface="Arial"/>
                          <a:cs typeface="Arial"/>
                        </a:rPr>
                        <a:t>12</a:t>
                      </a:r>
                      <a:endParaRPr sz="1600">
                        <a:latin typeface="Arial"/>
                        <a:cs typeface="Arial"/>
                      </a:endParaRPr>
                    </a:p>
                  </a:txBody>
                  <a:tcPr marL="0" marR="0" marT="41275" marB="0"/>
                </a:tc>
                <a:extLst>
                  <a:ext uri="{0D108BD9-81ED-4DB2-BD59-A6C34878D82A}">
                    <a16:rowId xmlns:a16="http://schemas.microsoft.com/office/drawing/2014/main" val="10003"/>
                  </a:ext>
                </a:extLst>
              </a:tr>
              <a:tr h="345440">
                <a:tc>
                  <a:txBody>
                    <a:bodyPr/>
                    <a:lstStyle/>
                    <a:p>
                      <a:pPr marL="129539" algn="ctr">
                        <a:lnSpc>
                          <a:spcPct val="100000"/>
                        </a:lnSpc>
                        <a:spcBef>
                          <a:spcPts val="325"/>
                        </a:spcBef>
                      </a:pPr>
                      <a:r>
                        <a:rPr sz="1600" spc="-25">
                          <a:latin typeface="Arial"/>
                          <a:cs typeface="Arial"/>
                        </a:rPr>
                        <a:t>bun</a:t>
                      </a:r>
                      <a:endParaRPr sz="1600">
                        <a:latin typeface="Arial"/>
                        <a:cs typeface="Arial"/>
                      </a:endParaRPr>
                    </a:p>
                  </a:txBody>
                  <a:tcPr marL="0" marR="0" marT="41275" marB="0">
                    <a:solidFill>
                      <a:srgbClr val="E3E5E8"/>
                    </a:solidFill>
                  </a:tcPr>
                </a:tc>
                <a:tc>
                  <a:txBody>
                    <a:bodyPr/>
                    <a:lstStyle/>
                    <a:p>
                      <a:pPr marL="129539" algn="ctr">
                        <a:lnSpc>
                          <a:spcPct val="100000"/>
                        </a:lnSpc>
                        <a:spcBef>
                          <a:spcPts val="325"/>
                        </a:spcBef>
                      </a:pPr>
                      <a:r>
                        <a:rPr sz="1600" spc="-50">
                          <a:latin typeface="Arial"/>
                          <a:cs typeface="Arial"/>
                        </a:rPr>
                        <a:t>4</a:t>
                      </a:r>
                      <a:endParaRPr sz="1600">
                        <a:latin typeface="Arial"/>
                        <a:cs typeface="Arial"/>
                      </a:endParaRPr>
                    </a:p>
                  </a:txBody>
                  <a:tcPr marL="0" marR="0" marT="41275" marB="0">
                    <a:solidFill>
                      <a:srgbClr val="E3E5E8"/>
                    </a:solidFill>
                  </a:tcPr>
                </a:tc>
                <a:extLst>
                  <a:ext uri="{0D108BD9-81ED-4DB2-BD59-A6C34878D82A}">
                    <a16:rowId xmlns:a16="http://schemas.microsoft.com/office/drawing/2014/main" val="10004"/>
                  </a:ext>
                </a:extLst>
              </a:tr>
              <a:tr h="288290">
                <a:tc>
                  <a:txBody>
                    <a:bodyPr/>
                    <a:lstStyle/>
                    <a:p>
                      <a:pPr marL="129539" algn="ctr">
                        <a:lnSpc>
                          <a:spcPts val="1845"/>
                        </a:lnSpc>
                        <a:spcBef>
                          <a:spcPts val="325"/>
                        </a:spcBef>
                      </a:pPr>
                      <a:r>
                        <a:rPr sz="1600" spc="-20">
                          <a:latin typeface="Arial"/>
                          <a:cs typeface="Arial"/>
                        </a:rPr>
                        <a:t>hugs</a:t>
                      </a:r>
                      <a:endParaRPr sz="1600">
                        <a:latin typeface="Arial"/>
                        <a:cs typeface="Arial"/>
                      </a:endParaRPr>
                    </a:p>
                  </a:txBody>
                  <a:tcPr marL="0" marR="0" marT="41275" marB="0"/>
                </a:tc>
                <a:tc>
                  <a:txBody>
                    <a:bodyPr/>
                    <a:lstStyle/>
                    <a:p>
                      <a:pPr marL="129539" algn="ctr">
                        <a:lnSpc>
                          <a:spcPts val="1845"/>
                        </a:lnSpc>
                        <a:spcBef>
                          <a:spcPts val="325"/>
                        </a:spcBef>
                      </a:pPr>
                      <a:r>
                        <a:rPr sz="1600" spc="-50">
                          <a:latin typeface="Arial"/>
                          <a:cs typeface="Arial"/>
                        </a:rPr>
                        <a:t>5</a:t>
                      </a:r>
                      <a:endParaRPr sz="1600">
                        <a:latin typeface="Arial"/>
                        <a:cs typeface="Arial"/>
                      </a:endParaRPr>
                    </a:p>
                  </a:txBody>
                  <a:tcPr marL="0" marR="0" marT="41275" marB="0"/>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39776738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txBox="1">
            <a:spLocks noGrp="1"/>
          </p:cNvSpPr>
          <p:nvPr>
            <p:ph type="sldNum" sz="quarter" idx="7"/>
          </p:nvPr>
        </p:nvSpPr>
        <p:spPr>
          <a:prstGeom prst="rect">
            <a:avLst/>
          </a:prstGeom>
        </p:spPr>
        <p:txBody>
          <a:bodyPr vert="horz" wrap="square" lIns="0" tIns="6985" rIns="0" bIns="0" rtlCol="0">
            <a:spAutoFit/>
          </a:bodyPr>
          <a:lstStyle/>
          <a:p>
            <a:pPr marL="38100">
              <a:lnSpc>
                <a:spcPct val="100000"/>
              </a:lnSpc>
              <a:spcBef>
                <a:spcPts val="55"/>
              </a:spcBef>
            </a:pPr>
            <a:fld id="{81D60167-4931-47E6-BA6A-407CBD079E47}" type="slidenum">
              <a:rPr spc="-25" dirty="0"/>
              <a:t>26</a:t>
            </a:fld>
            <a:endParaRPr spc="-25"/>
          </a:p>
        </p:txBody>
      </p:sp>
      <p:sp>
        <p:nvSpPr>
          <p:cNvPr id="5" name="object 5"/>
          <p:cNvSpPr txBox="1"/>
          <p:nvPr/>
        </p:nvSpPr>
        <p:spPr>
          <a:xfrm>
            <a:off x="5562139" y="7457345"/>
            <a:ext cx="4424680" cy="174625"/>
          </a:xfrm>
          <a:prstGeom prst="rect">
            <a:avLst/>
          </a:prstGeom>
        </p:spPr>
        <p:txBody>
          <a:bodyPr vert="horz" wrap="square" lIns="0" tIns="6985" rIns="0" bIns="0" rtlCol="0">
            <a:spAutoFit/>
          </a:bodyPr>
          <a:lstStyle/>
          <a:p>
            <a:pPr marL="12700">
              <a:lnSpc>
                <a:spcPct val="100000"/>
              </a:lnSpc>
              <a:spcBef>
                <a:spcPts val="55"/>
              </a:spcBef>
            </a:pPr>
            <a:r>
              <a:rPr sz="1000">
                <a:latin typeface="Arial"/>
                <a:cs typeface="Arial"/>
              </a:rPr>
              <a:t>Example from: </a:t>
            </a:r>
            <a:r>
              <a:rPr sz="1000" u="sng" spc="-10">
                <a:uFill>
                  <a:solidFill>
                    <a:srgbClr val="000000"/>
                  </a:solidFill>
                </a:uFill>
                <a:latin typeface="Arial"/>
                <a:cs typeface="Arial"/>
              </a:rPr>
              <a:t>https://huggingface.co/docs/transformers/tokenizer_summary</a:t>
            </a:r>
          </a:p>
        </p:txBody>
      </p:sp>
      <p:sp>
        <p:nvSpPr>
          <p:cNvPr id="3" name="object 3" descr="$PPTXTitle"/>
          <p:cNvSpPr txBox="1">
            <a:spLocks noGrp="1"/>
          </p:cNvSpPr>
          <p:nvPr>
            <p:ph type="title"/>
          </p:nvPr>
        </p:nvSpPr>
        <p:spPr>
          <a:xfrm>
            <a:off x="566836" y="395062"/>
            <a:ext cx="8842375" cy="797216"/>
          </a:xfrm>
          <a:prstGeom prst="rect">
            <a:avLst/>
          </a:prstGeom>
        </p:spPr>
        <p:txBody>
          <a:bodyPr vert="horz" wrap="square" lIns="0" tIns="88466" rIns="0" bIns="0" rtlCol="0" anchor="t">
            <a:spAutoFit/>
          </a:bodyPr>
          <a:lstStyle/>
          <a:p>
            <a:pPr marL="12700">
              <a:lnSpc>
                <a:spcPct val="100000"/>
              </a:lnSpc>
              <a:spcBef>
                <a:spcPts val="95"/>
              </a:spcBef>
            </a:pPr>
            <a:r>
              <a:rPr lang="en-US" spc="-125" err="1"/>
              <a:t>Wordpiece</a:t>
            </a:r>
          </a:p>
        </p:txBody>
      </p:sp>
      <p:sp>
        <p:nvSpPr>
          <p:cNvPr id="99" name="yellow_highlight_99"/>
          <p:cNvSpPr txBox="1"/>
          <p:nvPr/>
        </p:nvSpPr>
        <p:spPr>
          <a:xfrm>
            <a:off x="0" y="2402978"/>
            <a:ext cx="5142230" cy="676275"/>
          </a:xfrm>
          <a:prstGeom prst="rect">
            <a:avLst/>
          </a:prstGeom>
          <a:solidFill>
            <a:srgbClr val="FFD932">
              <a:alpha val="42759"/>
            </a:srgbClr>
          </a:solidFill>
        </p:spPr>
        <p:txBody>
          <a:bodyPr vert="horz" wrap="square" lIns="0" tIns="0" rIns="0" bIns="0" rtlCol="0">
            <a:spAutoFit/>
          </a:bodyPr>
          <a:lstStyle/>
          <a:p>
            <a:endParaRPr/>
          </a:p>
        </p:txBody>
      </p:sp>
      <mc:AlternateContent xmlns:mc="http://schemas.openxmlformats.org/markup-compatibility/2006">
        <mc:Choice xmlns:a14="http://schemas.microsoft.com/office/drawing/2010/main" Requires="a14">
          <p:sp>
            <p:nvSpPr>
              <p:cNvPr id="2" name="object 2"/>
              <p:cNvSpPr txBox="1"/>
              <p:nvPr/>
            </p:nvSpPr>
            <p:spPr>
              <a:xfrm>
                <a:off x="501592" y="2427624"/>
                <a:ext cx="4409440" cy="4916282"/>
              </a:xfrm>
              <a:prstGeom prst="rect">
                <a:avLst/>
              </a:prstGeom>
            </p:spPr>
            <p:txBody>
              <a:bodyPr vert="horz" wrap="square" lIns="0" tIns="39370" rIns="0" bIns="0" rtlCol="0" anchor="t">
                <a:spAutoFit/>
              </a:bodyPr>
              <a:lstStyle/>
              <a:p>
                <a:pPr marL="233679" marR="276860" indent="-221615">
                  <a:lnSpc>
                    <a:spcPct val="91700"/>
                  </a:lnSpc>
                  <a:spcBef>
                    <a:spcPts val="310"/>
                  </a:spcBef>
                  <a:buSzPct val="102380"/>
                  <a:buFont typeface="Arial"/>
                  <a:buChar char="•"/>
                  <a:tabLst>
                    <a:tab pos="233679" algn="l"/>
                  </a:tabLst>
                </a:pPr>
                <a:r>
                  <a:rPr sz="2100" spc="175">
                    <a:latin typeface="Cambria"/>
                    <a:cs typeface="Cambria"/>
                  </a:rPr>
                  <a:t>𝒱 ← </a:t>
                </a:r>
                <a:r>
                  <a:rPr sz="1750" spc="-10">
                    <a:latin typeface="Arial"/>
                    <a:cs typeface="Arial"/>
                  </a:rPr>
                  <a:t>All characters in the training data (as </a:t>
                </a:r>
                <a:r>
                  <a:rPr sz="1750" b="1" spc="-10">
                    <a:latin typeface="Arial"/>
                    <a:cs typeface="Arial"/>
                  </a:rPr>
                  <a:t>tokens</a:t>
                </a:r>
                <a:r>
                  <a:rPr sz="1750" spc="-10">
                    <a:latin typeface="Arial"/>
                    <a:cs typeface="Arial"/>
                  </a:rPr>
                  <a:t>)</a:t>
                </a:r>
                <a:endParaRPr sz="1750">
                  <a:latin typeface="Arial"/>
                  <a:cs typeface="Arial"/>
                </a:endParaRPr>
              </a:p>
              <a:p>
                <a:pPr marL="233679" marR="276860" indent="-221615">
                  <a:lnSpc>
                    <a:spcPct val="91700"/>
                  </a:lnSpc>
                  <a:spcBef>
                    <a:spcPts val="1295"/>
                  </a:spcBef>
                  <a:buSzPct val="102380"/>
                  <a:buFont typeface="Arial"/>
                  <a:buChar char="•"/>
                  <a:tabLst>
                    <a:tab pos="233679" algn="l"/>
                  </a:tabLst>
                </a:pPr>
                <a:r>
                  <a:rPr sz="1750" spc="-10">
                    <a:latin typeface="Arial"/>
                    <a:cs typeface="Arial"/>
                  </a:rPr>
                  <a:t>For </a:t>
                </a:r>
                <a:r>
                  <a:rPr sz="2100" i="1" spc="-10" err="1">
                    <a:latin typeface="Times New Roman"/>
                    <a:cs typeface="Times New Roman"/>
                  </a:rPr>
                  <a:t>k</a:t>
                </a:r>
                <a:r>
                  <a:rPr sz="1750" spc="-10">
                    <a:latin typeface="Arial"/>
                    <a:cs typeface="Arial"/>
                  </a:rPr>
                  <a:t> steps:</a:t>
                </a:r>
                <a:endParaRPr sz="1750">
                  <a:latin typeface="Arial"/>
                  <a:cs typeface="Arial"/>
                </a:endParaRPr>
              </a:p>
              <a:p>
                <a:pPr marL="528320" marR="5080" lvl="1" indent="-221615">
                  <a:lnSpc>
                    <a:spcPct val="89300"/>
                  </a:lnSpc>
                  <a:spcBef>
                    <a:spcPts val="1845"/>
                  </a:spcBef>
                  <a:buSzPct val="122857"/>
                  <a:buChar char="-"/>
                  <a:tabLst>
                    <a:tab pos="528320" algn="l"/>
                  </a:tabLst>
                </a:pPr>
                <a:r>
                  <a:rPr sz="1750" spc="-10">
                    <a:latin typeface="Arial"/>
                    <a:cs typeface="Arial"/>
                  </a:rPr>
                  <a:t>Identify all possible pairs </a:t>
                </a:r>
                <a:r>
                  <a:rPr sz="2100" spc="175">
                    <a:latin typeface="Cambria"/>
                    <a:cs typeface="Cambria"/>
                  </a:rPr>
                  <a:t>⟨</a:t>
                </a:r>
                <a:r>
                  <a:rPr sz="2100" i="1" spc="-10" err="1">
                    <a:latin typeface="Times New Roman"/>
                    <a:cs typeface="Times New Roman"/>
                  </a:rPr>
                  <a:t>l</a:t>
                </a:r>
                <a:r>
                  <a:rPr sz="2100" spc="175">
                    <a:latin typeface="Cambria"/>
                    <a:cs typeface="Cambria"/>
                  </a:rPr>
                  <a:t>, </a:t>
                </a:r>
                <a:r>
                  <a:rPr sz="2100" i="1" spc="-10" err="1">
                    <a:latin typeface="Times New Roman"/>
                    <a:cs typeface="Times New Roman"/>
                  </a:rPr>
                  <a:t>r</a:t>
                </a:r>
                <a:r>
                  <a:rPr sz="2100" spc="175">
                    <a:latin typeface="Cambria"/>
                    <a:cs typeface="Cambria"/>
                  </a:rPr>
                  <a:t>⟩</a:t>
                </a:r>
                <a:r>
                  <a:rPr sz="1750" spc="-10">
                    <a:latin typeface="Arial"/>
                    <a:cs typeface="Arial"/>
                  </a:rPr>
                  <a:t> from the current vocabulary</a:t>
                </a:r>
                <a:endParaRPr sz="1750">
                  <a:latin typeface="Arial"/>
                  <a:cs typeface="Arial"/>
                </a:endParaRPr>
              </a:p>
              <a:p>
                <a:pPr marL="528320" marR="5080" lvl="1" indent="-221615">
                  <a:lnSpc>
                    <a:spcPct val="89300"/>
                  </a:lnSpc>
                  <a:spcBef>
                    <a:spcPts val="1845"/>
                  </a:spcBef>
                  <a:buSzPct val="122857"/>
                  <a:buChar char="-"/>
                  <a:tabLst>
                    <a:tab pos="528320" algn="l"/>
                  </a:tabLst>
                </a:pPr>
                <a:r>
                  <a:rPr sz="1750" spc="-10">
                    <a:latin typeface="Arial"/>
                    <a:cs typeface="Arial"/>
                  </a:rPr>
                  <a:t>Calculate a </a:t>
                </a:r>
                <a:r>
                  <a:rPr sz="1750" b="1" spc="-10">
                    <a:latin typeface="Arial"/>
                    <a:cs typeface="Arial"/>
                  </a:rPr>
                  <a:t>Score</a:t>
                </a:r>
                <a:r>
                  <a:rPr sz="1750" spc="-10">
                    <a:latin typeface="Arial"/>
                    <a:cs typeface="Arial"/>
                  </a:rPr>
                  <a:t> for each pair:</a:t>
                </a:r>
                <a:endParaRPr sz="1750">
                  <a:latin typeface="Arial"/>
                  <a:cs typeface="Arial"/>
                </a:endParaRPr>
              </a:p>
              <a:p>
                <a:pPr marL="760350" marR="5080" lvl="1">
                  <a:lnSpc>
                    <a:spcPct val="89300"/>
                  </a:lnSpc>
                  <a:spcBef>
                    <a:spcPts val="310"/>
                  </a:spcBef>
                  <a:buNone/>
                </a:pPr>
                <a14:m>
                  <m:oMathPara xmlns:m="http://schemas.openxmlformats.org/officeDocument/2006/math">
                    <m:oMathParaPr>
                      <m:jc m:val="left"/>
                    </m:oMathParaPr>
                    <m:oMath xmlns:m="http://schemas.openxmlformats.org/officeDocument/2006/math">
                      <m:r>
                        <m:rPr>
                          <m:sty m:val="p"/>
                        </m:rPr>
                        <a:rPr>
                          <a:latin typeface="Cambria Math" panose="02040503050406030204" pitchFamily="18" charset="0"/>
                        </a:rPr>
                        <m:t>Score</m:t>
                      </m:r>
                      <m:r>
                        <a:rPr>
                          <a:latin typeface="Cambria Math" panose="02040503050406030204" pitchFamily="18" charset="0"/>
                        </a:rPr>
                        <m:t> = </m:t>
                      </m:r>
                      <m:f>
                        <m:fPr>
                          <m:ctrlPr>
                            <a:rPr i="1">
                              <a:latin typeface="Cambria Math" panose="02040503050406030204" pitchFamily="18" charset="0"/>
                            </a:rPr>
                          </m:ctrlPr>
                        </m:fPr>
                        <m:num>
                          <m:r>
                            <m:rPr>
                              <m:sty m:val="p"/>
                            </m:rPr>
                            <a:rPr>
                              <a:latin typeface="Cambria Math" panose="02040503050406030204" pitchFamily="18" charset="0"/>
                            </a:rPr>
                            <m:t>freq</m:t>
                          </m:r>
                          <m:r>
                            <a:rPr>
                              <a:latin typeface="Cambria Math" panose="02040503050406030204" pitchFamily="18" charset="0"/>
                            </a:rPr>
                            <m:t>(</m:t>
                          </m:r>
                          <m:r>
                            <a:rPr>
                              <a:latin typeface="Cambria Math" panose="02040503050406030204" pitchFamily="18" charset="0"/>
                            </a:rPr>
                            <m:t>𝑙</m:t>
                          </m:r>
                          <m:r>
                            <a:rPr>
                              <a:latin typeface="Cambria Math" panose="02040503050406030204" pitchFamily="18" charset="0"/>
                            </a:rPr>
                            <m:t>,</m:t>
                          </m:r>
                          <m:r>
                            <a:rPr>
                              <a:latin typeface="Cambria Math" panose="02040503050406030204" pitchFamily="18" charset="0"/>
                            </a:rPr>
                            <m:t>𝑟</m:t>
                          </m:r>
                          <m:r>
                            <a:rPr>
                              <a:latin typeface="Cambria Math" panose="02040503050406030204" pitchFamily="18" charset="0"/>
                            </a:rPr>
                            <m:t>)</m:t>
                          </m:r>
                        </m:num>
                        <m:den>
                          <m:r>
                            <m:rPr>
                              <m:sty m:val="p"/>
                            </m:rPr>
                            <a:rPr>
                              <a:latin typeface="Cambria Math" panose="02040503050406030204" pitchFamily="18" charset="0"/>
                            </a:rPr>
                            <m:t>freq</m:t>
                          </m:r>
                          <m:r>
                            <a:rPr>
                              <a:latin typeface="Cambria Math" panose="02040503050406030204" pitchFamily="18" charset="0"/>
                            </a:rPr>
                            <m:t>(</m:t>
                          </m:r>
                          <m:r>
                            <a:rPr>
                              <a:latin typeface="Cambria Math" panose="02040503050406030204" pitchFamily="18" charset="0"/>
                            </a:rPr>
                            <m:t>𝑙</m:t>
                          </m:r>
                          <m:r>
                            <a:rPr>
                              <a:latin typeface="Cambria Math" panose="02040503050406030204" pitchFamily="18" charset="0"/>
                            </a:rPr>
                            <m:t>) × </m:t>
                          </m:r>
                          <m:r>
                            <m:rPr>
                              <m:sty m:val="p"/>
                            </m:rPr>
                            <a:rPr>
                              <a:latin typeface="Cambria Math" panose="02040503050406030204" pitchFamily="18" charset="0"/>
                            </a:rPr>
                            <m:t>freq</m:t>
                          </m:r>
                          <m:r>
                            <a:rPr>
                              <a:latin typeface="Cambria Math" panose="02040503050406030204" pitchFamily="18" charset="0"/>
                            </a:rPr>
                            <m:t>(</m:t>
                          </m:r>
                          <m:r>
                            <a:rPr>
                              <a:latin typeface="Cambria Math" panose="02040503050406030204" pitchFamily="18" charset="0"/>
                            </a:rPr>
                            <m:t>𝑟</m:t>
                          </m:r>
                          <m:r>
                            <a:rPr>
                              <a:latin typeface="Cambria Math" panose="02040503050406030204" pitchFamily="18" charset="0"/>
                            </a:rPr>
                            <m:t>)</m:t>
                          </m:r>
                        </m:den>
                      </m:f>
                    </m:oMath>
                  </m:oMathPara>
                </a14:m>
                <a:endParaRPr sz="1750">
                  <a:latin typeface="Arial"/>
                  <a:cs typeface="Arial"/>
                </a:endParaRPr>
              </a:p>
              <a:p>
                <a:pPr marL="528320" marR="5080" lvl="1" indent="-221615">
                  <a:lnSpc>
                    <a:spcPct val="89300"/>
                  </a:lnSpc>
                  <a:spcBef>
                    <a:spcPts val="1845"/>
                  </a:spcBef>
                  <a:buSzPct val="122857"/>
                  <a:buChar char="-"/>
                  <a:tabLst>
                    <a:tab pos="528320" algn="l"/>
                  </a:tabLst>
                </a:pPr>
                <a:r>
                  <a:rPr sz="1750" spc="-10">
                    <a:latin typeface="Arial"/>
                    <a:cs typeface="Arial"/>
                  </a:rPr>
                  <a:t>Choose the pair </a:t>
                </a:r>
                <a:r>
                  <a:rPr sz="2100" spc="175">
                    <a:latin typeface="Cambria"/>
                    <a:cs typeface="Cambria"/>
                  </a:rPr>
                  <a:t>⟨</a:t>
                </a:r>
                <a:r>
                  <a:rPr sz="2100" i="1" spc="-10" err="1">
                    <a:latin typeface="Times New Roman"/>
                    <a:cs typeface="Times New Roman"/>
                  </a:rPr>
                  <a:t>l</a:t>
                </a:r>
                <a:r>
                  <a:rPr sz="2100" spc="175">
                    <a:latin typeface="Cambria"/>
                    <a:cs typeface="Cambria"/>
                  </a:rPr>
                  <a:t>, </a:t>
                </a:r>
                <a:r>
                  <a:rPr sz="2100" i="1" spc="-10" err="1">
                    <a:latin typeface="Times New Roman"/>
                    <a:cs typeface="Times New Roman"/>
                  </a:rPr>
                  <a:t>r</a:t>
                </a:r>
                <a:r>
                  <a:rPr sz="2100" spc="175">
                    <a:latin typeface="Cambria"/>
                    <a:cs typeface="Cambria"/>
                  </a:rPr>
                  <a:t>⟩</a:t>
                </a:r>
                <a:r>
                  <a:rPr sz="1750" spc="-10">
                    <a:latin typeface="Arial"/>
                    <a:cs typeface="Arial"/>
                  </a:rPr>
                  <a:t> that maximizes this score</a:t>
                </a:r>
                <a:endParaRPr sz="1750">
                  <a:latin typeface="Arial"/>
                  <a:cs typeface="Arial"/>
                </a:endParaRPr>
              </a:p>
              <a:p>
                <a:pPr marL="528320" marR="5080" lvl="1" indent="-221615">
                  <a:lnSpc>
                    <a:spcPct val="89300"/>
                  </a:lnSpc>
                  <a:spcBef>
                    <a:spcPts val="1845"/>
                  </a:spcBef>
                  <a:buSzPct val="122857"/>
                  <a:buChar char="-"/>
                  <a:tabLst>
                    <a:tab pos="528320" algn="l"/>
                  </a:tabLst>
                </a:pPr>
                <a:r>
                  <a:rPr sz="1750" spc="-10">
                    <a:latin typeface="Arial"/>
                    <a:cs typeface="Arial"/>
                  </a:rPr>
                  <a:t>Add the pair to the vocabulary as a new token </a:t>
                </a:r>
                <a:r>
                  <a:rPr sz="2100" spc="175">
                    <a:latin typeface="Cambria"/>
                    <a:cs typeface="Cambria"/>
                  </a:rPr>
                  <a:t>𝒱 ← 𝒱 ∪ {</a:t>
                </a:r>
                <a:r>
                  <a:rPr sz="2100" i="1" spc="-10" err="1">
                    <a:latin typeface="Times New Roman"/>
                    <a:cs typeface="Times New Roman"/>
                  </a:rPr>
                  <a:t>lr</a:t>
                </a:r>
                <a:r>
                  <a:rPr sz="2100" spc="175">
                    <a:latin typeface="Cambria"/>
                    <a:cs typeface="Cambria"/>
                  </a:rPr>
                  <a:t>}</a:t>
                </a:r>
                <a:endParaRPr sz="1750">
                  <a:latin typeface="Arial"/>
                  <a:cs typeface="Arial"/>
                </a:endParaRPr>
              </a:p>
              <a:p>
                <a:pPr marL="233679" indent="-220979">
                  <a:lnSpc>
                    <a:spcPct val="100000"/>
                  </a:lnSpc>
                  <a:spcBef>
                    <a:spcPts val="1565"/>
                  </a:spcBef>
                  <a:buSzPct val="122857"/>
                  <a:buChar char="•"/>
                  <a:tabLst>
                    <a:tab pos="233679" algn="l"/>
                  </a:tabLst>
                </a:pPr>
                <a:r>
                  <a:rPr sz="1750" spc="-10">
                    <a:latin typeface="Arial"/>
                    <a:cs typeface="Arial"/>
                  </a:rPr>
                  <a:t>Return </a:t>
                </a:r>
                <a:r>
                  <a:rPr sz="2100" spc="175">
                    <a:latin typeface="Cambria"/>
                    <a:cs typeface="Cambria"/>
                  </a:rPr>
                  <a:t>𝒱</a:t>
                </a:r>
                <a:endParaRPr sz="2100">
                  <a:latin typeface="Arial"/>
                  <a:cs typeface="Arial"/>
                </a:endParaRPr>
              </a:p>
            </p:txBody>
          </p:sp>
        </mc:Choice>
        <mc:Fallback>
          <p:sp>
            <p:nvSpPr>
              <p:cNvPr id="2" name="object 2"/>
              <p:cNvSpPr txBox="1">
                <a:spLocks noRot="1" noChangeAspect="1" noMove="1" noResize="1" noEditPoints="1" noAdjustHandles="1" noChangeArrowheads="1" noChangeShapeType="1" noTextEdit="1"/>
              </p:cNvSpPr>
              <p:nvPr/>
            </p:nvSpPr>
            <p:spPr>
              <a:xfrm>
                <a:off x="501592" y="2427624"/>
                <a:ext cx="4409440" cy="4916282"/>
              </a:xfrm>
              <a:prstGeom prst="rect">
                <a:avLst/>
              </a:prstGeom>
              <a:blipFill>
                <a:blip r:embed="rId2"/>
                <a:stretch>
                  <a:fillRect l="-3315" t="-1487" r="-3867" b="-743"/>
                </a:stretch>
              </a:blipFill>
            </p:spPr>
            <p:txBody>
              <a:bodyPr/>
              <a:lstStyle/>
              <a:p>
                <a:r>
                  <a:rPr lang="en-US">
                    <a:noFill/>
                  </a:rPr>
                  <a:t> </a:t>
                </a:r>
              </a:p>
            </p:txBody>
          </p:sp>
        </mc:Fallback>
      </mc:AlternateContent>
      <p:graphicFrame>
        <p:nvGraphicFramePr>
          <p:cNvPr id="10" name="object 10"/>
          <p:cNvGraphicFramePr>
            <a:graphicFrameLocks noGrp="1"/>
          </p:cNvGraphicFramePr>
          <p:nvPr>
            <p:extLst>
              <p:ext uri="{D42A27DB-BD31-4B8C-83A1-F6EECF244321}">
                <p14:modId xmlns:p14="http://schemas.microsoft.com/office/powerpoint/2010/main" val="2046511620"/>
              </p:ext>
            </p:extLst>
          </p:nvPr>
        </p:nvGraphicFramePr>
        <p:xfrm>
          <a:off x="5556706" y="2145648"/>
          <a:ext cx="3100000" cy="1860000"/>
        </p:xfrm>
        <a:graphic>
          <a:graphicData uri="http://schemas.openxmlformats.org/drawingml/2006/table">
            <a:tbl>
              <a:tblPr firstRow="1" bandRow="1">
                <a:tableStyleId>{2D5ABB26-0587-4C30-8999-92F81FD0307C}</a:tableStyleId>
              </a:tblPr>
              <a:tblGrid>
                <a:gridCol w="1500000">
                  <a:extLst>
                    <a:ext uri="{9D8B030D-6E8A-4147-A177-3AD203B41FA5}">
                      <a16:colId xmlns:a16="http://schemas.microsoft.com/office/drawing/2014/main" val="20000"/>
                    </a:ext>
                  </a:extLst>
                </a:gridCol>
                <a:gridCol w="1600000">
                  <a:extLst>
                    <a:ext uri="{9D8B030D-6E8A-4147-A177-3AD203B41FA5}">
                      <a16:colId xmlns:a16="http://schemas.microsoft.com/office/drawing/2014/main" val="20001"/>
                    </a:ext>
                  </a:extLst>
                </a:gridCol>
              </a:tblGrid>
              <a:tr h="310000">
                <a:tc>
                  <a:txBody>
                    <a:bodyPr/>
                    <a:lstStyle/>
                    <a:p>
                      <a:pPr marL="52069" algn="ctr">
                        <a:lnSpc>
                          <a:spcPct val="100000"/>
                        </a:lnSpc>
                        <a:spcBef>
                          <a:spcPts val="365"/>
                        </a:spcBef>
                      </a:pPr>
                      <a:r>
                        <a:rPr sz="1500" b="1" spc="-10">
                          <a:latin typeface="Arial"/>
                          <a:cs typeface="Arial"/>
                        </a:rPr>
                        <a:t>Word</a:t>
                      </a:r>
                    </a:p>
                  </a:txBody>
                  <a:tcPr marL="0" marR="0" marT="50165" marB="0">
                    <a:lnB w="12700">
                      <a:solidFill>
                        <a:srgbClr val="536773"/>
                      </a:solidFill>
                      <a:prstDash val="solid"/>
                    </a:lnB>
                    <a:solidFill>
                      <a:srgbClr val="56C1FF"/>
                    </a:solidFill>
                  </a:tcPr>
                </a:tc>
                <a:tc>
                  <a:txBody>
                    <a:bodyPr/>
                    <a:lstStyle/>
                    <a:p>
                      <a:pPr marL="52069" algn="ctr">
                        <a:lnSpc>
                          <a:spcPct val="100000"/>
                        </a:lnSpc>
                        <a:spcBef>
                          <a:spcPts val="365"/>
                        </a:spcBef>
                      </a:pPr>
                      <a:r>
                        <a:rPr sz="1500" b="1" spc="-10">
                          <a:latin typeface="Arial"/>
                          <a:cs typeface="Arial"/>
                        </a:rPr>
                        <a:t>Frequency</a:t>
                      </a:r>
                    </a:p>
                  </a:txBody>
                  <a:tcPr marL="0" marR="0" marT="50165" marB="0">
                    <a:lnB w="12700">
                      <a:solidFill>
                        <a:srgbClr val="536773"/>
                      </a:solidFill>
                      <a:prstDash val="solid"/>
                    </a:lnB>
                    <a:solidFill>
                      <a:srgbClr val="56C1FF"/>
                    </a:solidFill>
                  </a:tcPr>
                </a:tc>
                <a:extLst>
                  <a:ext uri="{0D108BD9-81ED-4DB2-BD59-A6C34878D82A}">
                    <a16:rowId xmlns:a16="http://schemas.microsoft.com/office/drawing/2014/main" val="10000"/>
                  </a:ext>
                </a:extLst>
              </a:tr>
              <a:tr h="310000">
                <a:tc>
                  <a:txBody>
                    <a:bodyPr/>
                    <a:lstStyle/>
                    <a:p>
                      <a:pPr marL="52069" algn="ctr">
                        <a:lnSpc>
                          <a:spcPct val="100000"/>
                        </a:lnSpc>
                        <a:spcBef>
                          <a:spcPts val="365"/>
                        </a:spcBef>
                      </a:pPr>
                      <a:r>
                        <a:rPr sz="1500" spc="-10">
                          <a:latin typeface="Arial"/>
                          <a:cs typeface="Arial"/>
                        </a:rPr>
                        <a:t>hug</a:t>
                      </a:r>
                    </a:p>
                  </a:txBody>
                  <a:tcPr marL="0" marR="0" marT="46355" marB="0">
                    <a:lnT w="12700">
                      <a:solidFill>
                        <a:srgbClr val="536773"/>
                      </a:solidFill>
                      <a:prstDash val="solid"/>
                    </a:lnT>
                  </a:tcPr>
                </a:tc>
                <a:tc>
                  <a:txBody>
                    <a:bodyPr/>
                    <a:lstStyle/>
                    <a:p>
                      <a:pPr marL="52069" algn="ctr">
                        <a:lnSpc>
                          <a:spcPct val="100000"/>
                        </a:lnSpc>
                        <a:spcBef>
                          <a:spcPts val="365"/>
                        </a:spcBef>
                      </a:pPr>
                      <a:r>
                        <a:rPr sz="1500" spc="-10">
                          <a:latin typeface="Arial"/>
                          <a:cs typeface="Arial"/>
                        </a:rPr>
                        <a:t>10</a:t>
                      </a:r>
                    </a:p>
                  </a:txBody>
                  <a:tcPr marL="0" marR="0" marT="46355" marB="0">
                    <a:lnT w="12700">
                      <a:solidFill>
                        <a:srgbClr val="536773"/>
                      </a:solidFill>
                      <a:prstDash val="solid"/>
                    </a:lnT>
                  </a:tcPr>
                </a:tc>
                <a:extLst>
                  <a:ext uri="{0D108BD9-81ED-4DB2-BD59-A6C34878D82A}">
                    <a16:rowId xmlns:a16="http://schemas.microsoft.com/office/drawing/2014/main" val="10001"/>
                  </a:ext>
                </a:extLst>
              </a:tr>
              <a:tr h="310000">
                <a:tc>
                  <a:txBody>
                    <a:bodyPr/>
                    <a:lstStyle/>
                    <a:p>
                      <a:pPr marL="52069" algn="ctr">
                        <a:lnSpc>
                          <a:spcPct val="100000"/>
                        </a:lnSpc>
                        <a:spcBef>
                          <a:spcPts val="365"/>
                        </a:spcBef>
                      </a:pPr>
                      <a:r>
                        <a:rPr sz="1500" spc="-10">
                          <a:latin typeface="Arial"/>
                          <a:cs typeface="Arial"/>
                        </a:rPr>
                        <a:t>pug</a:t>
                      </a:r>
                    </a:p>
                  </a:txBody>
                  <a:tcPr marL="0" marR="0" marT="46355" marB="0"/>
                </a:tc>
                <a:tc>
                  <a:txBody>
                    <a:bodyPr/>
                    <a:lstStyle/>
                    <a:p>
                      <a:pPr marL="52069" algn="ctr">
                        <a:lnSpc>
                          <a:spcPct val="100000"/>
                        </a:lnSpc>
                        <a:spcBef>
                          <a:spcPts val="365"/>
                        </a:spcBef>
                      </a:pPr>
                      <a:r>
                        <a:rPr sz="1500" spc="-10">
                          <a:latin typeface="Arial"/>
                          <a:cs typeface="Arial"/>
                        </a:rPr>
                        <a:t>5</a:t>
                      </a:r>
                    </a:p>
                  </a:txBody>
                  <a:tcPr marL="0" marR="0" marT="46355" marB="0"/>
                </a:tc>
                <a:extLst>
                  <a:ext uri="{0D108BD9-81ED-4DB2-BD59-A6C34878D82A}">
                    <a16:rowId xmlns:a16="http://schemas.microsoft.com/office/drawing/2014/main" val="10002"/>
                  </a:ext>
                </a:extLst>
              </a:tr>
              <a:tr h="310000">
                <a:tc>
                  <a:txBody>
                    <a:bodyPr/>
                    <a:lstStyle/>
                    <a:p>
                      <a:pPr marL="52069" algn="ctr">
                        <a:lnSpc>
                          <a:spcPct val="100000"/>
                        </a:lnSpc>
                        <a:spcBef>
                          <a:spcPts val="365"/>
                        </a:spcBef>
                      </a:pPr>
                      <a:r>
                        <a:rPr sz="1500" spc="-10">
                          <a:latin typeface="Arial"/>
                          <a:cs typeface="Arial"/>
                        </a:rPr>
                        <a:t>pun</a:t>
                      </a:r>
                    </a:p>
                  </a:txBody>
                  <a:tcPr marL="0" marR="0" marT="46355" marB="0"/>
                </a:tc>
                <a:tc>
                  <a:txBody>
                    <a:bodyPr/>
                    <a:lstStyle/>
                    <a:p>
                      <a:pPr marL="52069" algn="ctr">
                        <a:lnSpc>
                          <a:spcPct val="100000"/>
                        </a:lnSpc>
                        <a:spcBef>
                          <a:spcPts val="365"/>
                        </a:spcBef>
                      </a:pPr>
                      <a:r>
                        <a:rPr sz="1500" spc="-10">
                          <a:latin typeface="Arial"/>
                          <a:cs typeface="Arial"/>
                        </a:rPr>
                        <a:t>12</a:t>
                      </a:r>
                    </a:p>
                  </a:txBody>
                  <a:tcPr marL="0" marR="0" marT="46355" marB="0"/>
                </a:tc>
                <a:extLst>
                  <a:ext uri="{0D108BD9-81ED-4DB2-BD59-A6C34878D82A}">
                    <a16:rowId xmlns:a16="http://schemas.microsoft.com/office/drawing/2014/main" val="10003"/>
                  </a:ext>
                </a:extLst>
              </a:tr>
              <a:tr h="310000">
                <a:tc>
                  <a:txBody>
                    <a:bodyPr/>
                    <a:lstStyle/>
                    <a:p>
                      <a:pPr marL="52069" algn="ctr">
                        <a:lnSpc>
                          <a:spcPct val="100000"/>
                        </a:lnSpc>
                        <a:spcBef>
                          <a:spcPts val="365"/>
                        </a:spcBef>
                      </a:pPr>
                      <a:r>
                        <a:rPr sz="1500" spc="-10">
                          <a:latin typeface="Arial"/>
                          <a:cs typeface="Arial"/>
                        </a:rPr>
                        <a:t>bun</a:t>
                      </a:r>
                    </a:p>
                  </a:txBody>
                  <a:tcPr marL="0" marR="0" marT="46355" marB="0"/>
                </a:tc>
                <a:tc>
                  <a:txBody>
                    <a:bodyPr/>
                    <a:lstStyle/>
                    <a:p>
                      <a:pPr marL="52069" algn="ctr">
                        <a:lnSpc>
                          <a:spcPct val="100000"/>
                        </a:lnSpc>
                        <a:spcBef>
                          <a:spcPts val="365"/>
                        </a:spcBef>
                      </a:pPr>
                      <a:r>
                        <a:rPr sz="1500" spc="-10">
                          <a:latin typeface="Arial"/>
                          <a:cs typeface="Arial"/>
                        </a:rPr>
                        <a:t>4</a:t>
                      </a:r>
                    </a:p>
                  </a:txBody>
                  <a:tcPr marL="0" marR="0" marT="46355" marB="0"/>
                </a:tc>
                <a:extLst>
                  <a:ext uri="{0D108BD9-81ED-4DB2-BD59-A6C34878D82A}">
                    <a16:rowId xmlns:a16="http://schemas.microsoft.com/office/drawing/2014/main" val="10004"/>
                  </a:ext>
                </a:extLst>
              </a:tr>
              <a:tr h="310000">
                <a:tc>
                  <a:txBody>
                    <a:bodyPr/>
                    <a:lstStyle/>
                    <a:p>
                      <a:pPr marL="52069" algn="ctr">
                        <a:lnSpc>
                          <a:spcPct val="100000"/>
                        </a:lnSpc>
                        <a:spcBef>
                          <a:spcPts val="365"/>
                        </a:spcBef>
                      </a:pPr>
                      <a:r>
                        <a:rPr sz="1500" spc="-10">
                          <a:latin typeface="Arial"/>
                          <a:cs typeface="Arial"/>
                        </a:rPr>
                        <a:t>hugs</a:t>
                      </a:r>
                    </a:p>
                  </a:txBody>
                  <a:tcPr marL="0" marR="0" marT="46355" marB="0"/>
                </a:tc>
                <a:tc>
                  <a:txBody>
                    <a:bodyPr/>
                    <a:lstStyle/>
                    <a:p>
                      <a:pPr marL="52069" algn="ctr">
                        <a:lnSpc>
                          <a:spcPct val="100000"/>
                        </a:lnSpc>
                        <a:spcBef>
                          <a:spcPts val="365"/>
                        </a:spcBef>
                      </a:pPr>
                      <a:r>
                        <a:rPr sz="1500" spc="-10">
                          <a:latin typeface="Arial"/>
                          <a:cs typeface="Arial"/>
                        </a:rPr>
                        <a:t>5</a:t>
                      </a:r>
                    </a:p>
                  </a:txBody>
                  <a:tcPr marL="0" marR="0" marT="46355" marB="0"/>
                </a:tc>
                <a:extLst>
                  <a:ext uri="{0D108BD9-81ED-4DB2-BD59-A6C34878D82A}">
                    <a16:rowId xmlns:a16="http://schemas.microsoft.com/office/drawing/2014/main" val="10005"/>
                  </a:ext>
                </a:extLst>
              </a:tr>
            </a:tbl>
          </a:graphicData>
        </a:graphic>
      </p:graphicFrame>
      <p:sp>
        <p:nvSpPr>
          <p:cNvPr id="13" name="object 13"/>
          <p:cNvSpPr txBox="1"/>
          <p:nvPr/>
        </p:nvSpPr>
        <p:spPr>
          <a:xfrm>
            <a:off x="5556706" y="5382590"/>
            <a:ext cx="4700000" cy="305212"/>
          </a:xfrm>
          <a:prstGeom prst="rect">
            <a:avLst/>
          </a:prstGeom>
        </p:spPr>
        <p:txBody>
          <a:bodyPr vert="horz" wrap="square" lIns="0" tIns="39370" rIns="0" bIns="0" rtlCol="0" anchor="t">
            <a:spAutoFit/>
          </a:bodyPr>
          <a:lstStyle/>
          <a:p>
            <a:pPr marL="12700">
              <a:lnSpc>
                <a:spcPct val="110000"/>
              </a:lnSpc>
              <a:spcBef>
                <a:spcPts val="55"/>
              </a:spcBef>
            </a:pPr>
            <a:r>
              <a:rPr sz="1700" spc="-10">
                <a:latin typeface="Arial"/>
                <a:cs typeface="Arial"/>
              </a:rPr>
              <a:t>𝒱 = {b, h, p, ##g, ##n, ##s, ##u}</a:t>
            </a:r>
            <a:endParaRPr sz="1700" spc="-10">
              <a:solidFill>
                <a:srgbClr val="000000"/>
              </a:solidFill>
              <a:latin typeface="Arial"/>
              <a:cs typeface="Arial"/>
            </a:endParaRPr>
          </a:p>
        </p:txBody>
      </p:sp>
      <p:sp>
        <p:nvSpPr>
          <p:cNvPr id="14" name="object 14"/>
          <p:cNvSpPr txBox="1"/>
          <p:nvPr/>
        </p:nvSpPr>
        <p:spPr>
          <a:xfrm>
            <a:off x="5922582" y="5995269"/>
            <a:ext cx="2558153" cy="501419"/>
          </a:xfrm>
          <a:prstGeom prst="rect">
            <a:avLst/>
          </a:prstGeom>
        </p:spPr>
        <p:txBody>
          <a:bodyPr vert="horz" wrap="square" lIns="0" tIns="39370" rIns="0" bIns="0" rtlCol="0" anchor="t">
            <a:spAutoFit/>
          </a:bodyPr>
          <a:lstStyle/>
          <a:p>
            <a:pPr marL="12700">
              <a:lnSpc>
                <a:spcPct val="100000"/>
              </a:lnSpc>
              <a:spcBef>
                <a:spcPts val="55"/>
              </a:spcBef>
            </a:pPr>
            <a:r>
              <a:rPr sz="1500" spc="-10">
                <a:latin typeface="Arial"/>
                <a:cs typeface="Arial"/>
              </a:rPr>
              <a:t>Note: ## marks non-initial </a:t>
            </a:r>
            <a:r>
              <a:rPr sz="1500" spc="-10" err="1">
                <a:latin typeface="Arial"/>
                <a:cs typeface="Arial"/>
              </a:rPr>
              <a:t>subword</a:t>
            </a:r>
            <a:r>
              <a:rPr sz="1500" spc="-10">
                <a:latin typeface="Arial"/>
                <a:cs typeface="Arial"/>
              </a:rPr>
              <a:t> tokens</a:t>
            </a:r>
          </a:p>
        </p:txBody>
      </p:sp>
      <p:sp>
        <p:nvSpPr>
          <p:cNvPr id="7" name="object 7">
            <a:extLst>
              <a:ext uri="{FF2B5EF4-FFF2-40B4-BE49-F238E27FC236}">
                <a16:creationId xmlns:a16="http://schemas.microsoft.com/office/drawing/2014/main" id="{4649CA88-BE8C-EA94-5E98-015B2C8AF4A6}"/>
              </a:ext>
            </a:extLst>
          </p:cNvPr>
          <p:cNvSpPr/>
          <p:nvPr/>
        </p:nvSpPr>
        <p:spPr>
          <a:xfrm>
            <a:off x="6729444" y="4305721"/>
            <a:ext cx="746760" cy="786130"/>
          </a:xfrm>
          <a:custGeom>
            <a:avLst/>
            <a:gdLst/>
            <a:ahLst/>
            <a:cxnLst/>
            <a:rect l="l" t="t" r="r" b="b"/>
            <a:pathLst>
              <a:path w="746759" h="786129">
                <a:moveTo>
                  <a:pt x="492772" y="0"/>
                </a:moveTo>
                <a:lnTo>
                  <a:pt x="253852" y="0"/>
                </a:lnTo>
                <a:lnTo>
                  <a:pt x="253852" y="282892"/>
                </a:lnTo>
                <a:lnTo>
                  <a:pt x="0" y="282892"/>
                </a:lnTo>
                <a:lnTo>
                  <a:pt x="373312" y="785812"/>
                </a:lnTo>
                <a:lnTo>
                  <a:pt x="746626" y="282892"/>
                </a:lnTo>
                <a:lnTo>
                  <a:pt x="492772" y="282892"/>
                </a:lnTo>
                <a:lnTo>
                  <a:pt x="492772" y="0"/>
                </a:lnTo>
                <a:close/>
              </a:path>
            </a:pathLst>
          </a:custGeom>
          <a:solidFill>
            <a:srgbClr val="000000"/>
          </a:solidFill>
        </p:spPr>
        <p:txBody>
          <a:bodyPr wrap="square" lIns="0" tIns="0" rIns="0" bIns="0" rtlCol="0"/>
          <a:lstStyle/>
          <a:p>
            <a:endParaRPr/>
          </a:p>
        </p:txBody>
      </p:sp>
    </p:spTree>
    <p:extLst>
      <p:ext uri="{BB962C8B-B14F-4D97-AF65-F5344CB8AC3E}">
        <p14:creationId xmlns:p14="http://schemas.microsoft.com/office/powerpoint/2010/main" val="220985435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txBox="1">
            <a:spLocks noGrp="1"/>
          </p:cNvSpPr>
          <p:nvPr>
            <p:ph type="sldNum" sz="quarter" idx="7"/>
          </p:nvPr>
        </p:nvSpPr>
        <p:spPr>
          <a:prstGeom prst="rect">
            <a:avLst/>
          </a:prstGeom>
        </p:spPr>
        <p:txBody>
          <a:bodyPr vert="horz" wrap="square" lIns="0" tIns="6985" rIns="0" bIns="0" rtlCol="0">
            <a:spAutoFit/>
          </a:bodyPr>
          <a:lstStyle/>
          <a:p>
            <a:pPr marL="38100">
              <a:lnSpc>
                <a:spcPct val="100000"/>
              </a:lnSpc>
              <a:spcBef>
                <a:spcPts val="55"/>
              </a:spcBef>
            </a:pPr>
            <a:fld id="{81D60167-4931-47E6-BA6A-407CBD079E47}" type="slidenum">
              <a:rPr spc="-25" dirty="0"/>
              <a:t>27</a:t>
            </a:fld>
            <a:endParaRPr spc="-25"/>
          </a:p>
        </p:txBody>
      </p:sp>
      <p:sp>
        <p:nvSpPr>
          <p:cNvPr id="5" name="object 5"/>
          <p:cNvSpPr txBox="1"/>
          <p:nvPr/>
        </p:nvSpPr>
        <p:spPr>
          <a:xfrm>
            <a:off x="5562139" y="7457345"/>
            <a:ext cx="4424680" cy="174625"/>
          </a:xfrm>
          <a:prstGeom prst="rect">
            <a:avLst/>
          </a:prstGeom>
        </p:spPr>
        <p:txBody>
          <a:bodyPr vert="horz" wrap="square" lIns="0" tIns="6985" rIns="0" bIns="0" rtlCol="0">
            <a:spAutoFit/>
          </a:bodyPr>
          <a:lstStyle/>
          <a:p>
            <a:pPr marL="12700">
              <a:lnSpc>
                <a:spcPct val="100000"/>
              </a:lnSpc>
              <a:spcBef>
                <a:spcPts val="55"/>
              </a:spcBef>
            </a:pPr>
            <a:r>
              <a:rPr sz="1000">
                <a:latin typeface="Arial"/>
                <a:cs typeface="Arial"/>
              </a:rPr>
              <a:t>Example from: </a:t>
            </a:r>
            <a:r>
              <a:rPr sz="1000" u="sng" spc="-10">
                <a:uFill>
                  <a:solidFill>
                    <a:srgbClr val="000000"/>
                  </a:solidFill>
                </a:uFill>
                <a:latin typeface="Arial"/>
                <a:cs typeface="Arial"/>
              </a:rPr>
              <a:t>https://huggingface.co/docs/transformers/tokenizer_summary</a:t>
            </a:r>
          </a:p>
        </p:txBody>
      </p:sp>
      <p:sp>
        <p:nvSpPr>
          <p:cNvPr id="3" name="object 3" descr="$PPTXTitle"/>
          <p:cNvSpPr txBox="1">
            <a:spLocks noGrp="1"/>
          </p:cNvSpPr>
          <p:nvPr>
            <p:ph type="title"/>
          </p:nvPr>
        </p:nvSpPr>
        <p:spPr>
          <a:xfrm>
            <a:off x="566836" y="395062"/>
            <a:ext cx="8842375" cy="797216"/>
          </a:xfrm>
          <a:prstGeom prst="rect">
            <a:avLst/>
          </a:prstGeom>
        </p:spPr>
        <p:txBody>
          <a:bodyPr vert="horz" wrap="square" lIns="0" tIns="88466" rIns="0" bIns="0" rtlCol="0" anchor="t">
            <a:spAutoFit/>
          </a:bodyPr>
          <a:lstStyle/>
          <a:p>
            <a:pPr marL="12700">
              <a:lnSpc>
                <a:spcPct val="100000"/>
              </a:lnSpc>
              <a:spcBef>
                <a:spcPts val="95"/>
              </a:spcBef>
            </a:pPr>
            <a:r>
              <a:rPr lang="en-US" spc="-125" err="1"/>
              <a:t>Wordpiece</a:t>
            </a:r>
          </a:p>
        </p:txBody>
      </p:sp>
      <p:sp>
        <p:nvSpPr>
          <p:cNvPr id="99" name="yellow_highlight_99"/>
          <p:cNvSpPr txBox="1"/>
          <p:nvPr/>
        </p:nvSpPr>
        <p:spPr>
          <a:xfrm>
            <a:off x="0" y="3671970"/>
            <a:ext cx="5142230" cy="676275"/>
          </a:xfrm>
          <a:prstGeom prst="rect">
            <a:avLst/>
          </a:prstGeom>
          <a:solidFill>
            <a:srgbClr val="FFD932">
              <a:alpha val="42759"/>
            </a:srgbClr>
          </a:solidFill>
        </p:spPr>
        <p:txBody>
          <a:bodyPr vert="horz" wrap="square" lIns="0" tIns="0" rIns="0" bIns="0" rtlCol="0">
            <a:spAutoFit/>
          </a:bodyPr>
          <a:lstStyle/>
          <a:p>
            <a:endParaRPr/>
          </a:p>
        </p:txBody>
      </p:sp>
      <mc:AlternateContent xmlns:mc="http://schemas.openxmlformats.org/markup-compatibility/2006">
        <mc:Choice xmlns:a14="http://schemas.microsoft.com/office/drawing/2010/main" Requires="a14">
          <p:sp>
            <p:nvSpPr>
              <p:cNvPr id="2" name="object 2"/>
              <p:cNvSpPr txBox="1"/>
              <p:nvPr/>
            </p:nvSpPr>
            <p:spPr>
              <a:xfrm>
                <a:off x="566836" y="2416754"/>
                <a:ext cx="4409440" cy="4916282"/>
              </a:xfrm>
              <a:prstGeom prst="rect">
                <a:avLst/>
              </a:prstGeom>
            </p:spPr>
            <p:txBody>
              <a:bodyPr vert="horz" wrap="square" lIns="0" tIns="39370" rIns="0" bIns="0" rtlCol="0" anchor="t">
                <a:spAutoFit/>
              </a:bodyPr>
              <a:lstStyle/>
              <a:p>
                <a:pPr marL="233679" marR="276860" indent="-221615">
                  <a:lnSpc>
                    <a:spcPct val="91700"/>
                  </a:lnSpc>
                  <a:spcBef>
                    <a:spcPts val="310"/>
                  </a:spcBef>
                  <a:buSzPct val="102380"/>
                  <a:buFont typeface="Arial"/>
                  <a:buChar char="•"/>
                  <a:tabLst>
                    <a:tab pos="233679" algn="l"/>
                  </a:tabLst>
                </a:pPr>
                <a:r>
                  <a:rPr sz="2100" spc="175">
                    <a:latin typeface="Cambria"/>
                    <a:cs typeface="Cambria"/>
                  </a:rPr>
                  <a:t>𝒱 ← </a:t>
                </a:r>
                <a:r>
                  <a:rPr sz="1750" spc="-10">
                    <a:latin typeface="Arial"/>
                    <a:cs typeface="Arial"/>
                  </a:rPr>
                  <a:t>All characters in the training data (as </a:t>
                </a:r>
                <a:r>
                  <a:rPr sz="1750" b="1" spc="-10">
                    <a:latin typeface="Arial"/>
                    <a:cs typeface="Arial"/>
                  </a:rPr>
                  <a:t>tokens</a:t>
                </a:r>
                <a:r>
                  <a:rPr sz="1750" spc="-10">
                    <a:latin typeface="Arial"/>
                    <a:cs typeface="Arial"/>
                  </a:rPr>
                  <a:t>)</a:t>
                </a:r>
                <a:endParaRPr sz="1750">
                  <a:latin typeface="Arial"/>
                  <a:cs typeface="Arial"/>
                </a:endParaRPr>
              </a:p>
              <a:p>
                <a:pPr marL="233679" marR="276860" indent="-221615">
                  <a:lnSpc>
                    <a:spcPct val="91700"/>
                  </a:lnSpc>
                  <a:spcBef>
                    <a:spcPts val="1295"/>
                  </a:spcBef>
                  <a:buSzPct val="102380"/>
                  <a:buFont typeface="Arial"/>
                  <a:buChar char="•"/>
                  <a:tabLst>
                    <a:tab pos="233679" algn="l"/>
                  </a:tabLst>
                </a:pPr>
                <a:r>
                  <a:rPr sz="1750" spc="-10">
                    <a:latin typeface="Arial"/>
                    <a:cs typeface="Arial"/>
                  </a:rPr>
                  <a:t>For </a:t>
                </a:r>
                <a:r>
                  <a:rPr sz="2100" i="1" spc="-10" err="1">
                    <a:latin typeface="Times New Roman"/>
                    <a:cs typeface="Times New Roman"/>
                  </a:rPr>
                  <a:t>k</a:t>
                </a:r>
                <a:r>
                  <a:rPr sz="1750" spc="-10">
                    <a:latin typeface="Arial"/>
                    <a:cs typeface="Arial"/>
                  </a:rPr>
                  <a:t> steps:</a:t>
                </a:r>
                <a:endParaRPr sz="1750">
                  <a:latin typeface="Arial"/>
                  <a:cs typeface="Arial"/>
                </a:endParaRPr>
              </a:p>
              <a:p>
                <a:pPr marL="528320" marR="5080" lvl="1" indent="-221615">
                  <a:lnSpc>
                    <a:spcPct val="89300"/>
                  </a:lnSpc>
                  <a:spcBef>
                    <a:spcPts val="1845"/>
                  </a:spcBef>
                  <a:buSzPct val="122857"/>
                  <a:buChar char="-"/>
                  <a:tabLst>
                    <a:tab pos="528320" algn="l"/>
                  </a:tabLst>
                </a:pPr>
                <a:r>
                  <a:rPr sz="1750" b="1" spc="-10">
                    <a:latin typeface="Arial"/>
                    <a:cs typeface="Arial"/>
                  </a:rPr>
                  <a:t>Identify all possible pairs </a:t>
                </a:r>
                <a:r>
                  <a:rPr sz="2100" spc="175">
                    <a:latin typeface="Cambria"/>
                    <a:cs typeface="Cambria"/>
                  </a:rPr>
                  <a:t>⟨</a:t>
                </a:r>
                <a:r>
                  <a:rPr sz="2100" i="1" spc="-10" err="1">
                    <a:latin typeface="Times New Roman"/>
                    <a:cs typeface="Times New Roman"/>
                  </a:rPr>
                  <a:t>l</a:t>
                </a:r>
                <a:r>
                  <a:rPr sz="2100" spc="175">
                    <a:latin typeface="Cambria"/>
                    <a:cs typeface="Cambria"/>
                  </a:rPr>
                  <a:t>, </a:t>
                </a:r>
                <a:r>
                  <a:rPr sz="2100" i="1" spc="-10" err="1">
                    <a:latin typeface="Times New Roman"/>
                    <a:cs typeface="Times New Roman"/>
                  </a:rPr>
                  <a:t>r</a:t>
                </a:r>
                <a:r>
                  <a:rPr sz="2100" spc="175">
                    <a:latin typeface="Cambria"/>
                    <a:cs typeface="Cambria"/>
                  </a:rPr>
                  <a:t>⟩</a:t>
                </a:r>
                <a:r>
                  <a:rPr sz="1750" b="1" spc="-10">
                    <a:latin typeface="Arial"/>
                    <a:cs typeface="Arial"/>
                  </a:rPr>
                  <a:t> from the current vocabulary</a:t>
                </a:r>
                <a:endParaRPr sz="1750">
                  <a:latin typeface="Arial"/>
                  <a:cs typeface="Arial"/>
                </a:endParaRPr>
              </a:p>
              <a:p>
                <a:pPr marL="528320" marR="5080" lvl="1" indent="-221615">
                  <a:lnSpc>
                    <a:spcPct val="89300"/>
                  </a:lnSpc>
                  <a:spcBef>
                    <a:spcPts val="1845"/>
                  </a:spcBef>
                  <a:buSzPct val="122857"/>
                  <a:buChar char="-"/>
                  <a:tabLst>
                    <a:tab pos="528320" algn="l"/>
                  </a:tabLst>
                </a:pPr>
                <a:r>
                  <a:rPr sz="1750" spc="-10">
                    <a:latin typeface="Arial"/>
                    <a:cs typeface="Arial"/>
                  </a:rPr>
                  <a:t>Calculate a </a:t>
                </a:r>
                <a:r>
                  <a:rPr sz="1750" b="1" spc="-10">
                    <a:latin typeface="Arial"/>
                    <a:cs typeface="Arial"/>
                  </a:rPr>
                  <a:t>Score</a:t>
                </a:r>
                <a:r>
                  <a:rPr sz="1750" spc="-10">
                    <a:latin typeface="Arial"/>
                    <a:cs typeface="Arial"/>
                  </a:rPr>
                  <a:t> for each pair:</a:t>
                </a:r>
                <a:endParaRPr sz="1750">
                  <a:latin typeface="Arial"/>
                  <a:cs typeface="Arial"/>
                </a:endParaRPr>
              </a:p>
              <a:p>
                <a:pPr marL="760350" marR="5080" lvl="1">
                  <a:lnSpc>
                    <a:spcPct val="89300"/>
                  </a:lnSpc>
                  <a:spcBef>
                    <a:spcPts val="310"/>
                  </a:spcBef>
                  <a:buNone/>
                </a:pPr>
                <a14:m>
                  <m:oMathPara xmlns:m="http://schemas.openxmlformats.org/officeDocument/2006/math">
                    <m:oMathParaPr>
                      <m:jc m:val="left"/>
                    </m:oMathParaPr>
                    <m:oMath xmlns:m="http://schemas.openxmlformats.org/officeDocument/2006/math">
                      <m:r>
                        <m:rPr>
                          <m:sty m:val="p"/>
                        </m:rPr>
                        <a:rPr>
                          <a:latin typeface="Cambria Math" panose="02040503050406030204" pitchFamily="18" charset="0"/>
                        </a:rPr>
                        <m:t>Score</m:t>
                      </m:r>
                      <m:r>
                        <a:rPr>
                          <a:latin typeface="Cambria Math" panose="02040503050406030204" pitchFamily="18" charset="0"/>
                        </a:rPr>
                        <m:t> = </m:t>
                      </m:r>
                      <m:f>
                        <m:fPr>
                          <m:ctrlPr>
                            <a:rPr i="1">
                              <a:latin typeface="Cambria Math" panose="02040503050406030204" pitchFamily="18" charset="0"/>
                            </a:rPr>
                          </m:ctrlPr>
                        </m:fPr>
                        <m:num>
                          <m:r>
                            <m:rPr>
                              <m:sty m:val="p"/>
                            </m:rPr>
                            <a:rPr>
                              <a:latin typeface="Cambria Math" panose="02040503050406030204" pitchFamily="18" charset="0"/>
                            </a:rPr>
                            <m:t>freq</m:t>
                          </m:r>
                          <m:r>
                            <a:rPr>
                              <a:latin typeface="Cambria Math" panose="02040503050406030204" pitchFamily="18" charset="0"/>
                            </a:rPr>
                            <m:t>(</m:t>
                          </m:r>
                          <m:r>
                            <a:rPr>
                              <a:latin typeface="Cambria Math" panose="02040503050406030204" pitchFamily="18" charset="0"/>
                            </a:rPr>
                            <m:t>𝑙</m:t>
                          </m:r>
                          <m:r>
                            <a:rPr>
                              <a:latin typeface="Cambria Math" panose="02040503050406030204" pitchFamily="18" charset="0"/>
                            </a:rPr>
                            <m:t>,</m:t>
                          </m:r>
                          <m:r>
                            <a:rPr>
                              <a:latin typeface="Cambria Math" panose="02040503050406030204" pitchFamily="18" charset="0"/>
                            </a:rPr>
                            <m:t>𝑟</m:t>
                          </m:r>
                          <m:r>
                            <a:rPr>
                              <a:latin typeface="Cambria Math" panose="02040503050406030204" pitchFamily="18" charset="0"/>
                            </a:rPr>
                            <m:t>)</m:t>
                          </m:r>
                        </m:num>
                        <m:den>
                          <m:r>
                            <m:rPr>
                              <m:sty m:val="p"/>
                            </m:rPr>
                            <a:rPr>
                              <a:latin typeface="Cambria Math" panose="02040503050406030204" pitchFamily="18" charset="0"/>
                            </a:rPr>
                            <m:t>freq</m:t>
                          </m:r>
                          <m:r>
                            <a:rPr>
                              <a:latin typeface="Cambria Math" panose="02040503050406030204" pitchFamily="18" charset="0"/>
                            </a:rPr>
                            <m:t>(</m:t>
                          </m:r>
                          <m:r>
                            <a:rPr>
                              <a:latin typeface="Cambria Math" panose="02040503050406030204" pitchFamily="18" charset="0"/>
                            </a:rPr>
                            <m:t>𝑙</m:t>
                          </m:r>
                          <m:r>
                            <a:rPr>
                              <a:latin typeface="Cambria Math" panose="02040503050406030204" pitchFamily="18" charset="0"/>
                            </a:rPr>
                            <m:t>) × </m:t>
                          </m:r>
                          <m:r>
                            <m:rPr>
                              <m:sty m:val="p"/>
                            </m:rPr>
                            <a:rPr>
                              <a:latin typeface="Cambria Math" panose="02040503050406030204" pitchFamily="18" charset="0"/>
                            </a:rPr>
                            <m:t>freq</m:t>
                          </m:r>
                          <m:r>
                            <a:rPr>
                              <a:latin typeface="Cambria Math" panose="02040503050406030204" pitchFamily="18" charset="0"/>
                            </a:rPr>
                            <m:t>(</m:t>
                          </m:r>
                          <m:r>
                            <a:rPr>
                              <a:latin typeface="Cambria Math" panose="02040503050406030204" pitchFamily="18" charset="0"/>
                            </a:rPr>
                            <m:t>𝑟</m:t>
                          </m:r>
                          <m:r>
                            <a:rPr>
                              <a:latin typeface="Cambria Math" panose="02040503050406030204" pitchFamily="18" charset="0"/>
                            </a:rPr>
                            <m:t>)</m:t>
                          </m:r>
                        </m:den>
                      </m:f>
                    </m:oMath>
                  </m:oMathPara>
                </a14:m>
                <a:endParaRPr sz="1750">
                  <a:latin typeface="Arial"/>
                  <a:cs typeface="Arial"/>
                </a:endParaRPr>
              </a:p>
              <a:p>
                <a:pPr marL="528320" marR="5080" lvl="1" indent="-221615">
                  <a:lnSpc>
                    <a:spcPct val="89300"/>
                  </a:lnSpc>
                  <a:spcBef>
                    <a:spcPts val="1845"/>
                  </a:spcBef>
                  <a:buSzPct val="122857"/>
                  <a:buChar char="-"/>
                  <a:tabLst>
                    <a:tab pos="528320" algn="l"/>
                  </a:tabLst>
                </a:pPr>
                <a:r>
                  <a:rPr sz="1750" spc="-10">
                    <a:latin typeface="Arial"/>
                    <a:cs typeface="Arial"/>
                  </a:rPr>
                  <a:t>Choose the pair </a:t>
                </a:r>
                <a:r>
                  <a:rPr sz="2100" spc="175">
                    <a:latin typeface="Cambria"/>
                    <a:cs typeface="Cambria"/>
                  </a:rPr>
                  <a:t>⟨</a:t>
                </a:r>
                <a:r>
                  <a:rPr sz="2100" i="1" spc="-10" err="1">
                    <a:latin typeface="Times New Roman"/>
                    <a:cs typeface="Times New Roman"/>
                  </a:rPr>
                  <a:t>l</a:t>
                </a:r>
                <a:r>
                  <a:rPr sz="2100" spc="175">
                    <a:latin typeface="Cambria"/>
                    <a:cs typeface="Cambria"/>
                  </a:rPr>
                  <a:t>, </a:t>
                </a:r>
                <a:r>
                  <a:rPr sz="2100" i="1" spc="-10" err="1">
                    <a:latin typeface="Times New Roman"/>
                    <a:cs typeface="Times New Roman"/>
                  </a:rPr>
                  <a:t>r</a:t>
                </a:r>
                <a:r>
                  <a:rPr sz="2100" spc="175">
                    <a:latin typeface="Cambria"/>
                    <a:cs typeface="Cambria"/>
                  </a:rPr>
                  <a:t>⟩</a:t>
                </a:r>
                <a:r>
                  <a:rPr sz="1750" spc="-10">
                    <a:latin typeface="Arial"/>
                    <a:cs typeface="Arial"/>
                  </a:rPr>
                  <a:t> that maximizes this score</a:t>
                </a:r>
                <a:endParaRPr sz="1750">
                  <a:latin typeface="Arial"/>
                  <a:cs typeface="Arial"/>
                </a:endParaRPr>
              </a:p>
              <a:p>
                <a:pPr marL="528320" marR="5080" lvl="1" indent="-221615">
                  <a:lnSpc>
                    <a:spcPct val="89300"/>
                  </a:lnSpc>
                  <a:spcBef>
                    <a:spcPts val="1845"/>
                  </a:spcBef>
                  <a:buSzPct val="122857"/>
                  <a:buChar char="-"/>
                  <a:tabLst>
                    <a:tab pos="528320" algn="l"/>
                  </a:tabLst>
                </a:pPr>
                <a:r>
                  <a:rPr sz="1750" spc="-10">
                    <a:latin typeface="Arial"/>
                    <a:cs typeface="Arial"/>
                  </a:rPr>
                  <a:t>Add the pair to the vocabulary as a new token </a:t>
                </a:r>
                <a:r>
                  <a:rPr sz="2100" spc="175">
                    <a:latin typeface="Cambria"/>
                    <a:cs typeface="Cambria"/>
                  </a:rPr>
                  <a:t>𝒱 ← 𝒱 ∪ {</a:t>
                </a:r>
                <a:r>
                  <a:rPr sz="2100" i="1" spc="-10" err="1">
                    <a:latin typeface="Times New Roman"/>
                    <a:cs typeface="Times New Roman"/>
                  </a:rPr>
                  <a:t>lr</a:t>
                </a:r>
                <a:r>
                  <a:rPr sz="2100" spc="175">
                    <a:latin typeface="Cambria"/>
                    <a:cs typeface="Cambria"/>
                  </a:rPr>
                  <a:t>}</a:t>
                </a:r>
                <a:endParaRPr sz="1750">
                  <a:latin typeface="Arial"/>
                  <a:cs typeface="Arial"/>
                </a:endParaRPr>
              </a:p>
              <a:p>
                <a:pPr marL="233679" indent="-220979">
                  <a:lnSpc>
                    <a:spcPct val="100000"/>
                  </a:lnSpc>
                  <a:spcBef>
                    <a:spcPts val="1565"/>
                  </a:spcBef>
                  <a:buSzPct val="122857"/>
                  <a:buChar char="•"/>
                  <a:tabLst>
                    <a:tab pos="233679" algn="l"/>
                  </a:tabLst>
                </a:pPr>
                <a:r>
                  <a:rPr sz="1750" spc="-10">
                    <a:latin typeface="Arial"/>
                    <a:cs typeface="Arial"/>
                  </a:rPr>
                  <a:t>Return </a:t>
                </a:r>
                <a:r>
                  <a:rPr sz="2100" spc="175">
                    <a:latin typeface="Cambria"/>
                    <a:cs typeface="Cambria"/>
                  </a:rPr>
                  <a:t>𝒱</a:t>
                </a:r>
                <a:endParaRPr sz="2100">
                  <a:latin typeface="Arial"/>
                  <a:cs typeface="Arial"/>
                </a:endParaRPr>
              </a:p>
            </p:txBody>
          </p:sp>
        </mc:Choice>
        <mc:Fallback>
          <p:sp>
            <p:nvSpPr>
              <p:cNvPr id="2" name="object 2"/>
              <p:cNvSpPr txBox="1">
                <a:spLocks noRot="1" noChangeAspect="1" noMove="1" noResize="1" noEditPoints="1" noAdjustHandles="1" noChangeArrowheads="1" noChangeShapeType="1" noTextEdit="1"/>
              </p:cNvSpPr>
              <p:nvPr/>
            </p:nvSpPr>
            <p:spPr>
              <a:xfrm>
                <a:off x="566836" y="2416754"/>
                <a:ext cx="4409440" cy="4916282"/>
              </a:xfrm>
              <a:prstGeom prst="rect">
                <a:avLst/>
              </a:prstGeom>
              <a:blipFill>
                <a:blip r:embed="rId2"/>
                <a:stretch>
                  <a:fillRect l="-3320" t="-1487" r="-4011" b="-743"/>
                </a:stretch>
              </a:blipFill>
            </p:spPr>
            <p:txBody>
              <a:bodyPr/>
              <a:lstStyle/>
              <a:p>
                <a:r>
                  <a:rPr lang="en-US">
                    <a:noFill/>
                  </a:rPr>
                  <a:t> </a:t>
                </a:r>
              </a:p>
            </p:txBody>
          </p:sp>
        </mc:Fallback>
      </mc:AlternateContent>
      <p:graphicFrame>
        <p:nvGraphicFramePr>
          <p:cNvPr id="10" name="object 10"/>
          <p:cNvGraphicFramePr>
            <a:graphicFrameLocks noGrp="1"/>
          </p:cNvGraphicFramePr>
          <p:nvPr/>
        </p:nvGraphicFramePr>
        <p:xfrm>
          <a:off x="5100000" y="2200000"/>
          <a:ext cx="4300000" cy="1860000"/>
        </p:xfrm>
        <a:graphic>
          <a:graphicData uri="http://schemas.openxmlformats.org/drawingml/2006/table">
            <a:tbl>
              <a:tblPr firstRow="1" bandRow="1">
                <a:tableStyleId>{2D5ABB26-0587-4C30-8999-92F81FD0307C}</a:tableStyleId>
              </a:tblPr>
              <a:tblGrid>
                <a:gridCol w="1500000">
                  <a:extLst>
                    <a:ext uri="{9D8B030D-6E8A-4147-A177-3AD203B41FA5}">
                      <a16:colId xmlns:a16="http://schemas.microsoft.com/office/drawing/2014/main" val="20000"/>
                    </a:ext>
                  </a:extLst>
                </a:gridCol>
                <a:gridCol w="2800000">
                  <a:extLst>
                    <a:ext uri="{9D8B030D-6E8A-4147-A177-3AD203B41FA5}">
                      <a16:colId xmlns:a16="http://schemas.microsoft.com/office/drawing/2014/main" val="20001"/>
                    </a:ext>
                  </a:extLst>
                </a:gridCol>
              </a:tblGrid>
              <a:tr h="310000">
                <a:tc>
                  <a:txBody>
                    <a:bodyPr/>
                    <a:lstStyle/>
                    <a:p>
                      <a:pPr marL="52069" algn="ctr">
                        <a:lnSpc>
                          <a:spcPct val="100000"/>
                        </a:lnSpc>
                        <a:spcBef>
                          <a:spcPts val="365"/>
                        </a:spcBef>
                      </a:pPr>
                      <a:r>
                        <a:rPr sz="1500" b="1" spc="-10">
                          <a:latin typeface="Arial"/>
                          <a:cs typeface="Arial"/>
                        </a:rPr>
                        <a:t>Word</a:t>
                      </a:r>
                    </a:p>
                  </a:txBody>
                  <a:tcPr marL="0" marR="0" marT="50165" marB="0">
                    <a:lnB w="12700">
                      <a:solidFill>
                        <a:srgbClr val="536773"/>
                      </a:solidFill>
                      <a:prstDash val="solid"/>
                    </a:lnB>
                    <a:solidFill>
                      <a:srgbClr val="56C1FF"/>
                    </a:solidFill>
                  </a:tcPr>
                </a:tc>
                <a:tc>
                  <a:txBody>
                    <a:bodyPr/>
                    <a:lstStyle/>
                    <a:p>
                      <a:pPr marL="52069" algn="ctr">
                        <a:lnSpc>
                          <a:spcPct val="100000"/>
                        </a:lnSpc>
                        <a:spcBef>
                          <a:spcPts val="365"/>
                        </a:spcBef>
                      </a:pPr>
                      <a:r>
                        <a:rPr sz="1500" b="1" spc="-10">
                          <a:latin typeface="Arial"/>
                          <a:cs typeface="Arial"/>
                        </a:rPr>
                        <a:t>Tokens</a:t>
                      </a:r>
                    </a:p>
                  </a:txBody>
                  <a:tcPr marL="0" marR="0" marT="50165" marB="0">
                    <a:lnB w="12700">
                      <a:solidFill>
                        <a:srgbClr val="536773"/>
                      </a:solidFill>
                      <a:prstDash val="solid"/>
                    </a:lnB>
                    <a:solidFill>
                      <a:srgbClr val="56C1FF"/>
                    </a:solidFill>
                  </a:tcPr>
                </a:tc>
                <a:extLst>
                  <a:ext uri="{0D108BD9-81ED-4DB2-BD59-A6C34878D82A}">
                    <a16:rowId xmlns:a16="http://schemas.microsoft.com/office/drawing/2014/main" val="10000"/>
                  </a:ext>
                </a:extLst>
              </a:tr>
              <a:tr h="310000">
                <a:tc>
                  <a:txBody>
                    <a:bodyPr/>
                    <a:lstStyle/>
                    <a:p>
                      <a:pPr marL="52069" algn="ctr">
                        <a:lnSpc>
                          <a:spcPct val="100000"/>
                        </a:lnSpc>
                        <a:spcBef>
                          <a:spcPts val="365"/>
                        </a:spcBef>
                      </a:pPr>
                      <a:r>
                        <a:rPr sz="1500" spc="-10">
                          <a:latin typeface="Arial"/>
                          <a:cs typeface="Arial"/>
                        </a:rPr>
                        <a:t>hug (×10)</a:t>
                      </a:r>
                    </a:p>
                  </a:txBody>
                  <a:tcPr marL="0" marR="0" marT="46355" marB="0">
                    <a:lnT w="12700">
                      <a:solidFill>
                        <a:srgbClr val="536773"/>
                      </a:solidFill>
                      <a:prstDash val="solid"/>
                    </a:lnT>
                  </a:tcPr>
                </a:tc>
                <a:tc>
                  <a:txBody>
                    <a:bodyPr/>
                    <a:lstStyle/>
                    <a:p>
                      <a:pPr marL="52069" algn="ctr">
                        <a:lnSpc>
                          <a:spcPct val="100000"/>
                        </a:lnSpc>
                        <a:spcBef>
                          <a:spcPts val="365"/>
                        </a:spcBef>
                      </a:pPr>
                      <a:r>
                        <a:rPr sz="1500" spc="-10">
                          <a:latin typeface="Arial"/>
                          <a:cs typeface="Arial"/>
                        </a:rPr>
                        <a:t>h + ##u + ##g</a:t>
                      </a:r>
                    </a:p>
                  </a:txBody>
                  <a:tcPr marL="0" marR="0" marT="46355" marB="0">
                    <a:lnT w="12700">
                      <a:solidFill>
                        <a:srgbClr val="536773"/>
                      </a:solidFill>
                      <a:prstDash val="solid"/>
                    </a:lnT>
                  </a:tcPr>
                </a:tc>
                <a:extLst>
                  <a:ext uri="{0D108BD9-81ED-4DB2-BD59-A6C34878D82A}">
                    <a16:rowId xmlns:a16="http://schemas.microsoft.com/office/drawing/2014/main" val="10001"/>
                  </a:ext>
                </a:extLst>
              </a:tr>
              <a:tr h="310000">
                <a:tc>
                  <a:txBody>
                    <a:bodyPr/>
                    <a:lstStyle/>
                    <a:p>
                      <a:pPr marL="52069" algn="ctr">
                        <a:lnSpc>
                          <a:spcPct val="100000"/>
                        </a:lnSpc>
                        <a:spcBef>
                          <a:spcPts val="365"/>
                        </a:spcBef>
                      </a:pPr>
                      <a:r>
                        <a:rPr sz="1500" spc="-10">
                          <a:latin typeface="Arial"/>
                          <a:cs typeface="Arial"/>
                        </a:rPr>
                        <a:t>pug (×5)</a:t>
                      </a:r>
                    </a:p>
                  </a:txBody>
                  <a:tcPr marL="0" marR="0" marT="46355" marB="0"/>
                </a:tc>
                <a:tc>
                  <a:txBody>
                    <a:bodyPr/>
                    <a:lstStyle/>
                    <a:p>
                      <a:pPr marL="52069" algn="ctr">
                        <a:lnSpc>
                          <a:spcPct val="100000"/>
                        </a:lnSpc>
                        <a:spcBef>
                          <a:spcPts val="365"/>
                        </a:spcBef>
                      </a:pPr>
                      <a:r>
                        <a:rPr sz="1500" spc="-10">
                          <a:latin typeface="Arial"/>
                          <a:cs typeface="Arial"/>
                        </a:rPr>
                        <a:t>p + ##u + ##g</a:t>
                      </a:r>
                    </a:p>
                  </a:txBody>
                  <a:tcPr marL="0" marR="0" marT="46355" marB="0"/>
                </a:tc>
                <a:extLst>
                  <a:ext uri="{0D108BD9-81ED-4DB2-BD59-A6C34878D82A}">
                    <a16:rowId xmlns:a16="http://schemas.microsoft.com/office/drawing/2014/main" val="10002"/>
                  </a:ext>
                </a:extLst>
              </a:tr>
              <a:tr h="310000">
                <a:tc>
                  <a:txBody>
                    <a:bodyPr/>
                    <a:lstStyle/>
                    <a:p>
                      <a:pPr marL="52069" algn="ctr">
                        <a:lnSpc>
                          <a:spcPct val="100000"/>
                        </a:lnSpc>
                        <a:spcBef>
                          <a:spcPts val="365"/>
                        </a:spcBef>
                      </a:pPr>
                      <a:r>
                        <a:rPr sz="1500" spc="-10">
                          <a:latin typeface="Arial"/>
                          <a:cs typeface="Arial"/>
                        </a:rPr>
                        <a:t>pun (×12)</a:t>
                      </a:r>
                    </a:p>
                  </a:txBody>
                  <a:tcPr marL="0" marR="0" marT="46355" marB="0"/>
                </a:tc>
                <a:tc>
                  <a:txBody>
                    <a:bodyPr/>
                    <a:lstStyle/>
                    <a:p>
                      <a:pPr marL="52069" algn="ctr">
                        <a:lnSpc>
                          <a:spcPct val="100000"/>
                        </a:lnSpc>
                        <a:spcBef>
                          <a:spcPts val="365"/>
                        </a:spcBef>
                      </a:pPr>
                      <a:r>
                        <a:rPr sz="1500" spc="-10">
                          <a:latin typeface="Arial"/>
                          <a:cs typeface="Arial"/>
                        </a:rPr>
                        <a:t>p + ##u + ##n</a:t>
                      </a:r>
                    </a:p>
                  </a:txBody>
                  <a:tcPr marL="0" marR="0" marT="46355" marB="0"/>
                </a:tc>
                <a:extLst>
                  <a:ext uri="{0D108BD9-81ED-4DB2-BD59-A6C34878D82A}">
                    <a16:rowId xmlns:a16="http://schemas.microsoft.com/office/drawing/2014/main" val="10003"/>
                  </a:ext>
                </a:extLst>
              </a:tr>
              <a:tr h="310000">
                <a:tc>
                  <a:txBody>
                    <a:bodyPr/>
                    <a:lstStyle/>
                    <a:p>
                      <a:pPr marL="52069" algn="ctr">
                        <a:lnSpc>
                          <a:spcPct val="100000"/>
                        </a:lnSpc>
                        <a:spcBef>
                          <a:spcPts val="365"/>
                        </a:spcBef>
                      </a:pPr>
                      <a:r>
                        <a:rPr sz="1500" spc="-10">
                          <a:latin typeface="Arial"/>
                          <a:cs typeface="Arial"/>
                        </a:rPr>
                        <a:t>bun (×4)</a:t>
                      </a:r>
                    </a:p>
                  </a:txBody>
                  <a:tcPr marL="0" marR="0" marT="46355" marB="0"/>
                </a:tc>
                <a:tc>
                  <a:txBody>
                    <a:bodyPr/>
                    <a:lstStyle/>
                    <a:p>
                      <a:pPr marL="52069" algn="ctr">
                        <a:lnSpc>
                          <a:spcPct val="100000"/>
                        </a:lnSpc>
                        <a:spcBef>
                          <a:spcPts val="365"/>
                        </a:spcBef>
                      </a:pPr>
                      <a:r>
                        <a:rPr sz="1500" spc="-10">
                          <a:latin typeface="Arial"/>
                          <a:cs typeface="Arial"/>
                        </a:rPr>
                        <a:t>b + ##u + ##n</a:t>
                      </a:r>
                    </a:p>
                  </a:txBody>
                  <a:tcPr marL="0" marR="0" marT="46355" marB="0"/>
                </a:tc>
                <a:extLst>
                  <a:ext uri="{0D108BD9-81ED-4DB2-BD59-A6C34878D82A}">
                    <a16:rowId xmlns:a16="http://schemas.microsoft.com/office/drawing/2014/main" val="10004"/>
                  </a:ext>
                </a:extLst>
              </a:tr>
              <a:tr h="310000">
                <a:tc>
                  <a:txBody>
                    <a:bodyPr/>
                    <a:lstStyle/>
                    <a:p>
                      <a:pPr marL="52069" algn="ctr">
                        <a:lnSpc>
                          <a:spcPct val="100000"/>
                        </a:lnSpc>
                        <a:spcBef>
                          <a:spcPts val="365"/>
                        </a:spcBef>
                      </a:pPr>
                      <a:r>
                        <a:rPr sz="1500" spc="-10">
                          <a:latin typeface="Arial"/>
                          <a:cs typeface="Arial"/>
                        </a:rPr>
                        <a:t>hugs (×5)</a:t>
                      </a:r>
                    </a:p>
                  </a:txBody>
                  <a:tcPr marL="0" marR="0" marT="46355" marB="0"/>
                </a:tc>
                <a:tc>
                  <a:txBody>
                    <a:bodyPr/>
                    <a:lstStyle/>
                    <a:p>
                      <a:pPr marL="52069" algn="ctr">
                        <a:lnSpc>
                          <a:spcPct val="100000"/>
                        </a:lnSpc>
                        <a:spcBef>
                          <a:spcPts val="365"/>
                        </a:spcBef>
                      </a:pPr>
                      <a:r>
                        <a:rPr sz="1500" spc="-10">
                          <a:latin typeface="Arial"/>
                          <a:cs typeface="Arial"/>
                        </a:rPr>
                        <a:t>h + ##u + ##g + ##s</a:t>
                      </a:r>
                    </a:p>
                  </a:txBody>
                  <a:tcPr marL="0" marR="0" marT="46355" marB="0"/>
                </a:tc>
                <a:extLst>
                  <a:ext uri="{0D108BD9-81ED-4DB2-BD59-A6C34878D82A}">
                    <a16:rowId xmlns:a16="http://schemas.microsoft.com/office/drawing/2014/main" val="10005"/>
                  </a:ext>
                </a:extLst>
              </a:tr>
            </a:tbl>
          </a:graphicData>
        </a:graphic>
      </p:graphicFrame>
      <p:sp>
        <p:nvSpPr>
          <p:cNvPr id="13" name="object 13"/>
          <p:cNvSpPr txBox="1"/>
          <p:nvPr/>
        </p:nvSpPr>
        <p:spPr>
          <a:xfrm>
            <a:off x="5429129" y="4353118"/>
            <a:ext cx="4700000" cy="3692101"/>
          </a:xfrm>
          <a:prstGeom prst="rect">
            <a:avLst/>
          </a:prstGeom>
        </p:spPr>
        <p:txBody>
          <a:bodyPr vert="horz" wrap="square" lIns="0" tIns="39370" rIns="0" bIns="0" rtlCol="0" anchor="t">
            <a:spAutoFit/>
          </a:bodyPr>
          <a:lstStyle/>
          <a:p>
            <a:pPr marL="12700">
              <a:lnSpc>
                <a:spcPct val="110000"/>
              </a:lnSpc>
              <a:spcBef>
                <a:spcPts val="55"/>
              </a:spcBef>
            </a:pPr>
            <a:r>
              <a:rPr lang="en-US" sz="1450" spc="-10">
                <a:latin typeface="Arial"/>
                <a:cs typeface="Arial"/>
              </a:rPr>
              <a:t>Token frequencies:             Pair Frequencies: </a:t>
            </a:r>
          </a:p>
          <a:p>
            <a:pPr marL="298450" indent="-285750">
              <a:lnSpc>
                <a:spcPct val="110000"/>
              </a:lnSpc>
              <a:spcBef>
                <a:spcPts val="55"/>
              </a:spcBef>
              <a:buFont typeface="Arial,Sans-Serif"/>
              <a:buChar char="•"/>
            </a:pPr>
            <a:r>
              <a:rPr lang="en-US" sz="1450" spc="-10">
                <a:latin typeface="Arial"/>
                <a:cs typeface="Arial"/>
              </a:rPr>
              <a:t>h = 15                            h + ##u = 15</a:t>
            </a:r>
          </a:p>
          <a:p>
            <a:pPr marL="298450" indent="-285750" algn="l">
              <a:lnSpc>
                <a:spcPct val="110000"/>
              </a:lnSpc>
              <a:spcBef>
                <a:spcPts val="55"/>
              </a:spcBef>
              <a:buFont typeface="Arial,Sans-Serif"/>
              <a:buChar char="•"/>
            </a:pPr>
            <a:r>
              <a:rPr lang="en-US" sz="1450" spc="-10">
                <a:latin typeface="Arial"/>
                <a:cs typeface="Arial"/>
              </a:rPr>
              <a:t>p = 17                            p + ##u = 17</a:t>
            </a:r>
          </a:p>
          <a:p>
            <a:pPr marL="298450" indent="-285750" algn="l">
              <a:lnSpc>
                <a:spcPct val="110000"/>
              </a:lnSpc>
              <a:spcBef>
                <a:spcPts val="55"/>
              </a:spcBef>
              <a:buFont typeface="Arial,Sans-Serif"/>
              <a:buChar char="•"/>
            </a:pPr>
            <a:r>
              <a:rPr lang="en-US" sz="1450" spc="-10">
                <a:latin typeface="Arial"/>
                <a:cs typeface="Arial"/>
              </a:rPr>
              <a:t>b  = 4                             b + ##u = 4</a:t>
            </a:r>
          </a:p>
          <a:p>
            <a:pPr marL="298450" indent="-285750">
              <a:lnSpc>
                <a:spcPct val="110000"/>
              </a:lnSpc>
              <a:spcBef>
                <a:spcPts val="55"/>
              </a:spcBef>
              <a:buFont typeface="Arial,Sans-Serif"/>
              <a:buChar char="•"/>
            </a:pPr>
            <a:r>
              <a:rPr lang="en-US" sz="1450" spc="-10">
                <a:latin typeface="Arial"/>
                <a:cs typeface="Arial"/>
              </a:rPr>
              <a:t>##u = 36                        ##u + ##g = 20</a:t>
            </a:r>
          </a:p>
          <a:p>
            <a:pPr marL="298450" indent="-285750">
              <a:lnSpc>
                <a:spcPct val="110000"/>
              </a:lnSpc>
              <a:spcBef>
                <a:spcPts val="55"/>
              </a:spcBef>
              <a:buFont typeface="Arial,Sans-Serif"/>
              <a:buChar char="•"/>
            </a:pPr>
            <a:r>
              <a:rPr lang="en-US" sz="1450" spc="-10">
                <a:latin typeface="Arial"/>
                <a:cs typeface="Arial"/>
              </a:rPr>
              <a:t>##g = 20                        ##u + ##n = 16</a:t>
            </a:r>
          </a:p>
          <a:p>
            <a:pPr marL="298450" indent="-285750">
              <a:lnSpc>
                <a:spcPct val="110000"/>
              </a:lnSpc>
              <a:spcBef>
                <a:spcPts val="55"/>
              </a:spcBef>
              <a:buFont typeface="Arial,Sans-Serif"/>
              <a:buChar char="•"/>
            </a:pPr>
            <a:r>
              <a:rPr lang="en-US" sz="1450" spc="-10">
                <a:latin typeface="Arial"/>
                <a:cs typeface="Arial"/>
              </a:rPr>
              <a:t>##n = 16                        ##g + ##s = 5</a:t>
            </a:r>
          </a:p>
          <a:p>
            <a:pPr marL="298450" indent="-285750">
              <a:lnSpc>
                <a:spcPct val="110000"/>
              </a:lnSpc>
              <a:spcBef>
                <a:spcPts val="55"/>
              </a:spcBef>
              <a:buFont typeface="Arial,Sans-Serif"/>
              <a:buChar char="•"/>
            </a:pPr>
            <a:r>
              <a:rPr lang="en-US" sz="1450" spc="-10">
                <a:latin typeface="Arial"/>
                <a:cs typeface="Arial"/>
              </a:rPr>
              <a:t>##s = 5                       </a:t>
            </a:r>
          </a:p>
          <a:p>
            <a:pPr marL="298450" indent="-285750">
              <a:lnSpc>
                <a:spcPct val="110000"/>
              </a:lnSpc>
              <a:spcBef>
                <a:spcPts val="55"/>
              </a:spcBef>
              <a:buFont typeface="Arial,Sans-Serif"/>
              <a:buChar char="•"/>
            </a:pPr>
            <a:endParaRPr lang="en-US" sz="1450" spc="-10">
              <a:latin typeface="Arial"/>
              <a:cs typeface="Arial"/>
            </a:endParaRPr>
          </a:p>
          <a:p>
            <a:pPr marL="298450" indent="-285750">
              <a:lnSpc>
                <a:spcPct val="110000"/>
              </a:lnSpc>
              <a:spcBef>
                <a:spcPts val="55"/>
              </a:spcBef>
              <a:buFont typeface="Arial,Sans-Serif"/>
              <a:buChar char="•"/>
            </a:pPr>
            <a:r>
              <a:rPr lang="en-US" sz="1450" spc="-10">
                <a:latin typeface="Arial"/>
                <a:cs typeface="Arial"/>
              </a:rPr>
              <a:t>Highest: </a:t>
            </a:r>
            <a:r>
              <a:rPr lang="en-US" sz="1450" spc="-10" err="1">
                <a:latin typeface="Arial"/>
                <a:cs typeface="Arial"/>
              </a:rPr>
              <a:t>freq</a:t>
            </a:r>
            <a:r>
              <a:rPr lang="en-US" sz="1450" spc="-10">
                <a:latin typeface="Arial"/>
                <a:cs typeface="Arial"/>
              </a:rPr>
              <a:t>(##g + ##s) / (</a:t>
            </a:r>
            <a:r>
              <a:rPr lang="en-US" sz="1450" spc="-10" err="1">
                <a:latin typeface="Arial"/>
                <a:cs typeface="Arial"/>
              </a:rPr>
              <a:t>freq</a:t>
            </a:r>
            <a:r>
              <a:rPr lang="en-US" sz="1450" spc="-10">
                <a:latin typeface="Arial"/>
                <a:cs typeface="Arial"/>
              </a:rPr>
              <a:t>(##g) * </a:t>
            </a:r>
            <a:r>
              <a:rPr lang="en-US" sz="1450" spc="-10" err="1">
                <a:latin typeface="Arial"/>
                <a:cs typeface="Arial"/>
              </a:rPr>
              <a:t>freq</a:t>
            </a:r>
            <a:r>
              <a:rPr lang="en-US" sz="1450" spc="-10">
                <a:latin typeface="Arial"/>
                <a:cs typeface="Arial"/>
              </a:rPr>
              <a:t>(##s)) = </a:t>
            </a:r>
          </a:p>
          <a:p>
            <a:pPr marL="12700">
              <a:lnSpc>
                <a:spcPct val="110000"/>
              </a:lnSpc>
              <a:spcBef>
                <a:spcPts val="55"/>
              </a:spcBef>
            </a:pPr>
            <a:r>
              <a:rPr lang="en-US" sz="1450" spc="-10">
                <a:latin typeface="Arial"/>
                <a:cs typeface="Arial"/>
              </a:rPr>
              <a:t>                    5 / (20 * 5) = 0.05</a:t>
            </a:r>
          </a:p>
          <a:p>
            <a:pPr marL="298450" indent="-285750">
              <a:lnSpc>
                <a:spcPct val="110000"/>
              </a:lnSpc>
              <a:spcBef>
                <a:spcPts val="55"/>
              </a:spcBef>
              <a:buFont typeface="Arial,Sans-Serif"/>
              <a:buChar char="•"/>
            </a:pPr>
            <a:endParaRPr lang="en-US" sz="1400" spc="-10">
              <a:latin typeface="Arial"/>
              <a:cs typeface="Arial"/>
            </a:endParaRPr>
          </a:p>
          <a:p>
            <a:pPr marL="12700">
              <a:lnSpc>
                <a:spcPct val="110000"/>
              </a:lnSpc>
              <a:spcBef>
                <a:spcPts val="55"/>
              </a:spcBef>
            </a:pPr>
            <a:endParaRPr lang="en-US" sz="1400" spc="-10">
              <a:latin typeface="Arial"/>
              <a:cs typeface="Arial"/>
            </a:endParaRPr>
          </a:p>
          <a:p>
            <a:pPr marL="298450" indent="-285750">
              <a:lnSpc>
                <a:spcPct val="110000"/>
              </a:lnSpc>
              <a:spcBef>
                <a:spcPts val="55"/>
              </a:spcBef>
              <a:buFont typeface="Arial"/>
              <a:buChar char="•"/>
            </a:pPr>
            <a:endParaRPr lang="en-US" sz="1400" spc="-10">
              <a:latin typeface="Arial"/>
              <a:cs typeface="Arial"/>
            </a:endParaRPr>
          </a:p>
        </p:txBody>
      </p:sp>
      <p:sp>
        <p:nvSpPr>
          <p:cNvPr id="7" name="object 13">
            <a:extLst>
              <a:ext uri="{FF2B5EF4-FFF2-40B4-BE49-F238E27FC236}">
                <a16:creationId xmlns:a16="http://schemas.microsoft.com/office/drawing/2014/main" id="{413B2D47-1049-3284-C829-44D9B31406C7}"/>
              </a:ext>
            </a:extLst>
          </p:cNvPr>
          <p:cNvSpPr txBox="1"/>
          <p:nvPr/>
        </p:nvSpPr>
        <p:spPr>
          <a:xfrm>
            <a:off x="5143496" y="1643142"/>
            <a:ext cx="4700000" cy="305212"/>
          </a:xfrm>
          <a:prstGeom prst="rect">
            <a:avLst/>
          </a:prstGeom>
        </p:spPr>
        <p:txBody>
          <a:bodyPr vert="horz" wrap="square" lIns="0" tIns="39370" rIns="0" bIns="0" rtlCol="0" anchor="t">
            <a:spAutoFit/>
          </a:bodyPr>
          <a:lstStyle/>
          <a:p>
            <a:pPr marL="12700">
              <a:lnSpc>
                <a:spcPct val="110000"/>
              </a:lnSpc>
              <a:spcBef>
                <a:spcPts val="55"/>
              </a:spcBef>
            </a:pPr>
            <a:r>
              <a:rPr sz="1700" spc="-10">
                <a:latin typeface="Arial"/>
                <a:cs typeface="Arial"/>
              </a:rPr>
              <a:t>𝒱 = {b, h, p, ##g, ##n, ##s, ##u}</a:t>
            </a:r>
            <a:endParaRPr sz="1700" spc="-10">
              <a:solidFill>
                <a:srgbClr val="000000"/>
              </a:solidFill>
              <a:latin typeface="Arial"/>
              <a:cs typeface="Arial"/>
            </a:endParaRPr>
          </a:p>
        </p:txBody>
      </p:sp>
    </p:spTree>
    <p:extLst>
      <p:ext uri="{BB962C8B-B14F-4D97-AF65-F5344CB8AC3E}">
        <p14:creationId xmlns:p14="http://schemas.microsoft.com/office/powerpoint/2010/main" val="223068278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txBox="1">
            <a:spLocks noGrp="1"/>
          </p:cNvSpPr>
          <p:nvPr>
            <p:ph type="sldNum" sz="quarter" idx="7"/>
          </p:nvPr>
        </p:nvSpPr>
        <p:spPr>
          <a:prstGeom prst="rect">
            <a:avLst/>
          </a:prstGeom>
        </p:spPr>
        <p:txBody>
          <a:bodyPr vert="horz" wrap="square" lIns="0" tIns="6985" rIns="0" bIns="0" rtlCol="0">
            <a:spAutoFit/>
          </a:bodyPr>
          <a:lstStyle/>
          <a:p>
            <a:pPr marL="38100">
              <a:lnSpc>
                <a:spcPct val="100000"/>
              </a:lnSpc>
              <a:spcBef>
                <a:spcPts val="55"/>
              </a:spcBef>
            </a:pPr>
            <a:fld id="{81D60167-4931-47E6-BA6A-407CBD079E47}" type="slidenum">
              <a:rPr spc="-25" dirty="0"/>
              <a:t>28</a:t>
            </a:fld>
            <a:endParaRPr spc="-25"/>
          </a:p>
        </p:txBody>
      </p:sp>
      <p:sp>
        <p:nvSpPr>
          <p:cNvPr id="5" name="object 5"/>
          <p:cNvSpPr txBox="1"/>
          <p:nvPr/>
        </p:nvSpPr>
        <p:spPr>
          <a:xfrm>
            <a:off x="5562139" y="7457345"/>
            <a:ext cx="4424680" cy="174625"/>
          </a:xfrm>
          <a:prstGeom prst="rect">
            <a:avLst/>
          </a:prstGeom>
        </p:spPr>
        <p:txBody>
          <a:bodyPr vert="horz" wrap="square" lIns="0" tIns="6985" rIns="0" bIns="0" rtlCol="0">
            <a:spAutoFit/>
          </a:bodyPr>
          <a:lstStyle/>
          <a:p>
            <a:pPr marL="12700">
              <a:lnSpc>
                <a:spcPct val="100000"/>
              </a:lnSpc>
              <a:spcBef>
                <a:spcPts val="55"/>
              </a:spcBef>
            </a:pPr>
            <a:r>
              <a:rPr sz="1000">
                <a:latin typeface="Arial"/>
                <a:cs typeface="Arial"/>
              </a:rPr>
              <a:t>Example from: </a:t>
            </a:r>
            <a:r>
              <a:rPr sz="1000" u="sng" spc="-10">
                <a:uFill>
                  <a:solidFill>
                    <a:srgbClr val="000000"/>
                  </a:solidFill>
                </a:uFill>
                <a:latin typeface="Arial"/>
                <a:cs typeface="Arial"/>
              </a:rPr>
              <a:t>https://huggingface.co/docs/transformers/tokenizer_summary</a:t>
            </a:r>
          </a:p>
        </p:txBody>
      </p:sp>
      <p:sp>
        <p:nvSpPr>
          <p:cNvPr id="3" name="object 3" descr="$PPTXTitle"/>
          <p:cNvSpPr txBox="1">
            <a:spLocks noGrp="1"/>
          </p:cNvSpPr>
          <p:nvPr>
            <p:ph type="title"/>
          </p:nvPr>
        </p:nvSpPr>
        <p:spPr>
          <a:xfrm>
            <a:off x="566836" y="395062"/>
            <a:ext cx="8842375" cy="797216"/>
          </a:xfrm>
          <a:prstGeom prst="rect">
            <a:avLst/>
          </a:prstGeom>
        </p:spPr>
        <p:txBody>
          <a:bodyPr vert="horz" wrap="square" lIns="0" tIns="88466" rIns="0" bIns="0" rtlCol="0" anchor="t">
            <a:spAutoFit/>
          </a:bodyPr>
          <a:lstStyle/>
          <a:p>
            <a:pPr marL="12700">
              <a:lnSpc>
                <a:spcPct val="100000"/>
              </a:lnSpc>
              <a:spcBef>
                <a:spcPts val="95"/>
              </a:spcBef>
            </a:pPr>
            <a:r>
              <a:rPr lang="en-US" spc="-125" err="1"/>
              <a:t>Wordpiece</a:t>
            </a:r>
          </a:p>
        </p:txBody>
      </p:sp>
      <p:sp>
        <p:nvSpPr>
          <p:cNvPr id="99" name="yellow_highlight_99"/>
          <p:cNvSpPr txBox="1"/>
          <p:nvPr/>
        </p:nvSpPr>
        <p:spPr>
          <a:xfrm>
            <a:off x="566836" y="4369826"/>
            <a:ext cx="4409440" cy="710000"/>
          </a:xfrm>
          <a:prstGeom prst="rect">
            <a:avLst/>
          </a:prstGeom>
          <a:solidFill>
            <a:srgbClr val="FFD932">
              <a:alpha val="42759"/>
            </a:srgbClr>
          </a:solidFill>
        </p:spPr>
        <p:txBody>
          <a:bodyPr vert="horz" wrap="square" lIns="0" tIns="0" rIns="0" bIns="0" rtlCol="0">
            <a:spAutoFit/>
          </a:bodyPr>
          <a:lstStyle/>
          <a:p>
            <a:endParaRPr/>
          </a:p>
        </p:txBody>
      </p:sp>
      <mc:AlternateContent xmlns:mc="http://schemas.openxmlformats.org/markup-compatibility/2006">
        <mc:Choice xmlns:a14="http://schemas.microsoft.com/office/drawing/2010/main" Requires="a14">
          <p:sp>
            <p:nvSpPr>
              <p:cNvPr id="2" name="object 2"/>
              <p:cNvSpPr txBox="1"/>
              <p:nvPr/>
            </p:nvSpPr>
            <p:spPr>
              <a:xfrm>
                <a:off x="566836" y="2416754"/>
                <a:ext cx="4409440" cy="4916282"/>
              </a:xfrm>
              <a:prstGeom prst="rect">
                <a:avLst/>
              </a:prstGeom>
            </p:spPr>
            <p:txBody>
              <a:bodyPr vert="horz" wrap="square" lIns="0" tIns="39370" rIns="0" bIns="0" rtlCol="0" anchor="t">
                <a:spAutoFit/>
              </a:bodyPr>
              <a:lstStyle/>
              <a:p>
                <a:pPr marL="233679" marR="276860" indent="-221615">
                  <a:lnSpc>
                    <a:spcPct val="91700"/>
                  </a:lnSpc>
                  <a:spcBef>
                    <a:spcPts val="310"/>
                  </a:spcBef>
                  <a:buSzPct val="102380"/>
                  <a:buFont typeface="Arial"/>
                  <a:buChar char="•"/>
                  <a:tabLst>
                    <a:tab pos="233679" algn="l"/>
                  </a:tabLst>
                </a:pPr>
                <a:r>
                  <a:rPr sz="2100" spc="175">
                    <a:latin typeface="Cambria"/>
                    <a:cs typeface="Cambria"/>
                  </a:rPr>
                  <a:t>𝒱 ← </a:t>
                </a:r>
                <a:r>
                  <a:rPr sz="1750" spc="-10">
                    <a:latin typeface="Arial"/>
                    <a:cs typeface="Arial"/>
                  </a:rPr>
                  <a:t>All characters in the training data (as </a:t>
                </a:r>
                <a:r>
                  <a:rPr sz="1750" b="1" spc="-10">
                    <a:latin typeface="Arial"/>
                    <a:cs typeface="Arial"/>
                  </a:rPr>
                  <a:t>tokens</a:t>
                </a:r>
                <a:r>
                  <a:rPr sz="1750" spc="-10">
                    <a:latin typeface="Arial"/>
                    <a:cs typeface="Arial"/>
                  </a:rPr>
                  <a:t>)</a:t>
                </a:r>
                <a:endParaRPr sz="1750">
                  <a:latin typeface="Arial"/>
                  <a:cs typeface="Arial"/>
                </a:endParaRPr>
              </a:p>
              <a:p>
                <a:pPr marL="233679" marR="276860" indent="-221615">
                  <a:lnSpc>
                    <a:spcPct val="91700"/>
                  </a:lnSpc>
                  <a:spcBef>
                    <a:spcPts val="1295"/>
                  </a:spcBef>
                  <a:buSzPct val="102380"/>
                  <a:buFont typeface="Arial"/>
                  <a:buChar char="•"/>
                  <a:tabLst>
                    <a:tab pos="233679" algn="l"/>
                  </a:tabLst>
                </a:pPr>
                <a:r>
                  <a:rPr sz="1750" spc="-10">
                    <a:latin typeface="Arial"/>
                    <a:cs typeface="Arial"/>
                  </a:rPr>
                  <a:t>For </a:t>
                </a:r>
                <a:r>
                  <a:rPr sz="2100" i="1" spc="-10" err="1">
                    <a:latin typeface="Times New Roman"/>
                    <a:cs typeface="Times New Roman"/>
                  </a:rPr>
                  <a:t>k</a:t>
                </a:r>
                <a:r>
                  <a:rPr sz="1750" spc="-10">
                    <a:latin typeface="Arial"/>
                    <a:cs typeface="Arial"/>
                  </a:rPr>
                  <a:t> steps:</a:t>
                </a:r>
                <a:endParaRPr sz="1750">
                  <a:latin typeface="Arial"/>
                  <a:cs typeface="Arial"/>
                </a:endParaRPr>
              </a:p>
              <a:p>
                <a:pPr marL="528320" marR="5080" lvl="1" indent="-221615">
                  <a:lnSpc>
                    <a:spcPct val="89300"/>
                  </a:lnSpc>
                  <a:spcBef>
                    <a:spcPts val="1845"/>
                  </a:spcBef>
                  <a:buSzPct val="122857"/>
                  <a:buChar char="-"/>
                  <a:tabLst>
                    <a:tab pos="528320" algn="l"/>
                  </a:tabLst>
                </a:pPr>
                <a:r>
                  <a:rPr sz="1750" spc="-10">
                    <a:latin typeface="Arial"/>
                    <a:cs typeface="Arial"/>
                  </a:rPr>
                  <a:t>Identify all possible pairs </a:t>
                </a:r>
                <a:r>
                  <a:rPr sz="2100" spc="175">
                    <a:latin typeface="Cambria"/>
                    <a:cs typeface="Cambria"/>
                  </a:rPr>
                  <a:t>⟨</a:t>
                </a:r>
                <a:r>
                  <a:rPr sz="2100" i="1" spc="-10" err="1">
                    <a:latin typeface="Times New Roman"/>
                    <a:cs typeface="Times New Roman"/>
                  </a:rPr>
                  <a:t>l</a:t>
                </a:r>
                <a:r>
                  <a:rPr sz="2100" spc="175">
                    <a:latin typeface="Cambria"/>
                    <a:cs typeface="Cambria"/>
                  </a:rPr>
                  <a:t>, </a:t>
                </a:r>
                <a:r>
                  <a:rPr sz="2100" i="1" spc="-10" err="1">
                    <a:latin typeface="Times New Roman"/>
                    <a:cs typeface="Times New Roman"/>
                  </a:rPr>
                  <a:t>r</a:t>
                </a:r>
                <a:r>
                  <a:rPr sz="2100" spc="175">
                    <a:latin typeface="Cambria"/>
                    <a:cs typeface="Cambria"/>
                  </a:rPr>
                  <a:t>⟩</a:t>
                </a:r>
                <a:r>
                  <a:rPr sz="1750" spc="-10">
                    <a:latin typeface="Arial"/>
                    <a:cs typeface="Arial"/>
                  </a:rPr>
                  <a:t> from the current vocabulary</a:t>
                </a:r>
                <a:endParaRPr sz="1750">
                  <a:latin typeface="Arial"/>
                  <a:cs typeface="Arial"/>
                </a:endParaRPr>
              </a:p>
              <a:p>
                <a:pPr marL="528320" marR="5080" lvl="1" indent="-221615">
                  <a:lnSpc>
                    <a:spcPct val="89300"/>
                  </a:lnSpc>
                  <a:spcBef>
                    <a:spcPts val="1845"/>
                  </a:spcBef>
                  <a:buSzPct val="122857"/>
                  <a:buChar char="-"/>
                  <a:tabLst>
                    <a:tab pos="528320" algn="l"/>
                  </a:tabLst>
                </a:pPr>
                <a:r>
                  <a:rPr sz="1750" b="1" spc="-10">
                    <a:latin typeface="Arial"/>
                    <a:cs typeface="Arial"/>
                  </a:rPr>
                  <a:t>Calculate a Score for each pair:</a:t>
                </a:r>
                <a:endParaRPr sz="1750">
                  <a:latin typeface="Arial"/>
                  <a:cs typeface="Arial"/>
                </a:endParaRPr>
              </a:p>
              <a:p>
                <a:pPr marL="760350" marR="5080" lvl="1">
                  <a:lnSpc>
                    <a:spcPct val="89300"/>
                  </a:lnSpc>
                  <a:spcBef>
                    <a:spcPts val="310"/>
                  </a:spcBef>
                  <a:buNone/>
                </a:pPr>
                <a14:m>
                  <m:oMathPara xmlns:m="http://schemas.openxmlformats.org/officeDocument/2006/math">
                    <m:oMathParaPr>
                      <m:jc m:val="left"/>
                    </m:oMathParaPr>
                    <m:oMath xmlns:m="http://schemas.openxmlformats.org/officeDocument/2006/math">
                      <m:r>
                        <a:rPr>
                          <a:latin typeface="Cambria Math" panose="02040503050406030204" pitchFamily="18" charset="0"/>
                        </a:rPr>
                        <m:t>𝐒𝐜𝐨𝐫𝐞</m:t>
                      </m:r>
                      <m:r>
                        <a:rPr>
                          <a:latin typeface="Cambria Math" panose="02040503050406030204" pitchFamily="18" charset="0"/>
                        </a:rPr>
                        <m:t> = </m:t>
                      </m:r>
                      <m:f>
                        <m:fPr>
                          <m:ctrlPr>
                            <a:rPr i="1">
                              <a:latin typeface="Cambria Math" panose="02040503050406030204" pitchFamily="18" charset="0"/>
                            </a:rPr>
                          </m:ctrlPr>
                        </m:fPr>
                        <m:num>
                          <m:r>
                            <a:rPr>
                              <a:latin typeface="Cambria Math" panose="02040503050406030204" pitchFamily="18" charset="0"/>
                            </a:rPr>
                            <m:t>𝐟𝐫𝐞𝐪</m:t>
                          </m:r>
                          <m:r>
                            <a:rPr>
                              <a:latin typeface="Cambria Math" panose="02040503050406030204" pitchFamily="18" charset="0"/>
                            </a:rPr>
                            <m:t>(</m:t>
                          </m:r>
                          <m:r>
                            <a:rPr>
                              <a:latin typeface="Cambria Math" panose="02040503050406030204" pitchFamily="18" charset="0"/>
                            </a:rPr>
                            <m:t>𝒍</m:t>
                          </m:r>
                          <m:r>
                            <a:rPr>
                              <a:latin typeface="Cambria Math" panose="02040503050406030204" pitchFamily="18" charset="0"/>
                            </a:rPr>
                            <m:t>,</m:t>
                          </m:r>
                          <m:r>
                            <a:rPr>
                              <a:latin typeface="Cambria Math" panose="02040503050406030204" pitchFamily="18" charset="0"/>
                            </a:rPr>
                            <m:t>𝒓</m:t>
                          </m:r>
                          <m:r>
                            <a:rPr>
                              <a:latin typeface="Cambria Math" panose="02040503050406030204" pitchFamily="18" charset="0"/>
                            </a:rPr>
                            <m:t>)</m:t>
                          </m:r>
                        </m:num>
                        <m:den>
                          <m:r>
                            <a:rPr>
                              <a:latin typeface="Cambria Math" panose="02040503050406030204" pitchFamily="18" charset="0"/>
                            </a:rPr>
                            <m:t>𝐟𝐫𝐞𝐪</m:t>
                          </m:r>
                          <m:r>
                            <a:rPr>
                              <a:latin typeface="Cambria Math" panose="02040503050406030204" pitchFamily="18" charset="0"/>
                            </a:rPr>
                            <m:t>(</m:t>
                          </m:r>
                          <m:r>
                            <a:rPr>
                              <a:latin typeface="Cambria Math" panose="02040503050406030204" pitchFamily="18" charset="0"/>
                            </a:rPr>
                            <m:t>𝒍</m:t>
                          </m:r>
                          <m:r>
                            <a:rPr>
                              <a:latin typeface="Cambria Math" panose="02040503050406030204" pitchFamily="18" charset="0"/>
                            </a:rPr>
                            <m:t>) × </m:t>
                          </m:r>
                          <m:r>
                            <a:rPr>
                              <a:latin typeface="Cambria Math" panose="02040503050406030204" pitchFamily="18" charset="0"/>
                            </a:rPr>
                            <m:t>𝐟𝐫𝐞𝐪</m:t>
                          </m:r>
                          <m:r>
                            <a:rPr>
                              <a:latin typeface="Cambria Math" panose="02040503050406030204" pitchFamily="18" charset="0"/>
                            </a:rPr>
                            <m:t>(</m:t>
                          </m:r>
                          <m:r>
                            <a:rPr>
                              <a:latin typeface="Cambria Math" panose="02040503050406030204" pitchFamily="18" charset="0"/>
                            </a:rPr>
                            <m:t>𝒓</m:t>
                          </m:r>
                          <m:r>
                            <a:rPr>
                              <a:latin typeface="Cambria Math" panose="02040503050406030204" pitchFamily="18" charset="0"/>
                            </a:rPr>
                            <m:t>)</m:t>
                          </m:r>
                        </m:den>
                      </m:f>
                    </m:oMath>
                  </m:oMathPara>
                </a14:m>
                <a:endParaRPr sz="1750">
                  <a:latin typeface="Arial"/>
                  <a:cs typeface="Arial"/>
                </a:endParaRPr>
              </a:p>
              <a:p>
                <a:pPr marL="528320" marR="5080" lvl="1" indent="-221615">
                  <a:lnSpc>
                    <a:spcPct val="89300"/>
                  </a:lnSpc>
                  <a:spcBef>
                    <a:spcPts val="1845"/>
                  </a:spcBef>
                  <a:buSzPct val="122857"/>
                  <a:buChar char="-"/>
                  <a:tabLst>
                    <a:tab pos="528320" algn="l"/>
                  </a:tabLst>
                </a:pPr>
                <a:r>
                  <a:rPr sz="1750" spc="-10">
                    <a:latin typeface="Arial"/>
                    <a:cs typeface="Arial"/>
                  </a:rPr>
                  <a:t>Choose the pair </a:t>
                </a:r>
                <a:r>
                  <a:rPr sz="2100" spc="175">
                    <a:latin typeface="Cambria"/>
                    <a:cs typeface="Cambria"/>
                  </a:rPr>
                  <a:t>⟨</a:t>
                </a:r>
                <a:r>
                  <a:rPr sz="2100" i="1" spc="-10" err="1">
                    <a:latin typeface="Times New Roman"/>
                    <a:cs typeface="Times New Roman"/>
                  </a:rPr>
                  <a:t>l</a:t>
                </a:r>
                <a:r>
                  <a:rPr sz="2100" spc="175">
                    <a:latin typeface="Cambria"/>
                    <a:cs typeface="Cambria"/>
                  </a:rPr>
                  <a:t>, </a:t>
                </a:r>
                <a:r>
                  <a:rPr sz="2100" i="1" spc="-10" err="1">
                    <a:latin typeface="Times New Roman"/>
                    <a:cs typeface="Times New Roman"/>
                  </a:rPr>
                  <a:t>r</a:t>
                </a:r>
                <a:r>
                  <a:rPr sz="2100" spc="175">
                    <a:latin typeface="Cambria"/>
                    <a:cs typeface="Cambria"/>
                  </a:rPr>
                  <a:t>⟩</a:t>
                </a:r>
                <a:r>
                  <a:rPr sz="1750" spc="-10">
                    <a:latin typeface="Arial"/>
                    <a:cs typeface="Arial"/>
                  </a:rPr>
                  <a:t> that maximizes this score</a:t>
                </a:r>
                <a:endParaRPr sz="1750">
                  <a:latin typeface="Arial"/>
                  <a:cs typeface="Arial"/>
                </a:endParaRPr>
              </a:p>
              <a:p>
                <a:pPr marL="528320" marR="5080" lvl="1" indent="-221615">
                  <a:lnSpc>
                    <a:spcPct val="89300"/>
                  </a:lnSpc>
                  <a:spcBef>
                    <a:spcPts val="1845"/>
                  </a:spcBef>
                  <a:buSzPct val="122857"/>
                  <a:buChar char="-"/>
                  <a:tabLst>
                    <a:tab pos="528320" algn="l"/>
                  </a:tabLst>
                </a:pPr>
                <a:r>
                  <a:rPr sz="1750" spc="-10">
                    <a:latin typeface="Arial"/>
                    <a:cs typeface="Arial"/>
                  </a:rPr>
                  <a:t>Add the pair to the vocabulary as a new token </a:t>
                </a:r>
                <a:r>
                  <a:rPr sz="2100" spc="175">
                    <a:latin typeface="Cambria"/>
                    <a:cs typeface="Cambria"/>
                  </a:rPr>
                  <a:t>𝒱 ← 𝒱 ∪ {</a:t>
                </a:r>
                <a:r>
                  <a:rPr sz="2100" i="1" spc="-10" err="1">
                    <a:latin typeface="Times New Roman"/>
                    <a:cs typeface="Times New Roman"/>
                  </a:rPr>
                  <a:t>lr</a:t>
                </a:r>
                <a:r>
                  <a:rPr sz="2100" spc="175">
                    <a:latin typeface="Cambria"/>
                    <a:cs typeface="Cambria"/>
                  </a:rPr>
                  <a:t>}</a:t>
                </a:r>
                <a:endParaRPr sz="1750">
                  <a:latin typeface="Arial"/>
                  <a:cs typeface="Arial"/>
                </a:endParaRPr>
              </a:p>
              <a:p>
                <a:pPr marL="233679" indent="-220979">
                  <a:lnSpc>
                    <a:spcPct val="100000"/>
                  </a:lnSpc>
                  <a:spcBef>
                    <a:spcPts val="1565"/>
                  </a:spcBef>
                  <a:buSzPct val="122857"/>
                  <a:buChar char="•"/>
                  <a:tabLst>
                    <a:tab pos="233679" algn="l"/>
                  </a:tabLst>
                </a:pPr>
                <a:r>
                  <a:rPr sz="1750" spc="-10">
                    <a:latin typeface="Arial"/>
                    <a:cs typeface="Arial"/>
                  </a:rPr>
                  <a:t>Return </a:t>
                </a:r>
                <a:r>
                  <a:rPr sz="2100" spc="175">
                    <a:latin typeface="Cambria"/>
                    <a:cs typeface="Cambria"/>
                  </a:rPr>
                  <a:t>𝒱</a:t>
                </a:r>
                <a:endParaRPr sz="2100">
                  <a:latin typeface="Arial"/>
                  <a:cs typeface="Arial"/>
                </a:endParaRPr>
              </a:p>
            </p:txBody>
          </p:sp>
        </mc:Choice>
        <mc:Fallback>
          <p:sp>
            <p:nvSpPr>
              <p:cNvPr id="2" name="object 2"/>
              <p:cNvSpPr txBox="1">
                <a:spLocks noRot="1" noChangeAspect="1" noMove="1" noResize="1" noEditPoints="1" noAdjustHandles="1" noChangeArrowheads="1" noChangeShapeType="1" noTextEdit="1"/>
              </p:cNvSpPr>
              <p:nvPr/>
            </p:nvSpPr>
            <p:spPr>
              <a:xfrm>
                <a:off x="566836" y="2416754"/>
                <a:ext cx="4409440" cy="4916282"/>
              </a:xfrm>
              <a:prstGeom prst="rect">
                <a:avLst/>
              </a:prstGeom>
              <a:blipFill>
                <a:blip r:embed="rId2"/>
                <a:stretch>
                  <a:fillRect l="-3320" t="-1487" r="-4011" b="-743"/>
                </a:stretch>
              </a:blipFill>
            </p:spPr>
            <p:txBody>
              <a:bodyPr/>
              <a:lstStyle/>
              <a:p>
                <a:r>
                  <a:rPr lang="en-US">
                    <a:noFill/>
                  </a:rPr>
                  <a:t> </a:t>
                </a:r>
              </a:p>
            </p:txBody>
          </p:sp>
        </mc:Fallback>
      </mc:AlternateContent>
      <p:graphicFrame>
        <p:nvGraphicFramePr>
          <p:cNvPr id="10" name="object 10"/>
          <p:cNvGraphicFramePr>
            <a:graphicFrameLocks noGrp="1"/>
          </p:cNvGraphicFramePr>
          <p:nvPr/>
        </p:nvGraphicFramePr>
        <p:xfrm>
          <a:off x="5050000" y="2200000"/>
          <a:ext cx="3800000" cy="2170000"/>
        </p:xfrm>
        <a:graphic>
          <a:graphicData uri="http://schemas.openxmlformats.org/drawingml/2006/table">
            <a:tbl>
              <a:tblPr firstRow="1" bandRow="1">
                <a:tableStyleId>{2D5ABB26-0587-4C30-8999-92F81FD0307C}</a:tableStyleId>
              </a:tblPr>
              <a:tblGrid>
                <a:gridCol w="1400000">
                  <a:extLst>
                    <a:ext uri="{9D8B030D-6E8A-4147-A177-3AD203B41FA5}">
                      <a16:colId xmlns:a16="http://schemas.microsoft.com/office/drawing/2014/main" val="20000"/>
                    </a:ext>
                  </a:extLst>
                </a:gridCol>
                <a:gridCol w="1300000">
                  <a:extLst>
                    <a:ext uri="{9D8B030D-6E8A-4147-A177-3AD203B41FA5}">
                      <a16:colId xmlns:a16="http://schemas.microsoft.com/office/drawing/2014/main" val="20001"/>
                    </a:ext>
                  </a:extLst>
                </a:gridCol>
                <a:gridCol w="1100000">
                  <a:extLst>
                    <a:ext uri="{9D8B030D-6E8A-4147-A177-3AD203B41FA5}">
                      <a16:colId xmlns:a16="http://schemas.microsoft.com/office/drawing/2014/main" val="20002"/>
                    </a:ext>
                  </a:extLst>
                </a:gridCol>
              </a:tblGrid>
              <a:tr h="310000">
                <a:tc>
                  <a:txBody>
                    <a:bodyPr/>
                    <a:lstStyle/>
                    <a:p>
                      <a:pPr marL="52069" algn="ctr">
                        <a:lnSpc>
                          <a:spcPct val="100000"/>
                        </a:lnSpc>
                        <a:spcBef>
                          <a:spcPts val="365"/>
                        </a:spcBef>
                      </a:pPr>
                      <a:r>
                        <a:rPr sz="1400" b="1" spc="-10">
                          <a:latin typeface="Arial"/>
                          <a:cs typeface="Arial"/>
                        </a:rPr>
                        <a:t>Pair</a:t>
                      </a:r>
                    </a:p>
                  </a:txBody>
                  <a:tcPr marL="0" marR="0" marT="50165" marB="0">
                    <a:lnB w="12700">
                      <a:solidFill>
                        <a:srgbClr val="536773"/>
                      </a:solidFill>
                      <a:prstDash val="solid"/>
                    </a:lnB>
                    <a:solidFill>
                      <a:srgbClr val="56C1FF"/>
                    </a:solidFill>
                  </a:tcPr>
                </a:tc>
                <a:tc>
                  <a:txBody>
                    <a:bodyPr/>
                    <a:lstStyle/>
                    <a:p>
                      <a:pPr marL="52069" algn="ctr">
                        <a:lnSpc>
                          <a:spcPct val="100000"/>
                        </a:lnSpc>
                        <a:spcBef>
                          <a:spcPts val="365"/>
                        </a:spcBef>
                      </a:pPr>
                      <a:r>
                        <a:rPr sz="1400" b="1" spc="-10">
                          <a:latin typeface="Arial"/>
                          <a:cs typeface="Arial"/>
                        </a:rPr>
                        <a:t>Freq(pair)</a:t>
                      </a:r>
                    </a:p>
                  </a:txBody>
                  <a:tcPr marL="0" marR="0" marT="50165" marB="0">
                    <a:lnB w="12700">
                      <a:solidFill>
                        <a:srgbClr val="536773"/>
                      </a:solidFill>
                      <a:prstDash val="solid"/>
                    </a:lnB>
                    <a:solidFill>
                      <a:srgbClr val="56C1FF"/>
                    </a:solidFill>
                  </a:tcPr>
                </a:tc>
                <a:tc>
                  <a:txBody>
                    <a:bodyPr/>
                    <a:lstStyle/>
                    <a:p>
                      <a:pPr marL="52069" algn="ctr">
                        <a:lnSpc>
                          <a:spcPct val="100000"/>
                        </a:lnSpc>
                        <a:spcBef>
                          <a:spcPts val="365"/>
                        </a:spcBef>
                      </a:pPr>
                      <a:r>
                        <a:rPr sz="1400" b="1" spc="-10">
                          <a:latin typeface="Arial"/>
                          <a:cs typeface="Arial"/>
                        </a:rPr>
                        <a:t>Score</a:t>
                      </a:r>
                    </a:p>
                  </a:txBody>
                  <a:tcPr marL="0" marR="0" marT="50165" marB="0">
                    <a:lnB w="12700">
                      <a:solidFill>
                        <a:srgbClr val="536773"/>
                      </a:solidFill>
                      <a:prstDash val="solid"/>
                    </a:lnB>
                    <a:solidFill>
                      <a:srgbClr val="56C1FF"/>
                    </a:solidFill>
                  </a:tcPr>
                </a:tc>
                <a:extLst>
                  <a:ext uri="{0D108BD9-81ED-4DB2-BD59-A6C34878D82A}">
                    <a16:rowId xmlns:a16="http://schemas.microsoft.com/office/drawing/2014/main" val="10000"/>
                  </a:ext>
                </a:extLst>
              </a:tr>
              <a:tr h="310000">
                <a:tc>
                  <a:txBody>
                    <a:bodyPr/>
                    <a:lstStyle/>
                    <a:p>
                      <a:pPr marL="52069" algn="ctr">
                        <a:lnSpc>
                          <a:spcPct val="100000"/>
                        </a:lnSpc>
                        <a:spcBef>
                          <a:spcPts val="365"/>
                        </a:spcBef>
                      </a:pPr>
                      <a:r>
                        <a:rPr sz="1400" spc="-10">
                          <a:latin typeface="Arial"/>
                          <a:cs typeface="Arial"/>
                        </a:rPr>
                        <a:t>h + ##u</a:t>
                      </a:r>
                    </a:p>
                  </a:txBody>
                  <a:tcPr marL="0" marR="0" marT="46355" marB="0">
                    <a:lnT w="12700">
                      <a:solidFill>
                        <a:srgbClr val="536773"/>
                      </a:solidFill>
                      <a:prstDash val="solid"/>
                    </a:lnT>
                  </a:tcPr>
                </a:tc>
                <a:tc>
                  <a:txBody>
                    <a:bodyPr/>
                    <a:lstStyle/>
                    <a:p>
                      <a:pPr marL="52069" algn="ctr">
                        <a:lnSpc>
                          <a:spcPct val="100000"/>
                        </a:lnSpc>
                        <a:spcBef>
                          <a:spcPts val="365"/>
                        </a:spcBef>
                      </a:pPr>
                      <a:r>
                        <a:rPr sz="1400" spc="-10">
                          <a:latin typeface="Arial"/>
                          <a:cs typeface="Arial"/>
                        </a:rPr>
                        <a:t>15</a:t>
                      </a:r>
                    </a:p>
                  </a:txBody>
                  <a:tcPr marL="0" marR="0" marT="46355" marB="0">
                    <a:lnT w="12700">
                      <a:solidFill>
                        <a:srgbClr val="536773"/>
                      </a:solidFill>
                      <a:prstDash val="solid"/>
                    </a:lnT>
                  </a:tcPr>
                </a:tc>
                <a:tc>
                  <a:txBody>
                    <a:bodyPr/>
                    <a:lstStyle/>
                    <a:p>
                      <a:pPr marL="52069" algn="ctr">
                        <a:lnSpc>
                          <a:spcPct val="100000"/>
                        </a:lnSpc>
                        <a:spcBef>
                          <a:spcPts val="365"/>
                        </a:spcBef>
                      </a:pPr>
                      <a:r>
                        <a:rPr sz="1400" spc="-10">
                          <a:latin typeface="Arial"/>
                          <a:cs typeface="Arial"/>
                        </a:rPr>
                        <a:t>0.028</a:t>
                      </a:r>
                    </a:p>
                  </a:txBody>
                  <a:tcPr marL="0" marR="0" marT="46355" marB="0">
                    <a:lnT w="12700">
                      <a:solidFill>
                        <a:srgbClr val="536773"/>
                      </a:solidFill>
                      <a:prstDash val="solid"/>
                    </a:lnT>
                  </a:tcPr>
                </a:tc>
                <a:extLst>
                  <a:ext uri="{0D108BD9-81ED-4DB2-BD59-A6C34878D82A}">
                    <a16:rowId xmlns:a16="http://schemas.microsoft.com/office/drawing/2014/main" val="10001"/>
                  </a:ext>
                </a:extLst>
              </a:tr>
              <a:tr h="310000">
                <a:tc>
                  <a:txBody>
                    <a:bodyPr/>
                    <a:lstStyle/>
                    <a:p>
                      <a:pPr marL="52069" algn="ctr">
                        <a:lnSpc>
                          <a:spcPct val="100000"/>
                        </a:lnSpc>
                        <a:spcBef>
                          <a:spcPts val="365"/>
                        </a:spcBef>
                      </a:pPr>
                      <a:r>
                        <a:rPr sz="1400" spc="-10">
                          <a:latin typeface="Arial"/>
                          <a:cs typeface="Arial"/>
                        </a:rPr>
                        <a:t>p + ##u</a:t>
                      </a:r>
                    </a:p>
                  </a:txBody>
                  <a:tcPr marL="0" marR="0" marT="46355" marB="0"/>
                </a:tc>
                <a:tc>
                  <a:txBody>
                    <a:bodyPr/>
                    <a:lstStyle/>
                    <a:p>
                      <a:pPr marL="52069" algn="ctr">
                        <a:lnSpc>
                          <a:spcPct val="100000"/>
                        </a:lnSpc>
                        <a:spcBef>
                          <a:spcPts val="365"/>
                        </a:spcBef>
                      </a:pPr>
                      <a:r>
                        <a:rPr sz="1400" spc="-10">
                          <a:latin typeface="Arial"/>
                          <a:cs typeface="Arial"/>
                        </a:rPr>
                        <a:t>17</a:t>
                      </a:r>
                    </a:p>
                  </a:txBody>
                  <a:tcPr marL="0" marR="0" marT="46355" marB="0"/>
                </a:tc>
                <a:tc>
                  <a:txBody>
                    <a:bodyPr/>
                    <a:lstStyle/>
                    <a:p>
                      <a:pPr marL="52069" algn="ctr">
                        <a:lnSpc>
                          <a:spcPct val="100000"/>
                        </a:lnSpc>
                        <a:spcBef>
                          <a:spcPts val="365"/>
                        </a:spcBef>
                      </a:pPr>
                      <a:r>
                        <a:rPr sz="1400" spc="-10">
                          <a:latin typeface="Arial"/>
                          <a:cs typeface="Arial"/>
                        </a:rPr>
                        <a:t>0.028</a:t>
                      </a:r>
                    </a:p>
                  </a:txBody>
                  <a:tcPr marL="0" marR="0" marT="46355" marB="0"/>
                </a:tc>
                <a:extLst>
                  <a:ext uri="{0D108BD9-81ED-4DB2-BD59-A6C34878D82A}">
                    <a16:rowId xmlns:a16="http://schemas.microsoft.com/office/drawing/2014/main" val="10002"/>
                  </a:ext>
                </a:extLst>
              </a:tr>
              <a:tr h="310000">
                <a:tc>
                  <a:txBody>
                    <a:bodyPr/>
                    <a:lstStyle/>
                    <a:p>
                      <a:pPr marL="52069" algn="ctr">
                        <a:lnSpc>
                          <a:spcPct val="100000"/>
                        </a:lnSpc>
                        <a:spcBef>
                          <a:spcPts val="365"/>
                        </a:spcBef>
                      </a:pPr>
                      <a:r>
                        <a:rPr sz="1400" spc="-10">
                          <a:latin typeface="Arial"/>
                          <a:cs typeface="Arial"/>
                        </a:rPr>
                        <a:t>b + ##u</a:t>
                      </a:r>
                    </a:p>
                  </a:txBody>
                  <a:tcPr marL="0" marR="0" marT="46355" marB="0"/>
                </a:tc>
                <a:tc>
                  <a:txBody>
                    <a:bodyPr/>
                    <a:lstStyle/>
                    <a:p>
                      <a:pPr marL="52069" algn="ctr">
                        <a:lnSpc>
                          <a:spcPct val="100000"/>
                        </a:lnSpc>
                        <a:spcBef>
                          <a:spcPts val="365"/>
                        </a:spcBef>
                      </a:pPr>
                      <a:r>
                        <a:rPr sz="1400" spc="-10">
                          <a:latin typeface="Arial"/>
                          <a:cs typeface="Arial"/>
                        </a:rPr>
                        <a:t>4</a:t>
                      </a:r>
                    </a:p>
                  </a:txBody>
                  <a:tcPr marL="0" marR="0" marT="46355" marB="0"/>
                </a:tc>
                <a:tc>
                  <a:txBody>
                    <a:bodyPr/>
                    <a:lstStyle/>
                    <a:p>
                      <a:pPr marL="52069" algn="ctr">
                        <a:lnSpc>
                          <a:spcPct val="100000"/>
                        </a:lnSpc>
                        <a:spcBef>
                          <a:spcPts val="365"/>
                        </a:spcBef>
                      </a:pPr>
                      <a:r>
                        <a:rPr sz="1400" spc="-10">
                          <a:latin typeface="Arial"/>
                          <a:cs typeface="Arial"/>
                        </a:rPr>
                        <a:t>0.028</a:t>
                      </a:r>
                    </a:p>
                  </a:txBody>
                  <a:tcPr marL="0" marR="0" marT="46355" marB="0"/>
                </a:tc>
                <a:extLst>
                  <a:ext uri="{0D108BD9-81ED-4DB2-BD59-A6C34878D82A}">
                    <a16:rowId xmlns:a16="http://schemas.microsoft.com/office/drawing/2014/main" val="10003"/>
                  </a:ext>
                </a:extLst>
              </a:tr>
              <a:tr h="310000">
                <a:tc>
                  <a:txBody>
                    <a:bodyPr/>
                    <a:lstStyle/>
                    <a:p>
                      <a:pPr marL="52069" algn="ctr">
                        <a:lnSpc>
                          <a:spcPct val="100000"/>
                        </a:lnSpc>
                        <a:spcBef>
                          <a:spcPts val="365"/>
                        </a:spcBef>
                      </a:pPr>
                      <a:r>
                        <a:rPr sz="1400" spc="-10">
                          <a:latin typeface="Arial"/>
                          <a:cs typeface="Arial"/>
                        </a:rPr>
                        <a:t>##u + ##g</a:t>
                      </a:r>
                    </a:p>
                  </a:txBody>
                  <a:tcPr marL="0" marR="0" marT="46355" marB="0"/>
                </a:tc>
                <a:tc>
                  <a:txBody>
                    <a:bodyPr/>
                    <a:lstStyle/>
                    <a:p>
                      <a:pPr marL="52069" algn="ctr">
                        <a:lnSpc>
                          <a:spcPct val="100000"/>
                        </a:lnSpc>
                        <a:spcBef>
                          <a:spcPts val="365"/>
                        </a:spcBef>
                      </a:pPr>
                      <a:r>
                        <a:rPr sz="1400" spc="-10">
                          <a:latin typeface="Arial"/>
                          <a:cs typeface="Arial"/>
                        </a:rPr>
                        <a:t>20</a:t>
                      </a:r>
                    </a:p>
                  </a:txBody>
                  <a:tcPr marL="0" marR="0" marT="46355" marB="0"/>
                </a:tc>
                <a:tc>
                  <a:txBody>
                    <a:bodyPr/>
                    <a:lstStyle/>
                    <a:p>
                      <a:pPr marL="52069" algn="ctr">
                        <a:lnSpc>
                          <a:spcPct val="100000"/>
                        </a:lnSpc>
                        <a:spcBef>
                          <a:spcPts val="365"/>
                        </a:spcBef>
                      </a:pPr>
                      <a:r>
                        <a:rPr sz="1400" spc="-10">
                          <a:latin typeface="Arial"/>
                          <a:cs typeface="Arial"/>
                        </a:rPr>
                        <a:t>0.028</a:t>
                      </a:r>
                    </a:p>
                  </a:txBody>
                  <a:tcPr marL="0" marR="0" marT="46355" marB="0"/>
                </a:tc>
                <a:extLst>
                  <a:ext uri="{0D108BD9-81ED-4DB2-BD59-A6C34878D82A}">
                    <a16:rowId xmlns:a16="http://schemas.microsoft.com/office/drawing/2014/main" val="10004"/>
                  </a:ext>
                </a:extLst>
              </a:tr>
              <a:tr h="310000">
                <a:tc>
                  <a:txBody>
                    <a:bodyPr/>
                    <a:lstStyle/>
                    <a:p>
                      <a:pPr marL="52069" algn="ctr">
                        <a:lnSpc>
                          <a:spcPct val="100000"/>
                        </a:lnSpc>
                        <a:spcBef>
                          <a:spcPts val="365"/>
                        </a:spcBef>
                      </a:pPr>
                      <a:r>
                        <a:rPr sz="1400" spc="-10">
                          <a:latin typeface="Arial"/>
                          <a:cs typeface="Arial"/>
                        </a:rPr>
                        <a:t>##u + ##n</a:t>
                      </a:r>
                    </a:p>
                  </a:txBody>
                  <a:tcPr marL="0" marR="0" marT="46355" marB="0"/>
                </a:tc>
                <a:tc>
                  <a:txBody>
                    <a:bodyPr/>
                    <a:lstStyle/>
                    <a:p>
                      <a:pPr marL="52069" algn="ctr">
                        <a:lnSpc>
                          <a:spcPct val="100000"/>
                        </a:lnSpc>
                        <a:spcBef>
                          <a:spcPts val="365"/>
                        </a:spcBef>
                      </a:pPr>
                      <a:r>
                        <a:rPr sz="1400" spc="-10">
                          <a:latin typeface="Arial"/>
                          <a:cs typeface="Arial"/>
                        </a:rPr>
                        <a:t>16</a:t>
                      </a:r>
                    </a:p>
                  </a:txBody>
                  <a:tcPr marL="0" marR="0" marT="46355" marB="0"/>
                </a:tc>
                <a:tc>
                  <a:txBody>
                    <a:bodyPr/>
                    <a:lstStyle/>
                    <a:p>
                      <a:pPr marL="52069" algn="ctr">
                        <a:lnSpc>
                          <a:spcPct val="100000"/>
                        </a:lnSpc>
                        <a:spcBef>
                          <a:spcPts val="365"/>
                        </a:spcBef>
                      </a:pPr>
                      <a:r>
                        <a:rPr sz="1400" spc="-10">
                          <a:latin typeface="Arial"/>
                          <a:cs typeface="Arial"/>
                        </a:rPr>
                        <a:t>0.028</a:t>
                      </a:r>
                    </a:p>
                  </a:txBody>
                  <a:tcPr marL="0" marR="0" marT="46355" marB="0"/>
                </a:tc>
                <a:extLst>
                  <a:ext uri="{0D108BD9-81ED-4DB2-BD59-A6C34878D82A}">
                    <a16:rowId xmlns:a16="http://schemas.microsoft.com/office/drawing/2014/main" val="10005"/>
                  </a:ext>
                </a:extLst>
              </a:tr>
              <a:tr h="310000">
                <a:tc>
                  <a:txBody>
                    <a:bodyPr/>
                    <a:lstStyle/>
                    <a:p>
                      <a:pPr marL="52069" algn="ctr">
                        <a:lnSpc>
                          <a:spcPct val="100000"/>
                        </a:lnSpc>
                        <a:spcBef>
                          <a:spcPts val="365"/>
                        </a:spcBef>
                      </a:pPr>
                      <a:r>
                        <a:rPr sz="1400" spc="-10">
                          <a:latin typeface="Arial"/>
                          <a:cs typeface="Arial"/>
                        </a:rPr>
                        <a:t>##g + ##s</a:t>
                      </a:r>
                    </a:p>
                  </a:txBody>
                  <a:tcPr marL="0" marR="0" marT="46355" marB="0">
                    <a:solidFill>
                      <a:srgbClr val="FFD932">
                        <a:alpha val="60000"/>
                      </a:srgbClr>
                    </a:solidFill>
                  </a:tcPr>
                </a:tc>
                <a:tc>
                  <a:txBody>
                    <a:bodyPr/>
                    <a:lstStyle/>
                    <a:p>
                      <a:pPr marL="52069" algn="ctr">
                        <a:lnSpc>
                          <a:spcPct val="100000"/>
                        </a:lnSpc>
                        <a:spcBef>
                          <a:spcPts val="365"/>
                        </a:spcBef>
                      </a:pPr>
                      <a:r>
                        <a:rPr sz="1400" spc="-10">
                          <a:latin typeface="Arial"/>
                          <a:cs typeface="Arial"/>
                        </a:rPr>
                        <a:t>5</a:t>
                      </a:r>
                    </a:p>
                  </a:txBody>
                  <a:tcPr marL="0" marR="0" marT="46355" marB="0">
                    <a:solidFill>
                      <a:srgbClr val="FFD932">
                        <a:alpha val="60000"/>
                      </a:srgbClr>
                    </a:solidFill>
                  </a:tcPr>
                </a:tc>
                <a:tc>
                  <a:txBody>
                    <a:bodyPr/>
                    <a:lstStyle/>
                    <a:p>
                      <a:pPr marL="52069" algn="ctr">
                        <a:lnSpc>
                          <a:spcPct val="100000"/>
                        </a:lnSpc>
                        <a:spcBef>
                          <a:spcPts val="365"/>
                        </a:spcBef>
                      </a:pPr>
                      <a:r>
                        <a:rPr sz="1400" spc="-10">
                          <a:latin typeface="Arial"/>
                          <a:cs typeface="Arial"/>
                        </a:rPr>
                        <a:t>0.050</a:t>
                      </a:r>
                    </a:p>
                  </a:txBody>
                  <a:tcPr marL="0" marR="0" marT="46355" marB="0">
                    <a:solidFill>
                      <a:srgbClr val="FFD932">
                        <a:alpha val="60000"/>
                      </a:srgbClr>
                    </a:solidFill>
                  </a:tcPr>
                </a:tc>
                <a:extLst>
                  <a:ext uri="{0D108BD9-81ED-4DB2-BD59-A6C34878D82A}">
                    <a16:rowId xmlns:a16="http://schemas.microsoft.com/office/drawing/2014/main" val="10006"/>
                  </a:ext>
                </a:extLst>
              </a:tr>
            </a:tbl>
          </a:graphicData>
        </a:graphic>
      </p:graphicFrame>
      <p:sp>
        <p:nvSpPr>
          <p:cNvPr id="13" name="object 13"/>
          <p:cNvSpPr txBox="1"/>
          <p:nvPr/>
        </p:nvSpPr>
        <p:spPr>
          <a:xfrm>
            <a:off x="5356729" y="4877933"/>
            <a:ext cx="4700000" cy="285976"/>
          </a:xfrm>
          <a:prstGeom prst="rect">
            <a:avLst/>
          </a:prstGeom>
        </p:spPr>
        <p:txBody>
          <a:bodyPr vert="horz" wrap="square" lIns="0" tIns="39370" rIns="0" bIns="0" rtlCol="0" anchor="t">
            <a:spAutoFit/>
          </a:bodyPr>
          <a:lstStyle/>
          <a:p>
            <a:pPr marL="12700">
              <a:lnSpc>
                <a:spcPct val="100000"/>
              </a:lnSpc>
              <a:spcBef>
                <a:spcPts val="55"/>
              </a:spcBef>
            </a:pPr>
            <a:r>
              <a:rPr sz="1600" spc="-10">
                <a:latin typeface="Arial"/>
                <a:cs typeface="Arial"/>
              </a:rPr>
              <a:t>Highest score: ##g + ##s (0.050)</a:t>
            </a:r>
            <a:endParaRPr sz="1600" spc="-10">
              <a:solidFill>
                <a:srgbClr val="000000"/>
              </a:solidFill>
              <a:latin typeface="Arial"/>
              <a:cs typeface="Arial"/>
            </a:endParaRPr>
          </a:p>
        </p:txBody>
      </p:sp>
      <p:sp>
        <p:nvSpPr>
          <p:cNvPr id="14" name="object 14"/>
          <p:cNvSpPr txBox="1"/>
          <p:nvPr/>
        </p:nvSpPr>
        <p:spPr>
          <a:xfrm>
            <a:off x="5356729" y="5589858"/>
            <a:ext cx="4700000" cy="545021"/>
          </a:xfrm>
          <a:prstGeom prst="rect">
            <a:avLst/>
          </a:prstGeom>
        </p:spPr>
        <p:txBody>
          <a:bodyPr vert="horz" wrap="square" lIns="0" tIns="39370" rIns="0" bIns="0" rtlCol="0" anchor="t">
            <a:spAutoFit/>
          </a:bodyPr>
          <a:lstStyle/>
          <a:p>
            <a:pPr marL="12700">
              <a:lnSpc>
                <a:spcPct val="100000"/>
              </a:lnSpc>
              <a:spcBef>
                <a:spcPts val="55"/>
              </a:spcBef>
            </a:pPr>
            <a:r>
              <a:rPr sz="1600" spc="-10">
                <a:latin typeface="Arial"/>
                <a:cs typeface="Arial"/>
              </a:rPr>
              <a:t>All ##u pairs: 1/36 ≈ 0.028 (##u </a:t>
            </a:r>
            <a:r>
              <a:rPr sz="1600" spc="-10" err="1">
                <a:latin typeface="Arial"/>
                <a:cs typeface="Arial"/>
              </a:rPr>
              <a:t>freq=36).</a:t>
            </a:r>
            <a:r>
              <a:rPr sz="1600" spc="-10">
                <a:latin typeface="Arial"/>
                <a:cs typeface="Arial"/>
              </a:rPr>
              <a:t>
##g+##s has no ##u → 5/(20×5) = 0.050</a:t>
            </a:r>
          </a:p>
        </p:txBody>
      </p:sp>
      <p:sp>
        <p:nvSpPr>
          <p:cNvPr id="7" name="object 13">
            <a:extLst>
              <a:ext uri="{FF2B5EF4-FFF2-40B4-BE49-F238E27FC236}">
                <a16:creationId xmlns:a16="http://schemas.microsoft.com/office/drawing/2014/main" id="{81325AAB-14F0-E8D3-B67B-282CEBE2A685}"/>
              </a:ext>
            </a:extLst>
          </p:cNvPr>
          <p:cNvSpPr txBox="1"/>
          <p:nvPr/>
        </p:nvSpPr>
        <p:spPr>
          <a:xfrm>
            <a:off x="5143496" y="1643142"/>
            <a:ext cx="4700000" cy="305212"/>
          </a:xfrm>
          <a:prstGeom prst="rect">
            <a:avLst/>
          </a:prstGeom>
        </p:spPr>
        <p:txBody>
          <a:bodyPr vert="horz" wrap="square" lIns="0" tIns="39370" rIns="0" bIns="0" rtlCol="0" anchor="t">
            <a:spAutoFit/>
          </a:bodyPr>
          <a:lstStyle/>
          <a:p>
            <a:pPr marL="12700">
              <a:lnSpc>
                <a:spcPct val="110000"/>
              </a:lnSpc>
              <a:spcBef>
                <a:spcPts val="55"/>
              </a:spcBef>
            </a:pPr>
            <a:r>
              <a:rPr sz="1700" spc="-10">
                <a:latin typeface="Arial"/>
                <a:cs typeface="Arial"/>
              </a:rPr>
              <a:t>𝒱 = {b, h, p, ##g, ##n, ##s, ##u}</a:t>
            </a:r>
            <a:endParaRPr sz="1700" spc="-10">
              <a:solidFill>
                <a:srgbClr val="000000"/>
              </a:solidFill>
              <a:latin typeface="Arial"/>
              <a:cs typeface="Arial"/>
            </a:endParaRPr>
          </a:p>
        </p:txBody>
      </p:sp>
    </p:spTree>
    <p:extLst>
      <p:ext uri="{BB962C8B-B14F-4D97-AF65-F5344CB8AC3E}">
        <p14:creationId xmlns:p14="http://schemas.microsoft.com/office/powerpoint/2010/main" val="336443235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txBox="1">
            <a:spLocks noGrp="1"/>
          </p:cNvSpPr>
          <p:nvPr>
            <p:ph type="sldNum" sz="quarter" idx="7"/>
          </p:nvPr>
        </p:nvSpPr>
        <p:spPr>
          <a:prstGeom prst="rect">
            <a:avLst/>
          </a:prstGeom>
        </p:spPr>
        <p:txBody>
          <a:bodyPr vert="horz" wrap="square" lIns="0" tIns="6985" rIns="0" bIns="0" rtlCol="0">
            <a:spAutoFit/>
          </a:bodyPr>
          <a:lstStyle/>
          <a:p>
            <a:pPr marL="38100">
              <a:lnSpc>
                <a:spcPct val="100000"/>
              </a:lnSpc>
              <a:spcBef>
                <a:spcPts val="55"/>
              </a:spcBef>
            </a:pPr>
            <a:fld id="{81D60167-4931-47E6-BA6A-407CBD079E47}" type="slidenum">
              <a:rPr spc="-25" dirty="0"/>
              <a:t>29</a:t>
            </a:fld>
            <a:endParaRPr spc="-25"/>
          </a:p>
        </p:txBody>
      </p:sp>
      <p:sp>
        <p:nvSpPr>
          <p:cNvPr id="5" name="object 5"/>
          <p:cNvSpPr txBox="1"/>
          <p:nvPr/>
        </p:nvSpPr>
        <p:spPr>
          <a:xfrm>
            <a:off x="5562139" y="7457345"/>
            <a:ext cx="4424680" cy="174625"/>
          </a:xfrm>
          <a:prstGeom prst="rect">
            <a:avLst/>
          </a:prstGeom>
        </p:spPr>
        <p:txBody>
          <a:bodyPr vert="horz" wrap="square" lIns="0" tIns="6985" rIns="0" bIns="0" rtlCol="0">
            <a:spAutoFit/>
          </a:bodyPr>
          <a:lstStyle/>
          <a:p>
            <a:pPr marL="12700">
              <a:lnSpc>
                <a:spcPct val="100000"/>
              </a:lnSpc>
              <a:spcBef>
                <a:spcPts val="55"/>
              </a:spcBef>
            </a:pPr>
            <a:r>
              <a:rPr sz="1000">
                <a:latin typeface="Arial"/>
                <a:cs typeface="Arial"/>
              </a:rPr>
              <a:t>Example from: </a:t>
            </a:r>
            <a:r>
              <a:rPr sz="1000" u="sng" spc="-10">
                <a:uFill>
                  <a:solidFill>
                    <a:srgbClr val="000000"/>
                  </a:solidFill>
                </a:uFill>
                <a:latin typeface="Arial"/>
                <a:cs typeface="Arial"/>
              </a:rPr>
              <a:t>https://huggingface.co/docs/transformers/tokenizer_summary</a:t>
            </a:r>
          </a:p>
        </p:txBody>
      </p:sp>
      <p:sp>
        <p:nvSpPr>
          <p:cNvPr id="3" name="object 3" descr="$PPTXTitle"/>
          <p:cNvSpPr txBox="1">
            <a:spLocks noGrp="1"/>
          </p:cNvSpPr>
          <p:nvPr>
            <p:ph type="title"/>
          </p:nvPr>
        </p:nvSpPr>
        <p:spPr>
          <a:xfrm>
            <a:off x="566836" y="395062"/>
            <a:ext cx="8842375" cy="797216"/>
          </a:xfrm>
          <a:prstGeom prst="rect">
            <a:avLst/>
          </a:prstGeom>
        </p:spPr>
        <p:txBody>
          <a:bodyPr vert="horz" wrap="square" lIns="0" tIns="88466" rIns="0" bIns="0" rtlCol="0" anchor="t">
            <a:spAutoFit/>
          </a:bodyPr>
          <a:lstStyle/>
          <a:p>
            <a:pPr marL="12700">
              <a:lnSpc>
                <a:spcPct val="100000"/>
              </a:lnSpc>
              <a:spcBef>
                <a:spcPts val="95"/>
              </a:spcBef>
            </a:pPr>
            <a:r>
              <a:rPr lang="en-US" spc="-125" err="1"/>
              <a:t>Wordpiece</a:t>
            </a:r>
          </a:p>
        </p:txBody>
      </p:sp>
      <p:sp>
        <p:nvSpPr>
          <p:cNvPr id="99" name="yellow_highlight_99"/>
          <p:cNvSpPr txBox="1"/>
          <p:nvPr/>
        </p:nvSpPr>
        <p:spPr>
          <a:xfrm>
            <a:off x="0" y="5126170"/>
            <a:ext cx="5142230" cy="676275"/>
          </a:xfrm>
          <a:prstGeom prst="rect">
            <a:avLst/>
          </a:prstGeom>
          <a:solidFill>
            <a:srgbClr val="FFD932">
              <a:alpha val="42759"/>
            </a:srgbClr>
          </a:solidFill>
        </p:spPr>
        <p:txBody>
          <a:bodyPr vert="horz" wrap="square" lIns="0" tIns="0" rIns="0" bIns="0" rtlCol="0">
            <a:spAutoFit/>
          </a:bodyPr>
          <a:lstStyle/>
          <a:p>
            <a:endParaRPr/>
          </a:p>
        </p:txBody>
      </p:sp>
      <mc:AlternateContent xmlns:mc="http://schemas.openxmlformats.org/markup-compatibility/2006">
        <mc:Choice xmlns:a14="http://schemas.microsoft.com/office/drawing/2010/main" Requires="a14">
          <p:sp>
            <p:nvSpPr>
              <p:cNvPr id="2" name="object 2"/>
              <p:cNvSpPr txBox="1"/>
              <p:nvPr/>
            </p:nvSpPr>
            <p:spPr>
              <a:xfrm>
                <a:off x="566836" y="2416754"/>
                <a:ext cx="4409440" cy="4916282"/>
              </a:xfrm>
              <a:prstGeom prst="rect">
                <a:avLst/>
              </a:prstGeom>
            </p:spPr>
            <p:txBody>
              <a:bodyPr vert="horz" wrap="square" lIns="0" tIns="39370" rIns="0" bIns="0" rtlCol="0" anchor="t">
                <a:spAutoFit/>
              </a:bodyPr>
              <a:lstStyle/>
              <a:p>
                <a:pPr marL="233679" marR="276860" indent="-221615">
                  <a:lnSpc>
                    <a:spcPct val="91700"/>
                  </a:lnSpc>
                  <a:spcBef>
                    <a:spcPts val="310"/>
                  </a:spcBef>
                  <a:buSzPct val="102380"/>
                  <a:buFont typeface="Arial"/>
                  <a:buChar char="•"/>
                  <a:tabLst>
                    <a:tab pos="233679" algn="l"/>
                  </a:tabLst>
                </a:pPr>
                <a:r>
                  <a:rPr sz="2100" spc="175">
                    <a:latin typeface="Cambria"/>
                    <a:cs typeface="Cambria"/>
                  </a:rPr>
                  <a:t>𝒱 ← </a:t>
                </a:r>
                <a:r>
                  <a:rPr sz="1750" spc="-10">
                    <a:latin typeface="Arial"/>
                    <a:cs typeface="Arial"/>
                  </a:rPr>
                  <a:t>All characters in the training data (as </a:t>
                </a:r>
                <a:r>
                  <a:rPr sz="1750" b="1" spc="-10">
                    <a:latin typeface="Arial"/>
                    <a:cs typeface="Arial"/>
                  </a:rPr>
                  <a:t>tokens</a:t>
                </a:r>
                <a:r>
                  <a:rPr sz="1750" spc="-10">
                    <a:latin typeface="Arial"/>
                    <a:cs typeface="Arial"/>
                  </a:rPr>
                  <a:t>)</a:t>
                </a:r>
                <a:endParaRPr sz="1750">
                  <a:latin typeface="Arial"/>
                  <a:cs typeface="Arial"/>
                </a:endParaRPr>
              </a:p>
              <a:p>
                <a:pPr marL="233679" marR="276860" indent="-221615">
                  <a:lnSpc>
                    <a:spcPct val="91700"/>
                  </a:lnSpc>
                  <a:spcBef>
                    <a:spcPts val="1295"/>
                  </a:spcBef>
                  <a:buSzPct val="102380"/>
                  <a:buFont typeface="Arial"/>
                  <a:buChar char="•"/>
                  <a:tabLst>
                    <a:tab pos="233679" algn="l"/>
                  </a:tabLst>
                </a:pPr>
                <a:r>
                  <a:rPr sz="1750" spc="-10">
                    <a:latin typeface="Arial"/>
                    <a:cs typeface="Arial"/>
                  </a:rPr>
                  <a:t>For </a:t>
                </a:r>
                <a:r>
                  <a:rPr sz="2100" i="1" spc="-10" err="1">
                    <a:latin typeface="Times New Roman"/>
                    <a:cs typeface="Times New Roman"/>
                  </a:rPr>
                  <a:t>k</a:t>
                </a:r>
                <a:r>
                  <a:rPr sz="1750" spc="-10">
                    <a:latin typeface="Arial"/>
                    <a:cs typeface="Arial"/>
                  </a:rPr>
                  <a:t> steps:</a:t>
                </a:r>
                <a:endParaRPr sz="1750">
                  <a:latin typeface="Arial"/>
                  <a:cs typeface="Arial"/>
                </a:endParaRPr>
              </a:p>
              <a:p>
                <a:pPr marL="528320" marR="5080" lvl="1" indent="-221615">
                  <a:lnSpc>
                    <a:spcPct val="89300"/>
                  </a:lnSpc>
                  <a:spcBef>
                    <a:spcPts val="1845"/>
                  </a:spcBef>
                  <a:buSzPct val="122857"/>
                  <a:buChar char="-"/>
                  <a:tabLst>
                    <a:tab pos="528320" algn="l"/>
                  </a:tabLst>
                </a:pPr>
                <a:r>
                  <a:rPr sz="1750" spc="-10">
                    <a:latin typeface="Arial"/>
                    <a:cs typeface="Arial"/>
                  </a:rPr>
                  <a:t>Identify all possible pairs </a:t>
                </a:r>
                <a:r>
                  <a:rPr sz="2100" spc="175">
                    <a:latin typeface="Cambria"/>
                    <a:cs typeface="Cambria"/>
                  </a:rPr>
                  <a:t>⟨</a:t>
                </a:r>
                <a:r>
                  <a:rPr sz="2100" i="1" spc="-10" err="1">
                    <a:latin typeface="Times New Roman"/>
                    <a:cs typeface="Times New Roman"/>
                  </a:rPr>
                  <a:t>l</a:t>
                </a:r>
                <a:r>
                  <a:rPr sz="2100" spc="175">
                    <a:latin typeface="Cambria"/>
                    <a:cs typeface="Cambria"/>
                  </a:rPr>
                  <a:t>, </a:t>
                </a:r>
                <a:r>
                  <a:rPr sz="2100" i="1" spc="-10" err="1">
                    <a:latin typeface="Times New Roman"/>
                    <a:cs typeface="Times New Roman"/>
                  </a:rPr>
                  <a:t>r</a:t>
                </a:r>
                <a:r>
                  <a:rPr sz="2100" spc="175">
                    <a:latin typeface="Cambria"/>
                    <a:cs typeface="Cambria"/>
                  </a:rPr>
                  <a:t>⟩</a:t>
                </a:r>
                <a:r>
                  <a:rPr sz="1750" spc="-10">
                    <a:latin typeface="Arial"/>
                    <a:cs typeface="Arial"/>
                  </a:rPr>
                  <a:t> from the current vocabulary</a:t>
                </a:r>
                <a:endParaRPr sz="1750">
                  <a:latin typeface="Arial"/>
                  <a:cs typeface="Arial"/>
                </a:endParaRPr>
              </a:p>
              <a:p>
                <a:pPr marL="528320" marR="5080" lvl="1" indent="-221615">
                  <a:lnSpc>
                    <a:spcPct val="89300"/>
                  </a:lnSpc>
                  <a:spcBef>
                    <a:spcPts val="1845"/>
                  </a:spcBef>
                  <a:buSzPct val="122857"/>
                  <a:buChar char="-"/>
                  <a:tabLst>
                    <a:tab pos="528320" algn="l"/>
                  </a:tabLst>
                </a:pPr>
                <a:r>
                  <a:rPr sz="1750" spc="-10">
                    <a:latin typeface="Arial"/>
                    <a:cs typeface="Arial"/>
                  </a:rPr>
                  <a:t>Calculate a </a:t>
                </a:r>
                <a:r>
                  <a:rPr sz="1750" b="1" spc="-10">
                    <a:latin typeface="Arial"/>
                    <a:cs typeface="Arial"/>
                  </a:rPr>
                  <a:t>Score</a:t>
                </a:r>
                <a:r>
                  <a:rPr sz="1750" spc="-10">
                    <a:latin typeface="Arial"/>
                    <a:cs typeface="Arial"/>
                  </a:rPr>
                  <a:t> for each pair:</a:t>
                </a:r>
                <a:endParaRPr sz="1750">
                  <a:latin typeface="Arial"/>
                  <a:cs typeface="Arial"/>
                </a:endParaRPr>
              </a:p>
              <a:p>
                <a:pPr marL="760350" marR="5080" lvl="1">
                  <a:lnSpc>
                    <a:spcPct val="89300"/>
                  </a:lnSpc>
                  <a:spcBef>
                    <a:spcPts val="310"/>
                  </a:spcBef>
                  <a:buNone/>
                </a:pPr>
                <a14:m>
                  <m:oMathPara xmlns:m="http://schemas.openxmlformats.org/officeDocument/2006/math">
                    <m:oMathParaPr>
                      <m:jc m:val="left"/>
                    </m:oMathParaPr>
                    <m:oMath xmlns:m="http://schemas.openxmlformats.org/officeDocument/2006/math">
                      <m:r>
                        <m:rPr>
                          <m:sty m:val="p"/>
                        </m:rPr>
                        <a:rPr>
                          <a:latin typeface="Cambria Math" panose="02040503050406030204" pitchFamily="18" charset="0"/>
                        </a:rPr>
                        <m:t>Score</m:t>
                      </m:r>
                      <m:r>
                        <a:rPr>
                          <a:latin typeface="Cambria Math" panose="02040503050406030204" pitchFamily="18" charset="0"/>
                        </a:rPr>
                        <m:t> = </m:t>
                      </m:r>
                      <m:f>
                        <m:fPr>
                          <m:ctrlPr>
                            <a:rPr i="1">
                              <a:latin typeface="Cambria Math" panose="02040503050406030204" pitchFamily="18" charset="0"/>
                            </a:rPr>
                          </m:ctrlPr>
                        </m:fPr>
                        <m:num>
                          <m:r>
                            <m:rPr>
                              <m:sty m:val="p"/>
                            </m:rPr>
                            <a:rPr>
                              <a:latin typeface="Cambria Math" panose="02040503050406030204" pitchFamily="18" charset="0"/>
                            </a:rPr>
                            <m:t>freq</m:t>
                          </m:r>
                          <m:r>
                            <a:rPr>
                              <a:latin typeface="Cambria Math" panose="02040503050406030204" pitchFamily="18" charset="0"/>
                            </a:rPr>
                            <m:t>(</m:t>
                          </m:r>
                          <m:r>
                            <a:rPr>
                              <a:latin typeface="Cambria Math" panose="02040503050406030204" pitchFamily="18" charset="0"/>
                            </a:rPr>
                            <m:t>𝑙</m:t>
                          </m:r>
                          <m:r>
                            <a:rPr>
                              <a:latin typeface="Cambria Math" panose="02040503050406030204" pitchFamily="18" charset="0"/>
                            </a:rPr>
                            <m:t>,</m:t>
                          </m:r>
                          <m:r>
                            <a:rPr>
                              <a:latin typeface="Cambria Math" panose="02040503050406030204" pitchFamily="18" charset="0"/>
                            </a:rPr>
                            <m:t>𝑟</m:t>
                          </m:r>
                          <m:r>
                            <a:rPr>
                              <a:latin typeface="Cambria Math" panose="02040503050406030204" pitchFamily="18" charset="0"/>
                            </a:rPr>
                            <m:t>)</m:t>
                          </m:r>
                        </m:num>
                        <m:den>
                          <m:r>
                            <m:rPr>
                              <m:sty m:val="p"/>
                            </m:rPr>
                            <a:rPr>
                              <a:latin typeface="Cambria Math" panose="02040503050406030204" pitchFamily="18" charset="0"/>
                            </a:rPr>
                            <m:t>freq</m:t>
                          </m:r>
                          <m:r>
                            <a:rPr>
                              <a:latin typeface="Cambria Math" panose="02040503050406030204" pitchFamily="18" charset="0"/>
                            </a:rPr>
                            <m:t>(</m:t>
                          </m:r>
                          <m:r>
                            <a:rPr>
                              <a:latin typeface="Cambria Math" panose="02040503050406030204" pitchFamily="18" charset="0"/>
                            </a:rPr>
                            <m:t>𝑙</m:t>
                          </m:r>
                          <m:r>
                            <a:rPr>
                              <a:latin typeface="Cambria Math" panose="02040503050406030204" pitchFamily="18" charset="0"/>
                            </a:rPr>
                            <m:t>) × </m:t>
                          </m:r>
                          <m:r>
                            <m:rPr>
                              <m:sty m:val="p"/>
                            </m:rPr>
                            <a:rPr>
                              <a:latin typeface="Cambria Math" panose="02040503050406030204" pitchFamily="18" charset="0"/>
                            </a:rPr>
                            <m:t>freq</m:t>
                          </m:r>
                          <m:r>
                            <a:rPr>
                              <a:latin typeface="Cambria Math" panose="02040503050406030204" pitchFamily="18" charset="0"/>
                            </a:rPr>
                            <m:t>(</m:t>
                          </m:r>
                          <m:r>
                            <a:rPr>
                              <a:latin typeface="Cambria Math" panose="02040503050406030204" pitchFamily="18" charset="0"/>
                            </a:rPr>
                            <m:t>𝑟</m:t>
                          </m:r>
                          <m:r>
                            <a:rPr>
                              <a:latin typeface="Cambria Math" panose="02040503050406030204" pitchFamily="18" charset="0"/>
                            </a:rPr>
                            <m:t>)</m:t>
                          </m:r>
                        </m:den>
                      </m:f>
                    </m:oMath>
                  </m:oMathPara>
                </a14:m>
                <a:endParaRPr sz="1750">
                  <a:latin typeface="Arial"/>
                  <a:cs typeface="Arial"/>
                </a:endParaRPr>
              </a:p>
              <a:p>
                <a:pPr marL="528320" marR="5080" lvl="1" indent="-221615">
                  <a:lnSpc>
                    <a:spcPct val="89300"/>
                  </a:lnSpc>
                  <a:spcBef>
                    <a:spcPts val="1845"/>
                  </a:spcBef>
                  <a:buSzPct val="122857"/>
                  <a:buChar char="-"/>
                  <a:tabLst>
                    <a:tab pos="528320" algn="l"/>
                  </a:tabLst>
                </a:pPr>
                <a:r>
                  <a:rPr sz="1750" b="1" spc="-10">
                    <a:latin typeface="Arial"/>
                    <a:cs typeface="Arial"/>
                  </a:rPr>
                  <a:t>Choose the pair </a:t>
                </a:r>
                <a:r>
                  <a:rPr sz="2100" spc="175">
                    <a:latin typeface="Cambria"/>
                    <a:cs typeface="Cambria"/>
                  </a:rPr>
                  <a:t>⟨</a:t>
                </a:r>
                <a:r>
                  <a:rPr sz="2100" i="1" spc="-10" err="1">
                    <a:latin typeface="Times New Roman"/>
                    <a:cs typeface="Times New Roman"/>
                  </a:rPr>
                  <a:t>l</a:t>
                </a:r>
                <a:r>
                  <a:rPr sz="2100" spc="175">
                    <a:latin typeface="Cambria"/>
                    <a:cs typeface="Cambria"/>
                  </a:rPr>
                  <a:t>, </a:t>
                </a:r>
                <a:r>
                  <a:rPr sz="2100" i="1" spc="-10" err="1">
                    <a:latin typeface="Times New Roman"/>
                    <a:cs typeface="Times New Roman"/>
                  </a:rPr>
                  <a:t>r</a:t>
                </a:r>
                <a:r>
                  <a:rPr sz="2100" spc="175">
                    <a:latin typeface="Cambria"/>
                    <a:cs typeface="Cambria"/>
                  </a:rPr>
                  <a:t>⟩</a:t>
                </a:r>
                <a:r>
                  <a:rPr sz="1750" b="1" spc="-10">
                    <a:latin typeface="Arial"/>
                    <a:cs typeface="Arial"/>
                  </a:rPr>
                  <a:t> that maximizes this score</a:t>
                </a:r>
                <a:endParaRPr sz="1750">
                  <a:latin typeface="Arial"/>
                  <a:cs typeface="Arial"/>
                </a:endParaRPr>
              </a:p>
              <a:p>
                <a:pPr marL="528320" marR="5080" lvl="1" indent="-221615">
                  <a:lnSpc>
                    <a:spcPct val="89300"/>
                  </a:lnSpc>
                  <a:spcBef>
                    <a:spcPts val="1845"/>
                  </a:spcBef>
                  <a:buSzPct val="122857"/>
                  <a:buChar char="-"/>
                  <a:tabLst>
                    <a:tab pos="528320" algn="l"/>
                  </a:tabLst>
                </a:pPr>
                <a:r>
                  <a:rPr sz="1750" b="1" spc="-10">
                    <a:latin typeface="Arial"/>
                    <a:cs typeface="Arial"/>
                  </a:rPr>
                  <a:t>Add the pair to the vocabulary as a new token </a:t>
                </a:r>
                <a:r>
                  <a:rPr sz="2100" spc="175">
                    <a:latin typeface="Cambria"/>
                    <a:cs typeface="Cambria"/>
                  </a:rPr>
                  <a:t>𝒱 ← 𝒱 ∪ {</a:t>
                </a:r>
                <a:r>
                  <a:rPr sz="2100" i="1" spc="-10" err="1">
                    <a:latin typeface="Times New Roman"/>
                    <a:cs typeface="Times New Roman"/>
                  </a:rPr>
                  <a:t>lr</a:t>
                </a:r>
                <a:r>
                  <a:rPr sz="2100" spc="175">
                    <a:latin typeface="Cambria"/>
                    <a:cs typeface="Cambria"/>
                  </a:rPr>
                  <a:t>}</a:t>
                </a:r>
                <a:endParaRPr sz="1750">
                  <a:latin typeface="Arial"/>
                  <a:cs typeface="Arial"/>
                </a:endParaRPr>
              </a:p>
              <a:p>
                <a:pPr marL="233679" indent="-220979">
                  <a:lnSpc>
                    <a:spcPct val="100000"/>
                  </a:lnSpc>
                  <a:spcBef>
                    <a:spcPts val="1565"/>
                  </a:spcBef>
                  <a:buSzPct val="122857"/>
                  <a:buChar char="•"/>
                  <a:tabLst>
                    <a:tab pos="233679" algn="l"/>
                  </a:tabLst>
                </a:pPr>
                <a:r>
                  <a:rPr sz="1750" spc="-10">
                    <a:latin typeface="Arial"/>
                    <a:cs typeface="Arial"/>
                  </a:rPr>
                  <a:t>Return </a:t>
                </a:r>
                <a:r>
                  <a:rPr sz="2100" spc="175">
                    <a:latin typeface="Cambria"/>
                    <a:cs typeface="Cambria"/>
                  </a:rPr>
                  <a:t>𝒱</a:t>
                </a:r>
                <a:endParaRPr sz="2100">
                  <a:latin typeface="Arial"/>
                  <a:cs typeface="Arial"/>
                </a:endParaRPr>
              </a:p>
            </p:txBody>
          </p:sp>
        </mc:Choice>
        <mc:Fallback>
          <p:sp>
            <p:nvSpPr>
              <p:cNvPr id="2" name="object 2"/>
              <p:cNvSpPr txBox="1">
                <a:spLocks noRot="1" noChangeAspect="1" noMove="1" noResize="1" noEditPoints="1" noAdjustHandles="1" noChangeArrowheads="1" noChangeShapeType="1" noTextEdit="1"/>
              </p:cNvSpPr>
              <p:nvPr/>
            </p:nvSpPr>
            <p:spPr>
              <a:xfrm>
                <a:off x="566836" y="2416754"/>
                <a:ext cx="4409440" cy="4916282"/>
              </a:xfrm>
              <a:prstGeom prst="rect">
                <a:avLst/>
              </a:prstGeom>
              <a:blipFill>
                <a:blip r:embed="rId2"/>
                <a:stretch>
                  <a:fillRect l="-3320" t="-1487" b="-743"/>
                </a:stretch>
              </a:blipFill>
            </p:spPr>
            <p:txBody>
              <a:bodyPr/>
              <a:lstStyle/>
              <a:p>
                <a:r>
                  <a:rPr lang="en-US">
                    <a:noFill/>
                  </a:rPr>
                  <a:t> </a:t>
                </a:r>
              </a:p>
            </p:txBody>
          </p:sp>
        </mc:Fallback>
      </mc:AlternateContent>
      <p:sp>
        <p:nvSpPr>
          <p:cNvPr id="13" name="object 13"/>
          <p:cNvSpPr txBox="1"/>
          <p:nvPr/>
        </p:nvSpPr>
        <p:spPr>
          <a:xfrm>
            <a:off x="5028252" y="1612994"/>
            <a:ext cx="4700000" cy="646780"/>
          </a:xfrm>
          <a:prstGeom prst="rect">
            <a:avLst/>
          </a:prstGeom>
        </p:spPr>
        <p:txBody>
          <a:bodyPr vert="horz" wrap="square" lIns="0" tIns="39370" rIns="0" bIns="0" rtlCol="0" anchor="t">
            <a:spAutoFit/>
          </a:bodyPr>
          <a:lstStyle/>
          <a:p>
            <a:pPr marL="12700">
              <a:lnSpc>
                <a:spcPct val="120000"/>
              </a:lnSpc>
              <a:spcBef>
                <a:spcPts val="55"/>
              </a:spcBef>
            </a:pPr>
            <a:r>
              <a:rPr sz="1650" spc="-10">
                <a:latin typeface="Arial"/>
                <a:cs typeface="Arial"/>
              </a:rPr>
              <a:t>Best pair: ##g + ##s  (score = 0.050)</a:t>
            </a:r>
          </a:p>
          <a:p>
            <a:pPr marL="12700">
              <a:lnSpc>
                <a:spcPct val="120000"/>
              </a:lnSpc>
              <a:spcBef>
                <a:spcPts val="200"/>
              </a:spcBef>
            </a:pPr>
            <a:r>
              <a:rPr sz="1650" spc="-10">
                <a:latin typeface="Arial"/>
                <a:cs typeface="Arial"/>
              </a:rPr>
              <a:t>Merge: ##g + ##s → ##gs</a:t>
            </a:r>
          </a:p>
        </p:txBody>
      </p:sp>
      <p:sp>
        <p:nvSpPr>
          <p:cNvPr id="14" name="object 14"/>
          <p:cNvSpPr txBox="1"/>
          <p:nvPr/>
        </p:nvSpPr>
        <p:spPr>
          <a:xfrm>
            <a:off x="5028252" y="2649936"/>
            <a:ext cx="4700000" cy="600000"/>
          </a:xfrm>
          <a:prstGeom prst="rect">
            <a:avLst/>
          </a:prstGeom>
        </p:spPr>
        <p:txBody>
          <a:bodyPr vert="horz" wrap="square" lIns="0" tIns="39370" rIns="0" bIns="0" rtlCol="0" anchor="t">
            <a:spAutoFit/>
          </a:bodyPr>
          <a:lstStyle/>
          <a:p>
            <a:pPr marL="12700">
              <a:lnSpc>
                <a:spcPct val="100000"/>
              </a:lnSpc>
              <a:spcBef>
                <a:spcPts val="55"/>
              </a:spcBef>
            </a:pPr>
            <a:r>
              <a:rPr sz="1600" b="1" spc="-10">
                <a:latin typeface="Arial"/>
                <a:cs typeface="Arial"/>
              </a:rPr>
              <a:t>Updated vocabulary:</a:t>
            </a:r>
          </a:p>
        </p:txBody>
      </p:sp>
      <p:sp>
        <p:nvSpPr>
          <p:cNvPr id="16" name="object 16"/>
          <p:cNvSpPr txBox="1"/>
          <p:nvPr/>
        </p:nvSpPr>
        <p:spPr>
          <a:xfrm>
            <a:off x="5362786" y="6115821"/>
            <a:ext cx="4700000" cy="852926"/>
          </a:xfrm>
          <a:prstGeom prst="rect">
            <a:avLst/>
          </a:prstGeom>
        </p:spPr>
        <p:txBody>
          <a:bodyPr vert="horz" wrap="square" lIns="0" tIns="39370" rIns="0" bIns="0" rtlCol="0" anchor="t">
            <a:spAutoFit/>
          </a:bodyPr>
          <a:lstStyle/>
          <a:p>
            <a:pPr marL="12700">
              <a:lnSpc>
                <a:spcPct val="120000"/>
              </a:lnSpc>
              <a:spcBef>
                <a:spcPts val="55"/>
              </a:spcBef>
            </a:pPr>
            <a:r>
              <a:rPr sz="1450" spc="-10">
                <a:latin typeface="Arial"/>
                <a:cs typeface="Arial"/>
              </a:rPr>
              <a:t>Re-tokenize using longest prefix match:</a:t>
            </a:r>
          </a:p>
          <a:p>
            <a:pPr marL="12700">
              <a:lnSpc>
                <a:spcPct val="120000"/>
              </a:lnSpc>
              <a:spcBef>
                <a:spcPts val="150"/>
              </a:spcBef>
            </a:pPr>
            <a:r>
              <a:rPr sz="1450" spc="-10">
                <a:latin typeface="Arial"/>
                <a:cs typeface="Arial"/>
              </a:rPr>
              <a:t>hugs → h + ##u + ##gs  </a:t>
            </a:r>
          </a:p>
          <a:p>
            <a:pPr marL="12700">
              <a:lnSpc>
                <a:spcPct val="120000"/>
              </a:lnSpc>
              <a:spcBef>
                <a:spcPts val="150"/>
              </a:spcBef>
            </a:pPr>
            <a:r>
              <a:rPr sz="1350" spc="-10">
                <a:latin typeface="Arial"/>
                <a:cs typeface="Arial"/>
              </a:rPr>
              <a:t>(others unchanged)</a:t>
            </a:r>
          </a:p>
        </p:txBody>
      </p:sp>
      <p:graphicFrame>
        <p:nvGraphicFramePr>
          <p:cNvPr id="9" name="object 10">
            <a:extLst>
              <a:ext uri="{FF2B5EF4-FFF2-40B4-BE49-F238E27FC236}">
                <a16:creationId xmlns:a16="http://schemas.microsoft.com/office/drawing/2014/main" id="{E6F71632-D0D1-7DF7-78F1-2473A342AF4F}"/>
              </a:ext>
            </a:extLst>
          </p:cNvPr>
          <p:cNvGraphicFramePr>
            <a:graphicFrameLocks noGrp="1"/>
          </p:cNvGraphicFramePr>
          <p:nvPr>
            <p:extLst>
              <p:ext uri="{D42A27DB-BD31-4B8C-83A1-F6EECF244321}">
                <p14:modId xmlns:p14="http://schemas.microsoft.com/office/powerpoint/2010/main" val="3867225274"/>
              </p:ext>
            </p:extLst>
          </p:nvPr>
        </p:nvGraphicFramePr>
        <p:xfrm>
          <a:off x="5230487" y="3884925"/>
          <a:ext cx="4300000" cy="1860000"/>
        </p:xfrm>
        <a:graphic>
          <a:graphicData uri="http://schemas.openxmlformats.org/drawingml/2006/table">
            <a:tbl>
              <a:tblPr firstRow="1" bandRow="1">
                <a:tableStyleId>{2D5ABB26-0587-4C30-8999-92F81FD0307C}</a:tableStyleId>
              </a:tblPr>
              <a:tblGrid>
                <a:gridCol w="1500000">
                  <a:extLst>
                    <a:ext uri="{9D8B030D-6E8A-4147-A177-3AD203B41FA5}">
                      <a16:colId xmlns:a16="http://schemas.microsoft.com/office/drawing/2014/main" val="20000"/>
                    </a:ext>
                  </a:extLst>
                </a:gridCol>
                <a:gridCol w="2800000">
                  <a:extLst>
                    <a:ext uri="{9D8B030D-6E8A-4147-A177-3AD203B41FA5}">
                      <a16:colId xmlns:a16="http://schemas.microsoft.com/office/drawing/2014/main" val="20001"/>
                    </a:ext>
                  </a:extLst>
                </a:gridCol>
              </a:tblGrid>
              <a:tr h="310000">
                <a:tc>
                  <a:txBody>
                    <a:bodyPr/>
                    <a:lstStyle/>
                    <a:p>
                      <a:pPr marL="52069" algn="ctr">
                        <a:lnSpc>
                          <a:spcPct val="100000"/>
                        </a:lnSpc>
                        <a:spcBef>
                          <a:spcPts val="365"/>
                        </a:spcBef>
                      </a:pPr>
                      <a:r>
                        <a:rPr sz="1500" b="1" spc="-10">
                          <a:latin typeface="Arial"/>
                          <a:cs typeface="Arial"/>
                        </a:rPr>
                        <a:t>Word</a:t>
                      </a:r>
                    </a:p>
                  </a:txBody>
                  <a:tcPr marL="0" marR="0" marT="50165" marB="0">
                    <a:lnB w="12700">
                      <a:solidFill>
                        <a:srgbClr val="536773"/>
                      </a:solidFill>
                      <a:prstDash val="solid"/>
                    </a:lnB>
                    <a:solidFill>
                      <a:srgbClr val="56C1FF"/>
                    </a:solidFill>
                  </a:tcPr>
                </a:tc>
                <a:tc>
                  <a:txBody>
                    <a:bodyPr/>
                    <a:lstStyle/>
                    <a:p>
                      <a:pPr marL="52069" algn="ctr">
                        <a:lnSpc>
                          <a:spcPct val="100000"/>
                        </a:lnSpc>
                        <a:spcBef>
                          <a:spcPts val="365"/>
                        </a:spcBef>
                      </a:pPr>
                      <a:r>
                        <a:rPr sz="1500" b="1" spc="-10">
                          <a:latin typeface="Arial"/>
                          <a:cs typeface="Arial"/>
                        </a:rPr>
                        <a:t>Tokens</a:t>
                      </a:r>
                    </a:p>
                  </a:txBody>
                  <a:tcPr marL="0" marR="0" marT="50165" marB="0">
                    <a:lnB w="12700">
                      <a:solidFill>
                        <a:srgbClr val="536773"/>
                      </a:solidFill>
                      <a:prstDash val="solid"/>
                    </a:lnB>
                    <a:solidFill>
                      <a:srgbClr val="56C1FF"/>
                    </a:solidFill>
                  </a:tcPr>
                </a:tc>
                <a:extLst>
                  <a:ext uri="{0D108BD9-81ED-4DB2-BD59-A6C34878D82A}">
                    <a16:rowId xmlns:a16="http://schemas.microsoft.com/office/drawing/2014/main" val="10000"/>
                  </a:ext>
                </a:extLst>
              </a:tr>
              <a:tr h="310000">
                <a:tc>
                  <a:txBody>
                    <a:bodyPr/>
                    <a:lstStyle/>
                    <a:p>
                      <a:pPr marL="52069" algn="ctr">
                        <a:lnSpc>
                          <a:spcPct val="100000"/>
                        </a:lnSpc>
                        <a:spcBef>
                          <a:spcPts val="365"/>
                        </a:spcBef>
                      </a:pPr>
                      <a:r>
                        <a:rPr sz="1500" spc="-10">
                          <a:latin typeface="Arial"/>
                          <a:cs typeface="Arial"/>
                        </a:rPr>
                        <a:t>hug (×10)</a:t>
                      </a:r>
                    </a:p>
                  </a:txBody>
                  <a:tcPr marL="0" marR="0" marT="46355" marB="0">
                    <a:lnT w="12700">
                      <a:solidFill>
                        <a:srgbClr val="536773"/>
                      </a:solidFill>
                      <a:prstDash val="solid"/>
                    </a:lnT>
                  </a:tcPr>
                </a:tc>
                <a:tc>
                  <a:txBody>
                    <a:bodyPr/>
                    <a:lstStyle/>
                    <a:p>
                      <a:pPr marL="52069" algn="ctr">
                        <a:lnSpc>
                          <a:spcPct val="100000"/>
                        </a:lnSpc>
                        <a:spcBef>
                          <a:spcPts val="365"/>
                        </a:spcBef>
                      </a:pPr>
                      <a:r>
                        <a:rPr sz="1500" spc="-10">
                          <a:latin typeface="Arial"/>
                          <a:cs typeface="Arial"/>
                        </a:rPr>
                        <a:t>h + ##u + ##g</a:t>
                      </a:r>
                    </a:p>
                  </a:txBody>
                  <a:tcPr marL="0" marR="0" marT="46355" marB="0">
                    <a:lnT w="12700">
                      <a:solidFill>
                        <a:srgbClr val="536773"/>
                      </a:solidFill>
                      <a:prstDash val="solid"/>
                    </a:lnT>
                  </a:tcPr>
                </a:tc>
                <a:extLst>
                  <a:ext uri="{0D108BD9-81ED-4DB2-BD59-A6C34878D82A}">
                    <a16:rowId xmlns:a16="http://schemas.microsoft.com/office/drawing/2014/main" val="10001"/>
                  </a:ext>
                </a:extLst>
              </a:tr>
              <a:tr h="310000">
                <a:tc>
                  <a:txBody>
                    <a:bodyPr/>
                    <a:lstStyle/>
                    <a:p>
                      <a:pPr marL="52069" algn="ctr">
                        <a:lnSpc>
                          <a:spcPct val="100000"/>
                        </a:lnSpc>
                        <a:spcBef>
                          <a:spcPts val="365"/>
                        </a:spcBef>
                      </a:pPr>
                      <a:r>
                        <a:rPr sz="1500" spc="-10">
                          <a:latin typeface="Arial"/>
                          <a:cs typeface="Arial"/>
                        </a:rPr>
                        <a:t>pug (×5)</a:t>
                      </a:r>
                    </a:p>
                  </a:txBody>
                  <a:tcPr marL="0" marR="0" marT="46355" marB="0"/>
                </a:tc>
                <a:tc>
                  <a:txBody>
                    <a:bodyPr/>
                    <a:lstStyle/>
                    <a:p>
                      <a:pPr marL="52069" algn="ctr">
                        <a:lnSpc>
                          <a:spcPct val="100000"/>
                        </a:lnSpc>
                        <a:spcBef>
                          <a:spcPts val="365"/>
                        </a:spcBef>
                      </a:pPr>
                      <a:r>
                        <a:rPr sz="1500" spc="-10">
                          <a:latin typeface="Arial"/>
                          <a:cs typeface="Arial"/>
                        </a:rPr>
                        <a:t>p + ##u + ##g</a:t>
                      </a:r>
                    </a:p>
                  </a:txBody>
                  <a:tcPr marL="0" marR="0" marT="46355" marB="0"/>
                </a:tc>
                <a:extLst>
                  <a:ext uri="{0D108BD9-81ED-4DB2-BD59-A6C34878D82A}">
                    <a16:rowId xmlns:a16="http://schemas.microsoft.com/office/drawing/2014/main" val="10002"/>
                  </a:ext>
                </a:extLst>
              </a:tr>
              <a:tr h="310000">
                <a:tc>
                  <a:txBody>
                    <a:bodyPr/>
                    <a:lstStyle/>
                    <a:p>
                      <a:pPr marL="52069" algn="ctr">
                        <a:lnSpc>
                          <a:spcPct val="100000"/>
                        </a:lnSpc>
                        <a:spcBef>
                          <a:spcPts val="365"/>
                        </a:spcBef>
                      </a:pPr>
                      <a:r>
                        <a:rPr sz="1500" spc="-10">
                          <a:latin typeface="Arial"/>
                          <a:cs typeface="Arial"/>
                        </a:rPr>
                        <a:t>pun (×12)</a:t>
                      </a:r>
                    </a:p>
                  </a:txBody>
                  <a:tcPr marL="0" marR="0" marT="46355" marB="0"/>
                </a:tc>
                <a:tc>
                  <a:txBody>
                    <a:bodyPr/>
                    <a:lstStyle/>
                    <a:p>
                      <a:pPr marL="52069" algn="ctr">
                        <a:lnSpc>
                          <a:spcPct val="100000"/>
                        </a:lnSpc>
                        <a:spcBef>
                          <a:spcPts val="365"/>
                        </a:spcBef>
                      </a:pPr>
                      <a:r>
                        <a:rPr sz="1500" spc="-10">
                          <a:latin typeface="Arial"/>
                          <a:cs typeface="Arial"/>
                        </a:rPr>
                        <a:t>p + ##u + ##n</a:t>
                      </a:r>
                    </a:p>
                  </a:txBody>
                  <a:tcPr marL="0" marR="0" marT="46355" marB="0"/>
                </a:tc>
                <a:extLst>
                  <a:ext uri="{0D108BD9-81ED-4DB2-BD59-A6C34878D82A}">
                    <a16:rowId xmlns:a16="http://schemas.microsoft.com/office/drawing/2014/main" val="10003"/>
                  </a:ext>
                </a:extLst>
              </a:tr>
              <a:tr h="310000">
                <a:tc>
                  <a:txBody>
                    <a:bodyPr/>
                    <a:lstStyle/>
                    <a:p>
                      <a:pPr marL="52069" algn="ctr">
                        <a:lnSpc>
                          <a:spcPct val="100000"/>
                        </a:lnSpc>
                        <a:spcBef>
                          <a:spcPts val="365"/>
                        </a:spcBef>
                      </a:pPr>
                      <a:r>
                        <a:rPr sz="1500" spc="-10">
                          <a:latin typeface="Arial"/>
                          <a:cs typeface="Arial"/>
                        </a:rPr>
                        <a:t>bun (×4)</a:t>
                      </a:r>
                    </a:p>
                  </a:txBody>
                  <a:tcPr marL="0" marR="0" marT="46355" marB="0"/>
                </a:tc>
                <a:tc>
                  <a:txBody>
                    <a:bodyPr/>
                    <a:lstStyle/>
                    <a:p>
                      <a:pPr marL="52069" algn="ctr">
                        <a:lnSpc>
                          <a:spcPct val="100000"/>
                        </a:lnSpc>
                        <a:spcBef>
                          <a:spcPts val="365"/>
                        </a:spcBef>
                      </a:pPr>
                      <a:r>
                        <a:rPr sz="1500" spc="-10">
                          <a:latin typeface="Arial"/>
                          <a:cs typeface="Arial"/>
                        </a:rPr>
                        <a:t>b + ##u + ##n</a:t>
                      </a:r>
                    </a:p>
                  </a:txBody>
                  <a:tcPr marL="0" marR="0" marT="46355" marB="0"/>
                </a:tc>
                <a:extLst>
                  <a:ext uri="{0D108BD9-81ED-4DB2-BD59-A6C34878D82A}">
                    <a16:rowId xmlns:a16="http://schemas.microsoft.com/office/drawing/2014/main" val="10004"/>
                  </a:ext>
                </a:extLst>
              </a:tr>
              <a:tr h="310000">
                <a:tc>
                  <a:txBody>
                    <a:bodyPr/>
                    <a:lstStyle/>
                    <a:p>
                      <a:pPr marL="52069" algn="ctr">
                        <a:lnSpc>
                          <a:spcPct val="100000"/>
                        </a:lnSpc>
                        <a:spcBef>
                          <a:spcPts val="365"/>
                        </a:spcBef>
                      </a:pPr>
                      <a:r>
                        <a:rPr sz="1500" spc="-10">
                          <a:latin typeface="Arial"/>
                          <a:cs typeface="Arial"/>
                        </a:rPr>
                        <a:t>hugs (×5)</a:t>
                      </a:r>
                    </a:p>
                  </a:txBody>
                  <a:tcPr marL="0" marR="0" marT="46355" marB="0"/>
                </a:tc>
                <a:tc>
                  <a:txBody>
                    <a:bodyPr/>
                    <a:lstStyle/>
                    <a:p>
                      <a:pPr marL="51435" algn="ctr">
                        <a:lnSpc>
                          <a:spcPct val="100000"/>
                        </a:lnSpc>
                        <a:spcBef>
                          <a:spcPts val="365"/>
                        </a:spcBef>
                      </a:pPr>
                      <a:r>
                        <a:rPr sz="1500" spc="-10">
                          <a:latin typeface="Arial"/>
                          <a:cs typeface="Arial"/>
                        </a:rPr>
                        <a:t>h + ##u + ##</a:t>
                      </a:r>
                      <a:r>
                        <a:rPr lang="en-US" sz="1500" spc="-10">
                          <a:latin typeface="Arial"/>
                          <a:cs typeface="Arial"/>
                        </a:rPr>
                        <a:t>gs</a:t>
                      </a:r>
                      <a:endParaRPr sz="1500" spc="-10">
                        <a:latin typeface="Arial"/>
                        <a:cs typeface="Arial"/>
                      </a:endParaRPr>
                    </a:p>
                  </a:txBody>
                  <a:tcPr marL="0" marR="0" marT="46355" marB="0"/>
                </a:tc>
                <a:extLst>
                  <a:ext uri="{0D108BD9-81ED-4DB2-BD59-A6C34878D82A}">
                    <a16:rowId xmlns:a16="http://schemas.microsoft.com/office/drawing/2014/main" val="10005"/>
                  </a:ext>
                </a:extLst>
              </a:tr>
            </a:tbl>
          </a:graphicData>
        </a:graphic>
      </p:graphicFrame>
      <p:sp>
        <p:nvSpPr>
          <p:cNvPr id="11" name="object 13">
            <a:extLst>
              <a:ext uri="{FF2B5EF4-FFF2-40B4-BE49-F238E27FC236}">
                <a16:creationId xmlns:a16="http://schemas.microsoft.com/office/drawing/2014/main" id="{254AABFD-CA81-FAD1-A41C-29CAAEBF5C77}"/>
              </a:ext>
            </a:extLst>
          </p:cNvPr>
          <p:cNvSpPr txBox="1"/>
          <p:nvPr/>
        </p:nvSpPr>
        <p:spPr>
          <a:xfrm>
            <a:off x="5023883" y="3099788"/>
            <a:ext cx="4700000" cy="305212"/>
          </a:xfrm>
          <a:prstGeom prst="rect">
            <a:avLst/>
          </a:prstGeom>
        </p:spPr>
        <p:txBody>
          <a:bodyPr vert="horz" wrap="square" lIns="0" tIns="39370" rIns="0" bIns="0" rtlCol="0" anchor="t">
            <a:spAutoFit/>
          </a:bodyPr>
          <a:lstStyle/>
          <a:p>
            <a:pPr marL="12700">
              <a:lnSpc>
                <a:spcPct val="110000"/>
              </a:lnSpc>
              <a:spcBef>
                <a:spcPts val="55"/>
              </a:spcBef>
            </a:pPr>
            <a:r>
              <a:rPr sz="1700" spc="-10">
                <a:latin typeface="Arial"/>
                <a:cs typeface="Arial"/>
              </a:rPr>
              <a:t>𝒱 = {b, h, p, ##g, ##n, ##s, ##u</a:t>
            </a:r>
            <a:r>
              <a:rPr lang="en-US" sz="1700" spc="-10">
                <a:latin typeface="Arial"/>
                <a:cs typeface="Arial"/>
              </a:rPr>
              <a:t>, ##gs}</a:t>
            </a:r>
            <a:endParaRPr sz="1700" spc="-10">
              <a:solidFill>
                <a:srgbClr val="000000"/>
              </a:solidFill>
              <a:latin typeface="Arial"/>
              <a:cs typeface="Arial"/>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txBox="1">
            <a:spLocks noGrp="1"/>
          </p:cNvSpPr>
          <p:nvPr>
            <p:ph type="sldNum" sz="quarter" idx="7"/>
          </p:nvPr>
        </p:nvSpPr>
        <p:spPr>
          <a:prstGeom prst="rect">
            <a:avLst/>
          </a:prstGeom>
        </p:spPr>
        <p:txBody>
          <a:bodyPr vert="horz" wrap="square" lIns="0" tIns="6985" rIns="0" bIns="0" rtlCol="0">
            <a:spAutoFit/>
          </a:bodyPr>
          <a:lstStyle/>
          <a:p>
            <a:pPr marL="38100">
              <a:lnSpc>
                <a:spcPct val="100000"/>
              </a:lnSpc>
              <a:spcBef>
                <a:spcPts val="55"/>
              </a:spcBef>
            </a:pPr>
            <a:fld id="{81D60167-4931-47E6-BA6A-407CBD079E47}" type="slidenum">
              <a:rPr spc="-25" dirty="0"/>
              <a:t>30</a:t>
            </a:fld>
            <a:endParaRPr spc="-25"/>
          </a:p>
        </p:txBody>
      </p:sp>
      <p:sp>
        <p:nvSpPr>
          <p:cNvPr id="5" name="object 5"/>
          <p:cNvSpPr txBox="1"/>
          <p:nvPr/>
        </p:nvSpPr>
        <p:spPr>
          <a:xfrm>
            <a:off x="5562139" y="7457345"/>
            <a:ext cx="4424680" cy="174625"/>
          </a:xfrm>
          <a:prstGeom prst="rect">
            <a:avLst/>
          </a:prstGeom>
        </p:spPr>
        <p:txBody>
          <a:bodyPr vert="horz" wrap="square" lIns="0" tIns="6985" rIns="0" bIns="0" rtlCol="0">
            <a:spAutoFit/>
          </a:bodyPr>
          <a:lstStyle/>
          <a:p>
            <a:pPr marL="12700">
              <a:lnSpc>
                <a:spcPct val="100000"/>
              </a:lnSpc>
              <a:spcBef>
                <a:spcPts val="55"/>
              </a:spcBef>
            </a:pPr>
            <a:r>
              <a:rPr sz="1000">
                <a:latin typeface="Arial"/>
                <a:cs typeface="Arial"/>
              </a:rPr>
              <a:t>Example from: </a:t>
            </a:r>
            <a:r>
              <a:rPr sz="1000" u="sng" spc="-10">
                <a:uFill>
                  <a:solidFill>
                    <a:srgbClr val="000000"/>
                  </a:solidFill>
                </a:uFill>
                <a:latin typeface="Arial"/>
                <a:cs typeface="Arial"/>
              </a:rPr>
              <a:t>https://huggingface.co/docs/transformers/tokenizer_summary</a:t>
            </a:r>
          </a:p>
        </p:txBody>
      </p:sp>
      <p:sp>
        <p:nvSpPr>
          <p:cNvPr id="3" name="object 3" descr="$PPTXTitle"/>
          <p:cNvSpPr txBox="1">
            <a:spLocks noGrp="1"/>
          </p:cNvSpPr>
          <p:nvPr>
            <p:ph type="title"/>
          </p:nvPr>
        </p:nvSpPr>
        <p:spPr>
          <a:xfrm>
            <a:off x="566836" y="395062"/>
            <a:ext cx="8842375" cy="797216"/>
          </a:xfrm>
          <a:prstGeom prst="rect">
            <a:avLst/>
          </a:prstGeom>
        </p:spPr>
        <p:txBody>
          <a:bodyPr vert="horz" wrap="square" lIns="0" tIns="88466" rIns="0" bIns="0" rtlCol="0" anchor="t">
            <a:spAutoFit/>
          </a:bodyPr>
          <a:lstStyle/>
          <a:p>
            <a:pPr marL="12700">
              <a:lnSpc>
                <a:spcPct val="100000"/>
              </a:lnSpc>
              <a:spcBef>
                <a:spcPts val="95"/>
              </a:spcBef>
            </a:pPr>
            <a:r>
              <a:rPr lang="en-US" spc="-125" err="1"/>
              <a:t>Wordpiece</a:t>
            </a:r>
          </a:p>
        </p:txBody>
      </p:sp>
      <p:sp>
        <p:nvSpPr>
          <p:cNvPr id="99" name="yellow_highlight_99"/>
          <p:cNvSpPr txBox="1"/>
          <p:nvPr/>
        </p:nvSpPr>
        <p:spPr>
          <a:xfrm>
            <a:off x="0" y="4369826"/>
            <a:ext cx="5142230" cy="710000"/>
          </a:xfrm>
          <a:prstGeom prst="rect">
            <a:avLst/>
          </a:prstGeom>
          <a:solidFill>
            <a:srgbClr val="FFD932">
              <a:alpha val="42759"/>
            </a:srgbClr>
          </a:solidFill>
        </p:spPr>
        <p:txBody>
          <a:bodyPr vert="horz" wrap="square" lIns="0" tIns="0" rIns="0" bIns="0" rtlCol="0">
            <a:spAutoFit/>
          </a:bodyPr>
          <a:lstStyle/>
          <a:p>
            <a:endParaRPr/>
          </a:p>
        </p:txBody>
      </p:sp>
      <mc:AlternateContent xmlns:mc="http://schemas.openxmlformats.org/markup-compatibility/2006">
        <mc:Choice xmlns:a14="http://schemas.microsoft.com/office/drawing/2010/main" Requires="a14">
          <p:sp>
            <p:nvSpPr>
              <p:cNvPr id="2" name="object 2"/>
              <p:cNvSpPr txBox="1"/>
              <p:nvPr/>
            </p:nvSpPr>
            <p:spPr>
              <a:xfrm>
                <a:off x="566836" y="2416754"/>
                <a:ext cx="4409440" cy="4916282"/>
              </a:xfrm>
              <a:prstGeom prst="rect">
                <a:avLst/>
              </a:prstGeom>
            </p:spPr>
            <p:txBody>
              <a:bodyPr vert="horz" wrap="square" lIns="0" tIns="39370" rIns="0" bIns="0" rtlCol="0" anchor="t">
                <a:spAutoFit/>
              </a:bodyPr>
              <a:lstStyle/>
              <a:p>
                <a:pPr marL="233679" marR="276860" indent="-221615">
                  <a:lnSpc>
                    <a:spcPct val="91700"/>
                  </a:lnSpc>
                  <a:spcBef>
                    <a:spcPts val="310"/>
                  </a:spcBef>
                  <a:buSzPct val="102380"/>
                  <a:buFont typeface="Arial"/>
                  <a:buChar char="•"/>
                  <a:tabLst>
                    <a:tab pos="233679" algn="l"/>
                  </a:tabLst>
                </a:pPr>
                <a:r>
                  <a:rPr sz="2100" spc="175">
                    <a:latin typeface="Cambria"/>
                    <a:cs typeface="Cambria"/>
                  </a:rPr>
                  <a:t>𝒱 ← </a:t>
                </a:r>
                <a:r>
                  <a:rPr sz="1750" spc="-10">
                    <a:latin typeface="Arial"/>
                    <a:cs typeface="Arial"/>
                  </a:rPr>
                  <a:t>All characters in the training data (as </a:t>
                </a:r>
                <a:r>
                  <a:rPr sz="1750" b="1" spc="-10">
                    <a:latin typeface="Arial"/>
                    <a:cs typeface="Arial"/>
                  </a:rPr>
                  <a:t>tokens</a:t>
                </a:r>
                <a:r>
                  <a:rPr sz="1750" spc="-10">
                    <a:latin typeface="Arial"/>
                    <a:cs typeface="Arial"/>
                  </a:rPr>
                  <a:t>)</a:t>
                </a:r>
                <a:endParaRPr sz="1750">
                  <a:latin typeface="Arial"/>
                  <a:cs typeface="Arial"/>
                </a:endParaRPr>
              </a:p>
              <a:p>
                <a:pPr marL="233679" marR="276860" indent="-221615">
                  <a:lnSpc>
                    <a:spcPct val="91700"/>
                  </a:lnSpc>
                  <a:spcBef>
                    <a:spcPts val="1295"/>
                  </a:spcBef>
                  <a:buSzPct val="102380"/>
                  <a:buFont typeface="Arial"/>
                  <a:buChar char="•"/>
                  <a:tabLst>
                    <a:tab pos="233679" algn="l"/>
                  </a:tabLst>
                </a:pPr>
                <a:r>
                  <a:rPr sz="1750" spc="-10">
                    <a:latin typeface="Arial"/>
                    <a:cs typeface="Arial"/>
                  </a:rPr>
                  <a:t>For </a:t>
                </a:r>
                <a:r>
                  <a:rPr sz="2100" i="1" spc="-10" err="1">
                    <a:latin typeface="Times New Roman"/>
                    <a:cs typeface="Times New Roman"/>
                  </a:rPr>
                  <a:t>k</a:t>
                </a:r>
                <a:r>
                  <a:rPr sz="1750" spc="-10">
                    <a:latin typeface="Arial"/>
                    <a:cs typeface="Arial"/>
                  </a:rPr>
                  <a:t> steps:</a:t>
                </a:r>
                <a:endParaRPr sz="1750">
                  <a:latin typeface="Arial"/>
                  <a:cs typeface="Arial"/>
                </a:endParaRPr>
              </a:p>
              <a:p>
                <a:pPr marL="528320" marR="5080" lvl="1" indent="-221615">
                  <a:lnSpc>
                    <a:spcPct val="89300"/>
                  </a:lnSpc>
                  <a:spcBef>
                    <a:spcPts val="1845"/>
                  </a:spcBef>
                  <a:buSzPct val="122857"/>
                  <a:buChar char="-"/>
                  <a:tabLst>
                    <a:tab pos="528320" algn="l"/>
                  </a:tabLst>
                </a:pPr>
                <a:r>
                  <a:rPr sz="1750" spc="-10">
                    <a:latin typeface="Arial"/>
                    <a:cs typeface="Arial"/>
                  </a:rPr>
                  <a:t>Identify all possible pairs </a:t>
                </a:r>
                <a:r>
                  <a:rPr sz="2100" spc="175">
                    <a:latin typeface="Cambria"/>
                    <a:cs typeface="Cambria"/>
                  </a:rPr>
                  <a:t>⟨</a:t>
                </a:r>
                <a:r>
                  <a:rPr sz="2100" i="1" spc="-10" err="1">
                    <a:latin typeface="Times New Roman"/>
                    <a:cs typeface="Times New Roman"/>
                  </a:rPr>
                  <a:t>l</a:t>
                </a:r>
                <a:r>
                  <a:rPr sz="2100" spc="175">
                    <a:latin typeface="Cambria"/>
                    <a:cs typeface="Cambria"/>
                  </a:rPr>
                  <a:t>, </a:t>
                </a:r>
                <a:r>
                  <a:rPr sz="2100" i="1" spc="-10" err="1">
                    <a:latin typeface="Times New Roman"/>
                    <a:cs typeface="Times New Roman"/>
                  </a:rPr>
                  <a:t>r</a:t>
                </a:r>
                <a:r>
                  <a:rPr sz="2100" spc="175">
                    <a:latin typeface="Cambria"/>
                    <a:cs typeface="Cambria"/>
                  </a:rPr>
                  <a:t>⟩</a:t>
                </a:r>
                <a:r>
                  <a:rPr sz="1750" spc="-10">
                    <a:latin typeface="Arial"/>
                    <a:cs typeface="Arial"/>
                  </a:rPr>
                  <a:t> from the current vocabulary</a:t>
                </a:r>
                <a:endParaRPr sz="1750">
                  <a:latin typeface="Arial"/>
                  <a:cs typeface="Arial"/>
                </a:endParaRPr>
              </a:p>
              <a:p>
                <a:pPr marL="528320" marR="5080" lvl="1" indent="-221615">
                  <a:lnSpc>
                    <a:spcPct val="89300"/>
                  </a:lnSpc>
                  <a:spcBef>
                    <a:spcPts val="1845"/>
                  </a:spcBef>
                  <a:buSzPct val="122857"/>
                  <a:buChar char="-"/>
                  <a:tabLst>
                    <a:tab pos="528320" algn="l"/>
                  </a:tabLst>
                </a:pPr>
                <a:r>
                  <a:rPr sz="1750" b="1" spc="-10">
                    <a:latin typeface="Arial"/>
                    <a:cs typeface="Arial"/>
                  </a:rPr>
                  <a:t>Calculate a Score for each pair:</a:t>
                </a:r>
                <a:endParaRPr sz="1750">
                  <a:latin typeface="Arial"/>
                  <a:cs typeface="Arial"/>
                </a:endParaRPr>
              </a:p>
              <a:p>
                <a:pPr marL="760350" marR="5080" lvl="1">
                  <a:lnSpc>
                    <a:spcPct val="89300"/>
                  </a:lnSpc>
                  <a:spcBef>
                    <a:spcPts val="310"/>
                  </a:spcBef>
                  <a:buNone/>
                </a:pPr>
                <a14:m>
                  <m:oMathPara xmlns:m="http://schemas.openxmlformats.org/officeDocument/2006/math">
                    <m:oMathParaPr>
                      <m:jc m:val="left"/>
                    </m:oMathParaPr>
                    <m:oMath xmlns:m="http://schemas.openxmlformats.org/officeDocument/2006/math">
                      <m:r>
                        <a:rPr>
                          <a:latin typeface="Cambria Math" panose="02040503050406030204" pitchFamily="18" charset="0"/>
                        </a:rPr>
                        <m:t>𝐒𝐜𝐨𝐫𝐞</m:t>
                      </m:r>
                      <m:r>
                        <a:rPr>
                          <a:latin typeface="Cambria Math" panose="02040503050406030204" pitchFamily="18" charset="0"/>
                        </a:rPr>
                        <m:t> = </m:t>
                      </m:r>
                      <m:f>
                        <m:fPr>
                          <m:ctrlPr>
                            <a:rPr i="1">
                              <a:latin typeface="Cambria Math" panose="02040503050406030204" pitchFamily="18" charset="0"/>
                            </a:rPr>
                          </m:ctrlPr>
                        </m:fPr>
                        <m:num>
                          <m:r>
                            <a:rPr>
                              <a:latin typeface="Cambria Math" panose="02040503050406030204" pitchFamily="18" charset="0"/>
                            </a:rPr>
                            <m:t>𝐟𝐫𝐞𝐪</m:t>
                          </m:r>
                          <m:r>
                            <a:rPr>
                              <a:latin typeface="Cambria Math" panose="02040503050406030204" pitchFamily="18" charset="0"/>
                            </a:rPr>
                            <m:t>(</m:t>
                          </m:r>
                          <m:r>
                            <a:rPr>
                              <a:latin typeface="Cambria Math" panose="02040503050406030204" pitchFamily="18" charset="0"/>
                            </a:rPr>
                            <m:t>𝒍</m:t>
                          </m:r>
                          <m:r>
                            <a:rPr>
                              <a:latin typeface="Cambria Math" panose="02040503050406030204" pitchFamily="18" charset="0"/>
                            </a:rPr>
                            <m:t>,</m:t>
                          </m:r>
                          <m:r>
                            <a:rPr>
                              <a:latin typeface="Cambria Math" panose="02040503050406030204" pitchFamily="18" charset="0"/>
                            </a:rPr>
                            <m:t>𝒓</m:t>
                          </m:r>
                          <m:r>
                            <a:rPr>
                              <a:latin typeface="Cambria Math" panose="02040503050406030204" pitchFamily="18" charset="0"/>
                            </a:rPr>
                            <m:t>)</m:t>
                          </m:r>
                        </m:num>
                        <m:den>
                          <m:r>
                            <a:rPr>
                              <a:latin typeface="Cambria Math" panose="02040503050406030204" pitchFamily="18" charset="0"/>
                            </a:rPr>
                            <m:t>𝐟𝐫𝐞𝐪</m:t>
                          </m:r>
                          <m:r>
                            <a:rPr>
                              <a:latin typeface="Cambria Math" panose="02040503050406030204" pitchFamily="18" charset="0"/>
                            </a:rPr>
                            <m:t>(</m:t>
                          </m:r>
                          <m:r>
                            <a:rPr>
                              <a:latin typeface="Cambria Math" panose="02040503050406030204" pitchFamily="18" charset="0"/>
                            </a:rPr>
                            <m:t>𝒍</m:t>
                          </m:r>
                          <m:r>
                            <a:rPr>
                              <a:latin typeface="Cambria Math" panose="02040503050406030204" pitchFamily="18" charset="0"/>
                            </a:rPr>
                            <m:t>) × </m:t>
                          </m:r>
                          <m:r>
                            <a:rPr>
                              <a:latin typeface="Cambria Math" panose="02040503050406030204" pitchFamily="18" charset="0"/>
                            </a:rPr>
                            <m:t>𝐟𝐫𝐞𝐪</m:t>
                          </m:r>
                          <m:r>
                            <a:rPr>
                              <a:latin typeface="Cambria Math" panose="02040503050406030204" pitchFamily="18" charset="0"/>
                            </a:rPr>
                            <m:t>(</m:t>
                          </m:r>
                          <m:r>
                            <a:rPr>
                              <a:latin typeface="Cambria Math" panose="02040503050406030204" pitchFamily="18" charset="0"/>
                            </a:rPr>
                            <m:t>𝒓</m:t>
                          </m:r>
                          <m:r>
                            <a:rPr>
                              <a:latin typeface="Cambria Math" panose="02040503050406030204" pitchFamily="18" charset="0"/>
                            </a:rPr>
                            <m:t>)</m:t>
                          </m:r>
                        </m:den>
                      </m:f>
                    </m:oMath>
                  </m:oMathPara>
                </a14:m>
                <a:endParaRPr sz="1750">
                  <a:latin typeface="Arial"/>
                  <a:cs typeface="Arial"/>
                </a:endParaRPr>
              </a:p>
              <a:p>
                <a:pPr marL="528320" marR="5080" lvl="1" indent="-221615">
                  <a:lnSpc>
                    <a:spcPct val="89300"/>
                  </a:lnSpc>
                  <a:spcBef>
                    <a:spcPts val="1845"/>
                  </a:spcBef>
                  <a:buSzPct val="122857"/>
                  <a:buChar char="-"/>
                  <a:tabLst>
                    <a:tab pos="528320" algn="l"/>
                  </a:tabLst>
                </a:pPr>
                <a:r>
                  <a:rPr sz="1750" spc="-10">
                    <a:latin typeface="Arial"/>
                    <a:cs typeface="Arial"/>
                  </a:rPr>
                  <a:t>Choose the pair </a:t>
                </a:r>
                <a:r>
                  <a:rPr sz="2100" spc="175">
                    <a:latin typeface="Cambria"/>
                    <a:cs typeface="Cambria"/>
                  </a:rPr>
                  <a:t>⟨</a:t>
                </a:r>
                <a:r>
                  <a:rPr sz="2100" i="1" spc="-10" err="1">
                    <a:latin typeface="Times New Roman"/>
                    <a:cs typeface="Times New Roman"/>
                  </a:rPr>
                  <a:t>l</a:t>
                </a:r>
                <a:r>
                  <a:rPr sz="2100" spc="175">
                    <a:latin typeface="Cambria"/>
                    <a:cs typeface="Cambria"/>
                  </a:rPr>
                  <a:t>, </a:t>
                </a:r>
                <a:r>
                  <a:rPr sz="2100" i="1" spc="-10" err="1">
                    <a:latin typeface="Times New Roman"/>
                    <a:cs typeface="Times New Roman"/>
                  </a:rPr>
                  <a:t>r</a:t>
                </a:r>
                <a:r>
                  <a:rPr sz="2100" spc="175">
                    <a:latin typeface="Cambria"/>
                    <a:cs typeface="Cambria"/>
                  </a:rPr>
                  <a:t>⟩</a:t>
                </a:r>
                <a:r>
                  <a:rPr sz="1750" spc="-10">
                    <a:latin typeface="Arial"/>
                    <a:cs typeface="Arial"/>
                  </a:rPr>
                  <a:t> that maximizes this score</a:t>
                </a:r>
                <a:endParaRPr sz="1750">
                  <a:latin typeface="Arial"/>
                  <a:cs typeface="Arial"/>
                </a:endParaRPr>
              </a:p>
              <a:p>
                <a:pPr marL="528320" marR="5080" lvl="1" indent="-221615">
                  <a:lnSpc>
                    <a:spcPct val="89300"/>
                  </a:lnSpc>
                  <a:spcBef>
                    <a:spcPts val="1845"/>
                  </a:spcBef>
                  <a:buSzPct val="122857"/>
                  <a:buChar char="-"/>
                  <a:tabLst>
                    <a:tab pos="528320" algn="l"/>
                  </a:tabLst>
                </a:pPr>
                <a:r>
                  <a:rPr sz="1750" spc="-10">
                    <a:latin typeface="Arial"/>
                    <a:cs typeface="Arial"/>
                  </a:rPr>
                  <a:t>Add the pair to the vocabulary as a new token </a:t>
                </a:r>
                <a:r>
                  <a:rPr sz="2100" spc="175">
                    <a:latin typeface="Cambria"/>
                    <a:cs typeface="Cambria"/>
                  </a:rPr>
                  <a:t>𝒱 ← 𝒱 ∪ {</a:t>
                </a:r>
                <a:r>
                  <a:rPr sz="2100" i="1" spc="-10" err="1">
                    <a:latin typeface="Times New Roman"/>
                    <a:cs typeface="Times New Roman"/>
                  </a:rPr>
                  <a:t>lr</a:t>
                </a:r>
                <a:r>
                  <a:rPr sz="2100" spc="175">
                    <a:latin typeface="Cambria"/>
                    <a:cs typeface="Cambria"/>
                  </a:rPr>
                  <a:t>}</a:t>
                </a:r>
                <a:endParaRPr sz="1750">
                  <a:latin typeface="Arial"/>
                  <a:cs typeface="Arial"/>
                </a:endParaRPr>
              </a:p>
              <a:p>
                <a:pPr marL="233679" indent="-220979">
                  <a:lnSpc>
                    <a:spcPct val="100000"/>
                  </a:lnSpc>
                  <a:spcBef>
                    <a:spcPts val="1565"/>
                  </a:spcBef>
                  <a:buSzPct val="122857"/>
                  <a:buChar char="•"/>
                  <a:tabLst>
                    <a:tab pos="233679" algn="l"/>
                  </a:tabLst>
                </a:pPr>
                <a:r>
                  <a:rPr sz="1750" spc="-10">
                    <a:latin typeface="Arial"/>
                    <a:cs typeface="Arial"/>
                  </a:rPr>
                  <a:t>Return </a:t>
                </a:r>
                <a:r>
                  <a:rPr sz="2100" spc="175">
                    <a:latin typeface="Cambria"/>
                    <a:cs typeface="Cambria"/>
                  </a:rPr>
                  <a:t>𝒱</a:t>
                </a:r>
                <a:endParaRPr sz="2100">
                  <a:latin typeface="Arial"/>
                  <a:cs typeface="Arial"/>
                </a:endParaRPr>
              </a:p>
            </p:txBody>
          </p:sp>
        </mc:Choice>
        <mc:Fallback>
          <p:sp>
            <p:nvSpPr>
              <p:cNvPr id="2" name="object 2"/>
              <p:cNvSpPr txBox="1">
                <a:spLocks noRot="1" noChangeAspect="1" noMove="1" noResize="1" noEditPoints="1" noAdjustHandles="1" noChangeArrowheads="1" noChangeShapeType="1" noTextEdit="1"/>
              </p:cNvSpPr>
              <p:nvPr/>
            </p:nvSpPr>
            <p:spPr>
              <a:xfrm>
                <a:off x="566836" y="2416754"/>
                <a:ext cx="4409440" cy="4916282"/>
              </a:xfrm>
              <a:prstGeom prst="rect">
                <a:avLst/>
              </a:prstGeom>
              <a:blipFill>
                <a:blip r:embed="rId2"/>
                <a:stretch>
                  <a:fillRect l="-3320" t="-1487" r="-4011" b="-743"/>
                </a:stretch>
              </a:blipFill>
            </p:spPr>
            <p:txBody>
              <a:bodyPr/>
              <a:lstStyle/>
              <a:p>
                <a:r>
                  <a:rPr lang="en-US">
                    <a:noFill/>
                  </a:rPr>
                  <a:t> </a:t>
                </a:r>
              </a:p>
            </p:txBody>
          </p:sp>
        </mc:Fallback>
      </mc:AlternateContent>
      <p:graphicFrame>
        <p:nvGraphicFramePr>
          <p:cNvPr id="10" name="object 10"/>
          <p:cNvGraphicFramePr>
            <a:graphicFrameLocks noGrp="1"/>
          </p:cNvGraphicFramePr>
          <p:nvPr>
            <p:extLst>
              <p:ext uri="{D42A27DB-BD31-4B8C-83A1-F6EECF244321}">
                <p14:modId xmlns:p14="http://schemas.microsoft.com/office/powerpoint/2010/main" val="264448911"/>
              </p:ext>
            </p:extLst>
          </p:nvPr>
        </p:nvGraphicFramePr>
        <p:xfrm>
          <a:off x="5354470" y="2906582"/>
          <a:ext cx="3800000" cy="2170000"/>
        </p:xfrm>
        <a:graphic>
          <a:graphicData uri="http://schemas.openxmlformats.org/drawingml/2006/table">
            <a:tbl>
              <a:tblPr firstRow="1" bandRow="1">
                <a:tableStyleId>{2D5ABB26-0587-4C30-8999-92F81FD0307C}</a:tableStyleId>
              </a:tblPr>
              <a:tblGrid>
                <a:gridCol w="1400000">
                  <a:extLst>
                    <a:ext uri="{9D8B030D-6E8A-4147-A177-3AD203B41FA5}">
                      <a16:colId xmlns:a16="http://schemas.microsoft.com/office/drawing/2014/main" val="20000"/>
                    </a:ext>
                  </a:extLst>
                </a:gridCol>
                <a:gridCol w="1300000">
                  <a:extLst>
                    <a:ext uri="{9D8B030D-6E8A-4147-A177-3AD203B41FA5}">
                      <a16:colId xmlns:a16="http://schemas.microsoft.com/office/drawing/2014/main" val="20001"/>
                    </a:ext>
                  </a:extLst>
                </a:gridCol>
                <a:gridCol w="1100000">
                  <a:extLst>
                    <a:ext uri="{9D8B030D-6E8A-4147-A177-3AD203B41FA5}">
                      <a16:colId xmlns:a16="http://schemas.microsoft.com/office/drawing/2014/main" val="20002"/>
                    </a:ext>
                  </a:extLst>
                </a:gridCol>
              </a:tblGrid>
              <a:tr h="310000">
                <a:tc>
                  <a:txBody>
                    <a:bodyPr/>
                    <a:lstStyle/>
                    <a:p>
                      <a:pPr marL="52069" algn="ctr">
                        <a:lnSpc>
                          <a:spcPct val="100000"/>
                        </a:lnSpc>
                        <a:spcBef>
                          <a:spcPts val="365"/>
                        </a:spcBef>
                      </a:pPr>
                      <a:r>
                        <a:rPr sz="1400" b="1" spc="-10">
                          <a:latin typeface="Arial"/>
                          <a:cs typeface="Arial"/>
                        </a:rPr>
                        <a:t>Pair</a:t>
                      </a:r>
                    </a:p>
                  </a:txBody>
                  <a:tcPr marL="0" marR="0" marT="50165" marB="0">
                    <a:lnB w="12700">
                      <a:solidFill>
                        <a:srgbClr val="536773"/>
                      </a:solidFill>
                      <a:prstDash val="solid"/>
                    </a:lnB>
                    <a:solidFill>
                      <a:srgbClr val="56C1FF"/>
                    </a:solidFill>
                  </a:tcPr>
                </a:tc>
                <a:tc>
                  <a:txBody>
                    <a:bodyPr/>
                    <a:lstStyle/>
                    <a:p>
                      <a:pPr marL="52069" algn="ctr">
                        <a:lnSpc>
                          <a:spcPct val="100000"/>
                        </a:lnSpc>
                        <a:spcBef>
                          <a:spcPts val="365"/>
                        </a:spcBef>
                      </a:pPr>
                      <a:r>
                        <a:rPr sz="1400" b="1" spc="-10">
                          <a:latin typeface="Arial"/>
                          <a:cs typeface="Arial"/>
                        </a:rPr>
                        <a:t>Freq(pair)</a:t>
                      </a:r>
                    </a:p>
                  </a:txBody>
                  <a:tcPr marL="0" marR="0" marT="50165" marB="0">
                    <a:lnB w="12700">
                      <a:solidFill>
                        <a:srgbClr val="536773"/>
                      </a:solidFill>
                      <a:prstDash val="solid"/>
                    </a:lnB>
                    <a:solidFill>
                      <a:srgbClr val="56C1FF"/>
                    </a:solidFill>
                  </a:tcPr>
                </a:tc>
                <a:tc>
                  <a:txBody>
                    <a:bodyPr/>
                    <a:lstStyle/>
                    <a:p>
                      <a:pPr marL="52069" algn="ctr">
                        <a:lnSpc>
                          <a:spcPct val="100000"/>
                        </a:lnSpc>
                        <a:spcBef>
                          <a:spcPts val="365"/>
                        </a:spcBef>
                      </a:pPr>
                      <a:r>
                        <a:rPr sz="1400" b="1" spc="-10">
                          <a:latin typeface="Arial"/>
                          <a:cs typeface="Arial"/>
                        </a:rPr>
                        <a:t>Score</a:t>
                      </a:r>
                    </a:p>
                  </a:txBody>
                  <a:tcPr marL="0" marR="0" marT="50165" marB="0">
                    <a:lnB w="12700">
                      <a:solidFill>
                        <a:srgbClr val="536773"/>
                      </a:solidFill>
                      <a:prstDash val="solid"/>
                    </a:lnB>
                    <a:solidFill>
                      <a:srgbClr val="56C1FF"/>
                    </a:solidFill>
                  </a:tcPr>
                </a:tc>
                <a:extLst>
                  <a:ext uri="{0D108BD9-81ED-4DB2-BD59-A6C34878D82A}">
                    <a16:rowId xmlns:a16="http://schemas.microsoft.com/office/drawing/2014/main" val="10000"/>
                  </a:ext>
                </a:extLst>
              </a:tr>
              <a:tr h="310000">
                <a:tc>
                  <a:txBody>
                    <a:bodyPr/>
                    <a:lstStyle/>
                    <a:p>
                      <a:pPr marL="52069" algn="ctr">
                        <a:lnSpc>
                          <a:spcPct val="100000"/>
                        </a:lnSpc>
                        <a:spcBef>
                          <a:spcPts val="365"/>
                        </a:spcBef>
                      </a:pPr>
                      <a:r>
                        <a:rPr sz="1400" spc="-10">
                          <a:latin typeface="Arial"/>
                          <a:cs typeface="Arial"/>
                        </a:rPr>
                        <a:t>h + ##u</a:t>
                      </a:r>
                    </a:p>
                  </a:txBody>
                  <a:tcPr marL="0" marR="0" marT="46355" marB="0">
                    <a:lnT w="12700">
                      <a:solidFill>
                        <a:srgbClr val="536773"/>
                      </a:solidFill>
                      <a:prstDash val="solid"/>
                    </a:lnT>
                  </a:tcPr>
                </a:tc>
                <a:tc>
                  <a:txBody>
                    <a:bodyPr/>
                    <a:lstStyle/>
                    <a:p>
                      <a:pPr marL="52069" algn="ctr">
                        <a:lnSpc>
                          <a:spcPct val="100000"/>
                        </a:lnSpc>
                        <a:spcBef>
                          <a:spcPts val="365"/>
                        </a:spcBef>
                      </a:pPr>
                      <a:r>
                        <a:rPr sz="1400" spc="-10">
                          <a:latin typeface="Arial"/>
                          <a:cs typeface="Arial"/>
                        </a:rPr>
                        <a:t>15</a:t>
                      </a:r>
                    </a:p>
                  </a:txBody>
                  <a:tcPr marL="0" marR="0" marT="46355" marB="0">
                    <a:lnT w="12700">
                      <a:solidFill>
                        <a:srgbClr val="536773"/>
                      </a:solidFill>
                      <a:prstDash val="solid"/>
                    </a:lnT>
                  </a:tcPr>
                </a:tc>
                <a:tc>
                  <a:txBody>
                    <a:bodyPr/>
                    <a:lstStyle/>
                    <a:p>
                      <a:pPr marL="52069" algn="ctr">
                        <a:lnSpc>
                          <a:spcPct val="100000"/>
                        </a:lnSpc>
                        <a:spcBef>
                          <a:spcPts val="365"/>
                        </a:spcBef>
                      </a:pPr>
                      <a:r>
                        <a:rPr sz="1400" spc="-10">
                          <a:latin typeface="Arial"/>
                          <a:cs typeface="Arial"/>
                        </a:rPr>
                        <a:t>0.028</a:t>
                      </a:r>
                    </a:p>
                  </a:txBody>
                  <a:tcPr marL="0" marR="0" marT="46355" marB="0">
                    <a:lnT w="12700">
                      <a:solidFill>
                        <a:srgbClr val="536773"/>
                      </a:solidFill>
                      <a:prstDash val="solid"/>
                    </a:lnT>
                  </a:tcPr>
                </a:tc>
                <a:extLst>
                  <a:ext uri="{0D108BD9-81ED-4DB2-BD59-A6C34878D82A}">
                    <a16:rowId xmlns:a16="http://schemas.microsoft.com/office/drawing/2014/main" val="10001"/>
                  </a:ext>
                </a:extLst>
              </a:tr>
              <a:tr h="310000">
                <a:tc>
                  <a:txBody>
                    <a:bodyPr/>
                    <a:lstStyle/>
                    <a:p>
                      <a:pPr marL="52069" algn="ctr">
                        <a:lnSpc>
                          <a:spcPct val="100000"/>
                        </a:lnSpc>
                        <a:spcBef>
                          <a:spcPts val="365"/>
                        </a:spcBef>
                      </a:pPr>
                      <a:r>
                        <a:rPr sz="1400" spc="-10">
                          <a:latin typeface="Arial"/>
                          <a:cs typeface="Arial"/>
                        </a:rPr>
                        <a:t>p + ##u</a:t>
                      </a:r>
                    </a:p>
                  </a:txBody>
                  <a:tcPr marL="0" marR="0" marT="46355" marB="0">
                    <a:solidFill>
                      <a:srgbClr val="FFD932">
                        <a:alpha val="60000"/>
                      </a:srgbClr>
                    </a:solidFill>
                  </a:tcPr>
                </a:tc>
                <a:tc>
                  <a:txBody>
                    <a:bodyPr/>
                    <a:lstStyle/>
                    <a:p>
                      <a:pPr marL="52069" algn="ctr">
                        <a:lnSpc>
                          <a:spcPct val="100000"/>
                        </a:lnSpc>
                        <a:spcBef>
                          <a:spcPts val="365"/>
                        </a:spcBef>
                      </a:pPr>
                      <a:r>
                        <a:rPr sz="1400" spc="-10">
                          <a:latin typeface="Arial"/>
                          <a:cs typeface="Arial"/>
                        </a:rPr>
                        <a:t>17</a:t>
                      </a:r>
                    </a:p>
                  </a:txBody>
                  <a:tcPr marL="0" marR="0" marT="46355" marB="0">
                    <a:solidFill>
                      <a:srgbClr val="FFD932">
                        <a:alpha val="60000"/>
                      </a:srgbClr>
                    </a:solidFill>
                  </a:tcPr>
                </a:tc>
                <a:tc>
                  <a:txBody>
                    <a:bodyPr/>
                    <a:lstStyle/>
                    <a:p>
                      <a:pPr marL="52069" algn="ctr">
                        <a:lnSpc>
                          <a:spcPct val="100000"/>
                        </a:lnSpc>
                        <a:spcBef>
                          <a:spcPts val="365"/>
                        </a:spcBef>
                      </a:pPr>
                      <a:r>
                        <a:rPr sz="1400" spc="-10">
                          <a:latin typeface="Arial"/>
                          <a:cs typeface="Arial"/>
                        </a:rPr>
                        <a:t>0.028</a:t>
                      </a:r>
                    </a:p>
                  </a:txBody>
                  <a:tcPr marL="0" marR="0" marT="46355" marB="0">
                    <a:solidFill>
                      <a:srgbClr val="FFD932">
                        <a:alpha val="60000"/>
                      </a:srgbClr>
                    </a:solidFill>
                  </a:tcPr>
                </a:tc>
                <a:extLst>
                  <a:ext uri="{0D108BD9-81ED-4DB2-BD59-A6C34878D82A}">
                    <a16:rowId xmlns:a16="http://schemas.microsoft.com/office/drawing/2014/main" val="10002"/>
                  </a:ext>
                </a:extLst>
              </a:tr>
              <a:tr h="310000">
                <a:tc>
                  <a:txBody>
                    <a:bodyPr/>
                    <a:lstStyle/>
                    <a:p>
                      <a:pPr marL="52069" algn="ctr">
                        <a:lnSpc>
                          <a:spcPct val="100000"/>
                        </a:lnSpc>
                        <a:spcBef>
                          <a:spcPts val="365"/>
                        </a:spcBef>
                      </a:pPr>
                      <a:r>
                        <a:rPr sz="1400" spc="-10">
                          <a:latin typeface="Arial"/>
                          <a:cs typeface="Arial"/>
                        </a:rPr>
                        <a:t>b + ##u</a:t>
                      </a:r>
                    </a:p>
                  </a:txBody>
                  <a:tcPr marL="0" marR="0" marT="46355" marB="0"/>
                </a:tc>
                <a:tc>
                  <a:txBody>
                    <a:bodyPr/>
                    <a:lstStyle/>
                    <a:p>
                      <a:pPr marL="52069" algn="ctr">
                        <a:lnSpc>
                          <a:spcPct val="100000"/>
                        </a:lnSpc>
                        <a:spcBef>
                          <a:spcPts val="365"/>
                        </a:spcBef>
                      </a:pPr>
                      <a:r>
                        <a:rPr sz="1400" spc="-10">
                          <a:latin typeface="Arial"/>
                          <a:cs typeface="Arial"/>
                        </a:rPr>
                        <a:t>4</a:t>
                      </a:r>
                    </a:p>
                  </a:txBody>
                  <a:tcPr marL="0" marR="0" marT="46355" marB="0"/>
                </a:tc>
                <a:tc>
                  <a:txBody>
                    <a:bodyPr/>
                    <a:lstStyle/>
                    <a:p>
                      <a:pPr marL="52069" algn="ctr">
                        <a:lnSpc>
                          <a:spcPct val="100000"/>
                        </a:lnSpc>
                        <a:spcBef>
                          <a:spcPts val="365"/>
                        </a:spcBef>
                      </a:pPr>
                      <a:r>
                        <a:rPr sz="1400" spc="-10">
                          <a:latin typeface="Arial"/>
                          <a:cs typeface="Arial"/>
                        </a:rPr>
                        <a:t>0.028</a:t>
                      </a:r>
                    </a:p>
                  </a:txBody>
                  <a:tcPr marL="0" marR="0" marT="46355" marB="0"/>
                </a:tc>
                <a:extLst>
                  <a:ext uri="{0D108BD9-81ED-4DB2-BD59-A6C34878D82A}">
                    <a16:rowId xmlns:a16="http://schemas.microsoft.com/office/drawing/2014/main" val="10003"/>
                  </a:ext>
                </a:extLst>
              </a:tr>
              <a:tr h="310000">
                <a:tc>
                  <a:txBody>
                    <a:bodyPr/>
                    <a:lstStyle/>
                    <a:p>
                      <a:pPr marL="52069" algn="ctr">
                        <a:lnSpc>
                          <a:spcPct val="100000"/>
                        </a:lnSpc>
                        <a:spcBef>
                          <a:spcPts val="365"/>
                        </a:spcBef>
                      </a:pPr>
                      <a:r>
                        <a:rPr sz="1400" spc="-10">
                          <a:latin typeface="Arial"/>
                          <a:cs typeface="Arial"/>
                        </a:rPr>
                        <a:t>##u + ##g</a:t>
                      </a:r>
                    </a:p>
                  </a:txBody>
                  <a:tcPr marL="0" marR="0" marT="46355" marB="0"/>
                </a:tc>
                <a:tc>
                  <a:txBody>
                    <a:bodyPr/>
                    <a:lstStyle/>
                    <a:p>
                      <a:pPr marL="52069" algn="ctr">
                        <a:lnSpc>
                          <a:spcPct val="100000"/>
                        </a:lnSpc>
                        <a:spcBef>
                          <a:spcPts val="365"/>
                        </a:spcBef>
                      </a:pPr>
                      <a:r>
                        <a:rPr sz="1400" spc="-10">
                          <a:latin typeface="Arial"/>
                          <a:cs typeface="Arial"/>
                        </a:rPr>
                        <a:t>15</a:t>
                      </a:r>
                    </a:p>
                  </a:txBody>
                  <a:tcPr marL="0" marR="0" marT="46355" marB="0"/>
                </a:tc>
                <a:tc>
                  <a:txBody>
                    <a:bodyPr/>
                    <a:lstStyle/>
                    <a:p>
                      <a:pPr marL="52069" algn="ctr">
                        <a:lnSpc>
                          <a:spcPct val="100000"/>
                        </a:lnSpc>
                        <a:spcBef>
                          <a:spcPts val="365"/>
                        </a:spcBef>
                      </a:pPr>
                      <a:r>
                        <a:rPr sz="1400" spc="-10">
                          <a:latin typeface="Arial"/>
                          <a:cs typeface="Arial"/>
                        </a:rPr>
                        <a:t>0.028</a:t>
                      </a:r>
                    </a:p>
                  </a:txBody>
                  <a:tcPr marL="0" marR="0" marT="46355" marB="0"/>
                </a:tc>
                <a:extLst>
                  <a:ext uri="{0D108BD9-81ED-4DB2-BD59-A6C34878D82A}">
                    <a16:rowId xmlns:a16="http://schemas.microsoft.com/office/drawing/2014/main" val="10004"/>
                  </a:ext>
                </a:extLst>
              </a:tr>
              <a:tr h="310000">
                <a:tc>
                  <a:txBody>
                    <a:bodyPr/>
                    <a:lstStyle/>
                    <a:p>
                      <a:pPr marL="52069" algn="ctr">
                        <a:lnSpc>
                          <a:spcPct val="100000"/>
                        </a:lnSpc>
                        <a:spcBef>
                          <a:spcPts val="365"/>
                        </a:spcBef>
                      </a:pPr>
                      <a:r>
                        <a:rPr sz="1400" spc="-10">
                          <a:latin typeface="Arial"/>
                          <a:cs typeface="Arial"/>
                        </a:rPr>
                        <a:t>##u + ##n</a:t>
                      </a:r>
                    </a:p>
                  </a:txBody>
                  <a:tcPr marL="0" marR="0" marT="46355" marB="0"/>
                </a:tc>
                <a:tc>
                  <a:txBody>
                    <a:bodyPr/>
                    <a:lstStyle/>
                    <a:p>
                      <a:pPr marL="52069" algn="ctr">
                        <a:lnSpc>
                          <a:spcPct val="100000"/>
                        </a:lnSpc>
                        <a:spcBef>
                          <a:spcPts val="365"/>
                        </a:spcBef>
                      </a:pPr>
                      <a:r>
                        <a:rPr sz="1400" spc="-10">
                          <a:latin typeface="Arial"/>
                          <a:cs typeface="Arial"/>
                        </a:rPr>
                        <a:t>16</a:t>
                      </a:r>
                    </a:p>
                  </a:txBody>
                  <a:tcPr marL="0" marR="0" marT="46355" marB="0"/>
                </a:tc>
                <a:tc>
                  <a:txBody>
                    <a:bodyPr/>
                    <a:lstStyle/>
                    <a:p>
                      <a:pPr marL="52069" algn="ctr">
                        <a:lnSpc>
                          <a:spcPct val="100000"/>
                        </a:lnSpc>
                        <a:spcBef>
                          <a:spcPts val="365"/>
                        </a:spcBef>
                      </a:pPr>
                      <a:r>
                        <a:rPr sz="1400" spc="-10">
                          <a:latin typeface="Arial"/>
                          <a:cs typeface="Arial"/>
                        </a:rPr>
                        <a:t>0.028</a:t>
                      </a:r>
                    </a:p>
                  </a:txBody>
                  <a:tcPr marL="0" marR="0" marT="46355" marB="0"/>
                </a:tc>
                <a:extLst>
                  <a:ext uri="{0D108BD9-81ED-4DB2-BD59-A6C34878D82A}">
                    <a16:rowId xmlns:a16="http://schemas.microsoft.com/office/drawing/2014/main" val="10005"/>
                  </a:ext>
                </a:extLst>
              </a:tr>
              <a:tr h="310000">
                <a:tc>
                  <a:txBody>
                    <a:bodyPr/>
                    <a:lstStyle/>
                    <a:p>
                      <a:pPr marL="52069" algn="ctr">
                        <a:lnSpc>
                          <a:spcPct val="100000"/>
                        </a:lnSpc>
                        <a:spcBef>
                          <a:spcPts val="365"/>
                        </a:spcBef>
                      </a:pPr>
                      <a:r>
                        <a:rPr sz="1400" spc="-10">
                          <a:latin typeface="Arial"/>
                          <a:cs typeface="Arial"/>
                        </a:rPr>
                        <a:t>##u + ##gs</a:t>
                      </a:r>
                    </a:p>
                  </a:txBody>
                  <a:tcPr marL="0" marR="0" marT="46355" marB="0"/>
                </a:tc>
                <a:tc>
                  <a:txBody>
                    <a:bodyPr/>
                    <a:lstStyle/>
                    <a:p>
                      <a:pPr marL="52069" algn="ctr">
                        <a:lnSpc>
                          <a:spcPct val="100000"/>
                        </a:lnSpc>
                        <a:spcBef>
                          <a:spcPts val="365"/>
                        </a:spcBef>
                      </a:pPr>
                      <a:r>
                        <a:rPr sz="1400" spc="-10">
                          <a:latin typeface="Arial"/>
                          <a:cs typeface="Arial"/>
                        </a:rPr>
                        <a:t>5</a:t>
                      </a:r>
                    </a:p>
                  </a:txBody>
                  <a:tcPr marL="0" marR="0" marT="46355" marB="0"/>
                </a:tc>
                <a:tc>
                  <a:txBody>
                    <a:bodyPr/>
                    <a:lstStyle/>
                    <a:p>
                      <a:pPr marL="52069" algn="ctr">
                        <a:lnSpc>
                          <a:spcPct val="100000"/>
                        </a:lnSpc>
                        <a:spcBef>
                          <a:spcPts val="365"/>
                        </a:spcBef>
                      </a:pPr>
                      <a:r>
                        <a:rPr sz="1400" spc="-10">
                          <a:latin typeface="Arial"/>
                          <a:cs typeface="Arial"/>
                        </a:rPr>
                        <a:t>0.028</a:t>
                      </a:r>
                    </a:p>
                  </a:txBody>
                  <a:tcPr marL="0" marR="0" marT="46355" marB="0"/>
                </a:tc>
                <a:extLst>
                  <a:ext uri="{0D108BD9-81ED-4DB2-BD59-A6C34878D82A}">
                    <a16:rowId xmlns:a16="http://schemas.microsoft.com/office/drawing/2014/main" val="10006"/>
                  </a:ext>
                </a:extLst>
              </a:tr>
            </a:tbl>
          </a:graphicData>
        </a:graphic>
      </p:graphicFrame>
      <p:sp>
        <p:nvSpPr>
          <p:cNvPr id="13" name="object 13"/>
          <p:cNvSpPr txBox="1"/>
          <p:nvPr/>
        </p:nvSpPr>
        <p:spPr>
          <a:xfrm>
            <a:off x="5567471" y="5454289"/>
            <a:ext cx="4700000" cy="856901"/>
          </a:xfrm>
          <a:prstGeom prst="rect">
            <a:avLst/>
          </a:prstGeom>
        </p:spPr>
        <p:txBody>
          <a:bodyPr vert="horz" wrap="square" lIns="0" tIns="39370" rIns="0" bIns="0" rtlCol="0" anchor="t">
            <a:spAutoFit/>
          </a:bodyPr>
          <a:lstStyle/>
          <a:p>
            <a:pPr marL="12700">
              <a:lnSpc>
                <a:spcPct val="110000"/>
              </a:lnSpc>
              <a:spcBef>
                <a:spcPts val="55"/>
              </a:spcBef>
            </a:pPr>
            <a:r>
              <a:rPr sz="1600" spc="-10">
                <a:latin typeface="Arial"/>
                <a:cs typeface="Arial"/>
              </a:rPr>
              <a:t>All scores </a:t>
            </a:r>
            <a:r>
              <a:rPr lang="en-US" sz="1600" spc="-10">
                <a:latin typeface="Arial"/>
                <a:cs typeface="Arial"/>
              </a:rPr>
              <a:t>are tied.</a:t>
            </a:r>
            <a:r>
              <a:rPr sz="1600" spc="-10">
                <a:latin typeface="Arial"/>
                <a:cs typeface="Arial"/>
              </a:rPr>
              <a:t> </a:t>
            </a:r>
            <a:r>
              <a:rPr lang="en-US" sz="1600" spc="-10">
                <a:latin typeface="Arial"/>
                <a:cs typeface="Arial"/>
              </a:rPr>
              <a:t>Could break tie by </a:t>
            </a:r>
          </a:p>
          <a:p>
            <a:pPr marL="12700">
              <a:lnSpc>
                <a:spcPct val="110000"/>
              </a:lnSpc>
              <a:spcBef>
                <a:spcPts val="55"/>
              </a:spcBef>
            </a:pPr>
            <a:r>
              <a:rPr lang="en-US" sz="1600" spc="-10">
                <a:latin typeface="Arial"/>
                <a:cs typeface="Arial"/>
              </a:rPr>
              <a:t>taking the highest raw pair</a:t>
            </a:r>
            <a:r>
              <a:rPr sz="1600" spc="-10">
                <a:latin typeface="Arial"/>
                <a:cs typeface="Arial"/>
              </a:rPr>
              <a:t> frequency </a:t>
            </a:r>
            <a:endParaRPr lang="en-US" sz="1600"/>
          </a:p>
          <a:p>
            <a:pPr marL="12700">
              <a:lnSpc>
                <a:spcPct val="110000"/>
              </a:lnSpc>
              <a:spcBef>
                <a:spcPts val="55"/>
              </a:spcBef>
            </a:pPr>
            <a:r>
              <a:rPr lang="en-US" sz="1600" spc="-10">
                <a:latin typeface="Arial"/>
                <a:cs typeface="Arial"/>
              </a:rPr>
              <a:t>      </a:t>
            </a:r>
            <a:r>
              <a:rPr sz="1600" spc="-10">
                <a:latin typeface="Arial"/>
                <a:cs typeface="Arial"/>
              </a:rPr>
              <a:t>→ p + ##u (</a:t>
            </a:r>
            <a:r>
              <a:rPr sz="1600" spc="-10" err="1">
                <a:latin typeface="Arial"/>
                <a:cs typeface="Arial"/>
              </a:rPr>
              <a:t>freq</a:t>
            </a:r>
            <a:r>
              <a:rPr sz="1600" spc="-10">
                <a:latin typeface="Arial"/>
                <a:cs typeface="Arial"/>
              </a:rPr>
              <a:t>=17)</a:t>
            </a:r>
            <a:endParaRPr sz="1600"/>
          </a:p>
        </p:txBody>
      </p:sp>
      <p:sp>
        <p:nvSpPr>
          <p:cNvPr id="7" name="object 13">
            <a:extLst>
              <a:ext uri="{FF2B5EF4-FFF2-40B4-BE49-F238E27FC236}">
                <a16:creationId xmlns:a16="http://schemas.microsoft.com/office/drawing/2014/main" id="{A155AD25-4710-CF86-DD62-DD7A1C89846D}"/>
              </a:ext>
            </a:extLst>
          </p:cNvPr>
          <p:cNvSpPr txBox="1"/>
          <p:nvPr/>
        </p:nvSpPr>
        <p:spPr>
          <a:xfrm>
            <a:off x="5350101" y="2262761"/>
            <a:ext cx="4700000" cy="305212"/>
          </a:xfrm>
          <a:prstGeom prst="rect">
            <a:avLst/>
          </a:prstGeom>
        </p:spPr>
        <p:txBody>
          <a:bodyPr vert="horz" wrap="square" lIns="0" tIns="39370" rIns="0" bIns="0" rtlCol="0" anchor="t">
            <a:spAutoFit/>
          </a:bodyPr>
          <a:lstStyle/>
          <a:p>
            <a:pPr marL="12700">
              <a:lnSpc>
                <a:spcPct val="110000"/>
              </a:lnSpc>
              <a:spcBef>
                <a:spcPts val="55"/>
              </a:spcBef>
            </a:pPr>
            <a:r>
              <a:rPr sz="1700" spc="-10">
                <a:latin typeface="Arial"/>
                <a:cs typeface="Arial"/>
              </a:rPr>
              <a:t>𝒱 = {b, h, p, ##g, ##n, ##s, ##u</a:t>
            </a:r>
            <a:r>
              <a:rPr lang="en-US" sz="1700" spc="-10">
                <a:latin typeface="Arial"/>
                <a:cs typeface="Arial"/>
              </a:rPr>
              <a:t>, ##gs}</a:t>
            </a:r>
            <a:endParaRPr sz="1700" spc="-10">
              <a:solidFill>
                <a:srgbClr val="000000"/>
              </a:solidFill>
              <a:latin typeface="Arial"/>
              <a:cs typeface="Arial"/>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 name="object 3">
            <a:extLst>
              <a:ext uri="{FF2B5EF4-FFF2-40B4-BE49-F238E27FC236}">
                <a16:creationId xmlns:a16="http://schemas.microsoft.com/office/drawing/2014/main" id="{752AAEA8-9753-6C04-89A4-4792AC09ACEF}"/>
              </a:ext>
            </a:extLst>
          </p:cNvPr>
          <p:cNvSpPr txBox="1"/>
          <p:nvPr/>
        </p:nvSpPr>
        <p:spPr>
          <a:xfrm>
            <a:off x="424084" y="6878764"/>
            <a:ext cx="4413676" cy="469679"/>
          </a:xfrm>
          <a:prstGeom prst="rect">
            <a:avLst/>
          </a:prstGeom>
          <a:solidFill>
            <a:srgbClr val="FFD932">
              <a:alpha val="42759"/>
            </a:srgbClr>
          </a:solidFill>
        </p:spPr>
        <p:txBody>
          <a:bodyPr vert="horz" wrap="square" lIns="0" tIns="45719" rIns="0" bIns="0" rtlCol="0" anchor="t">
            <a:spAutoFit/>
          </a:bodyPr>
          <a:lstStyle/>
          <a:p>
            <a:pPr marL="1094740" marR="424180" indent="-221615">
              <a:lnSpc>
                <a:spcPct val="86400"/>
              </a:lnSpc>
              <a:spcBef>
                <a:spcPts val="359"/>
              </a:spcBef>
            </a:pPr>
            <a:r>
              <a:rPr sz="3200" spc="165" baseline="-3875">
                <a:latin typeface="Arial"/>
                <a:cs typeface="Arial"/>
              </a:rPr>
              <a:t>-</a:t>
            </a:r>
            <a:r>
              <a:rPr sz="3200" spc="465" baseline="-3875">
                <a:latin typeface="Arial"/>
                <a:cs typeface="Arial"/>
              </a:rPr>
              <a:t> </a:t>
            </a:r>
            <a:endParaRPr sz="3200" spc="-20">
              <a:latin typeface="Arial"/>
              <a:cs typeface="Arial"/>
            </a:endParaRPr>
          </a:p>
        </p:txBody>
      </p:sp>
      <p:sp>
        <p:nvSpPr>
          <p:cNvPr id="4" name="object 4"/>
          <p:cNvSpPr txBox="1">
            <a:spLocks noGrp="1"/>
          </p:cNvSpPr>
          <p:nvPr>
            <p:ph type="sldNum" sz="quarter" idx="7"/>
          </p:nvPr>
        </p:nvSpPr>
        <p:spPr>
          <a:prstGeom prst="rect">
            <a:avLst/>
          </a:prstGeom>
        </p:spPr>
        <p:txBody>
          <a:bodyPr vert="horz" wrap="square" lIns="0" tIns="6985" rIns="0" bIns="0" rtlCol="0">
            <a:spAutoFit/>
          </a:bodyPr>
          <a:lstStyle/>
          <a:p>
            <a:pPr marL="38100">
              <a:lnSpc>
                <a:spcPct val="100000"/>
              </a:lnSpc>
              <a:spcBef>
                <a:spcPts val="55"/>
              </a:spcBef>
            </a:pPr>
            <a:fld id="{81D60167-4931-47E6-BA6A-407CBD079E47}" type="slidenum">
              <a:rPr spc="-25" dirty="0"/>
              <a:t>31</a:t>
            </a:fld>
            <a:endParaRPr spc="-25"/>
          </a:p>
        </p:txBody>
      </p:sp>
      <p:sp>
        <p:nvSpPr>
          <p:cNvPr id="5" name="object 5"/>
          <p:cNvSpPr txBox="1"/>
          <p:nvPr/>
        </p:nvSpPr>
        <p:spPr>
          <a:xfrm>
            <a:off x="5562139" y="7457345"/>
            <a:ext cx="4424680" cy="174625"/>
          </a:xfrm>
          <a:prstGeom prst="rect">
            <a:avLst/>
          </a:prstGeom>
        </p:spPr>
        <p:txBody>
          <a:bodyPr vert="horz" wrap="square" lIns="0" tIns="6985" rIns="0" bIns="0" rtlCol="0">
            <a:spAutoFit/>
          </a:bodyPr>
          <a:lstStyle/>
          <a:p>
            <a:pPr marL="12700">
              <a:lnSpc>
                <a:spcPct val="100000"/>
              </a:lnSpc>
              <a:spcBef>
                <a:spcPts val="55"/>
              </a:spcBef>
            </a:pPr>
            <a:r>
              <a:rPr sz="1000">
                <a:latin typeface="Arial"/>
                <a:cs typeface="Arial"/>
              </a:rPr>
              <a:t>Example from: </a:t>
            </a:r>
            <a:r>
              <a:rPr sz="1000" u="sng" spc="-10">
                <a:uFill>
                  <a:solidFill>
                    <a:srgbClr val="000000"/>
                  </a:solidFill>
                </a:uFill>
                <a:latin typeface="Arial"/>
                <a:cs typeface="Arial"/>
              </a:rPr>
              <a:t>https://huggingface.co/docs/transformers/tokenizer_summary</a:t>
            </a:r>
          </a:p>
        </p:txBody>
      </p:sp>
      <p:sp>
        <p:nvSpPr>
          <p:cNvPr id="3" name="object 3" descr="$PPTXTitle"/>
          <p:cNvSpPr txBox="1">
            <a:spLocks noGrp="1"/>
          </p:cNvSpPr>
          <p:nvPr>
            <p:ph type="title"/>
          </p:nvPr>
        </p:nvSpPr>
        <p:spPr>
          <a:xfrm>
            <a:off x="566836" y="395062"/>
            <a:ext cx="8842375" cy="797216"/>
          </a:xfrm>
          <a:prstGeom prst="rect">
            <a:avLst/>
          </a:prstGeom>
        </p:spPr>
        <p:txBody>
          <a:bodyPr vert="horz" wrap="square" lIns="0" tIns="88466" rIns="0" bIns="0" rtlCol="0" anchor="t">
            <a:spAutoFit/>
          </a:bodyPr>
          <a:lstStyle/>
          <a:p>
            <a:pPr marL="12700">
              <a:lnSpc>
                <a:spcPct val="100000"/>
              </a:lnSpc>
              <a:spcBef>
                <a:spcPts val="95"/>
              </a:spcBef>
            </a:pPr>
            <a:r>
              <a:rPr lang="en-US" spc="-125" err="1"/>
              <a:t>Wordpiece</a:t>
            </a:r>
          </a:p>
        </p:txBody>
      </p:sp>
      <mc:AlternateContent xmlns:mc="http://schemas.openxmlformats.org/markup-compatibility/2006">
        <mc:Choice xmlns:a14="http://schemas.microsoft.com/office/drawing/2010/main" Requires="a14">
          <p:sp>
            <p:nvSpPr>
              <p:cNvPr id="2" name="object 2"/>
              <p:cNvSpPr txBox="1"/>
              <p:nvPr/>
            </p:nvSpPr>
            <p:spPr>
              <a:xfrm>
                <a:off x="566836" y="2416754"/>
                <a:ext cx="4409440" cy="4916282"/>
              </a:xfrm>
              <a:prstGeom prst="rect">
                <a:avLst/>
              </a:prstGeom>
            </p:spPr>
            <p:txBody>
              <a:bodyPr vert="horz" wrap="square" lIns="0" tIns="39370" rIns="0" bIns="0" rtlCol="0" anchor="t">
                <a:spAutoFit/>
              </a:bodyPr>
              <a:lstStyle/>
              <a:p>
                <a:pPr marL="233679" marR="276860" indent="-221615">
                  <a:lnSpc>
                    <a:spcPct val="91700"/>
                  </a:lnSpc>
                  <a:spcBef>
                    <a:spcPts val="310"/>
                  </a:spcBef>
                  <a:buSzPct val="102380"/>
                  <a:buFont typeface="Arial"/>
                  <a:buChar char="•"/>
                  <a:tabLst>
                    <a:tab pos="233679" algn="l"/>
                  </a:tabLst>
                </a:pPr>
                <a:r>
                  <a:rPr sz="2100" spc="175">
                    <a:latin typeface="Cambria"/>
                    <a:cs typeface="Cambria"/>
                  </a:rPr>
                  <a:t>𝒱 ← </a:t>
                </a:r>
                <a:r>
                  <a:rPr sz="1750" spc="-10">
                    <a:latin typeface="Arial"/>
                    <a:cs typeface="Arial"/>
                  </a:rPr>
                  <a:t>All characters in the training data (as </a:t>
                </a:r>
                <a:r>
                  <a:rPr sz="1750" b="1" spc="-10">
                    <a:latin typeface="Arial"/>
                    <a:cs typeface="Arial"/>
                  </a:rPr>
                  <a:t>tokens</a:t>
                </a:r>
                <a:r>
                  <a:rPr sz="1750" spc="-10">
                    <a:latin typeface="Arial"/>
                    <a:cs typeface="Arial"/>
                  </a:rPr>
                  <a:t>)</a:t>
                </a:r>
                <a:endParaRPr sz="1750">
                  <a:latin typeface="Arial"/>
                  <a:cs typeface="Arial"/>
                </a:endParaRPr>
              </a:p>
              <a:p>
                <a:pPr marL="233679" marR="276860" indent="-221615">
                  <a:lnSpc>
                    <a:spcPct val="91700"/>
                  </a:lnSpc>
                  <a:spcBef>
                    <a:spcPts val="1295"/>
                  </a:spcBef>
                  <a:buSzPct val="102380"/>
                  <a:buFont typeface="Arial"/>
                  <a:buChar char="•"/>
                  <a:tabLst>
                    <a:tab pos="233679" algn="l"/>
                  </a:tabLst>
                </a:pPr>
                <a:r>
                  <a:rPr sz="1750" spc="-10">
                    <a:latin typeface="Arial"/>
                    <a:cs typeface="Arial"/>
                  </a:rPr>
                  <a:t>For </a:t>
                </a:r>
                <a:r>
                  <a:rPr sz="2100" i="1" spc="-10" err="1">
                    <a:latin typeface="Times New Roman"/>
                    <a:cs typeface="Times New Roman"/>
                  </a:rPr>
                  <a:t>k</a:t>
                </a:r>
                <a:r>
                  <a:rPr sz="1750" spc="-10">
                    <a:latin typeface="Arial"/>
                    <a:cs typeface="Arial"/>
                  </a:rPr>
                  <a:t> steps:</a:t>
                </a:r>
                <a:endParaRPr sz="1750">
                  <a:latin typeface="Arial"/>
                  <a:cs typeface="Arial"/>
                </a:endParaRPr>
              </a:p>
              <a:p>
                <a:pPr marL="528320" marR="5080" lvl="1" indent="-221615">
                  <a:lnSpc>
                    <a:spcPct val="89300"/>
                  </a:lnSpc>
                  <a:spcBef>
                    <a:spcPts val="1845"/>
                  </a:spcBef>
                  <a:buSzPct val="122857"/>
                  <a:buChar char="-"/>
                  <a:tabLst>
                    <a:tab pos="528320" algn="l"/>
                  </a:tabLst>
                </a:pPr>
                <a:r>
                  <a:rPr sz="1750" spc="-10">
                    <a:latin typeface="Arial"/>
                    <a:cs typeface="Arial"/>
                  </a:rPr>
                  <a:t>Identify all possible pairs </a:t>
                </a:r>
                <a:r>
                  <a:rPr sz="2100" spc="175">
                    <a:latin typeface="Cambria"/>
                    <a:cs typeface="Cambria"/>
                  </a:rPr>
                  <a:t>⟨</a:t>
                </a:r>
                <a:r>
                  <a:rPr sz="2100" i="1" spc="-10" err="1">
                    <a:latin typeface="Times New Roman"/>
                    <a:cs typeface="Times New Roman"/>
                  </a:rPr>
                  <a:t>l</a:t>
                </a:r>
                <a:r>
                  <a:rPr sz="2100" spc="175">
                    <a:latin typeface="Cambria"/>
                    <a:cs typeface="Cambria"/>
                  </a:rPr>
                  <a:t>, </a:t>
                </a:r>
                <a:r>
                  <a:rPr sz="2100" i="1" spc="-10" err="1">
                    <a:latin typeface="Times New Roman"/>
                    <a:cs typeface="Times New Roman"/>
                  </a:rPr>
                  <a:t>r</a:t>
                </a:r>
                <a:r>
                  <a:rPr sz="2100" spc="175">
                    <a:latin typeface="Cambria"/>
                    <a:cs typeface="Cambria"/>
                  </a:rPr>
                  <a:t>⟩</a:t>
                </a:r>
                <a:r>
                  <a:rPr sz="1750" spc="-10">
                    <a:latin typeface="Arial"/>
                    <a:cs typeface="Arial"/>
                  </a:rPr>
                  <a:t> from the current vocabulary</a:t>
                </a:r>
                <a:endParaRPr sz="1750">
                  <a:latin typeface="Arial"/>
                  <a:cs typeface="Arial"/>
                </a:endParaRPr>
              </a:p>
              <a:p>
                <a:pPr marL="528320" marR="5080" lvl="1" indent="-221615">
                  <a:lnSpc>
                    <a:spcPct val="89300"/>
                  </a:lnSpc>
                  <a:spcBef>
                    <a:spcPts val="1845"/>
                  </a:spcBef>
                  <a:buSzPct val="122857"/>
                  <a:buChar char="-"/>
                  <a:tabLst>
                    <a:tab pos="528320" algn="l"/>
                  </a:tabLst>
                </a:pPr>
                <a:r>
                  <a:rPr sz="1750" spc="-10">
                    <a:latin typeface="Arial"/>
                    <a:cs typeface="Arial"/>
                  </a:rPr>
                  <a:t>Calculate a </a:t>
                </a:r>
                <a:r>
                  <a:rPr sz="1750" b="1" spc="-10">
                    <a:latin typeface="Arial"/>
                    <a:cs typeface="Arial"/>
                  </a:rPr>
                  <a:t>Score</a:t>
                </a:r>
                <a:r>
                  <a:rPr sz="1750" spc="-10">
                    <a:latin typeface="Arial"/>
                    <a:cs typeface="Arial"/>
                  </a:rPr>
                  <a:t> for each pair:</a:t>
                </a:r>
                <a:endParaRPr sz="1750">
                  <a:latin typeface="Arial"/>
                  <a:cs typeface="Arial"/>
                </a:endParaRPr>
              </a:p>
              <a:p>
                <a:pPr marL="760350" marR="5080" lvl="1">
                  <a:lnSpc>
                    <a:spcPct val="89300"/>
                  </a:lnSpc>
                  <a:spcBef>
                    <a:spcPts val="310"/>
                  </a:spcBef>
                  <a:buNone/>
                </a:pPr>
                <a14:m>
                  <m:oMathPara xmlns:m="http://schemas.openxmlformats.org/officeDocument/2006/math">
                    <m:oMathParaPr>
                      <m:jc m:val="left"/>
                    </m:oMathParaPr>
                    <m:oMath xmlns:m="http://schemas.openxmlformats.org/officeDocument/2006/math">
                      <m:r>
                        <m:rPr>
                          <m:sty m:val="p"/>
                        </m:rPr>
                        <a:rPr>
                          <a:latin typeface="Cambria Math" panose="02040503050406030204" pitchFamily="18" charset="0"/>
                        </a:rPr>
                        <m:t>Score</m:t>
                      </m:r>
                      <m:r>
                        <a:rPr>
                          <a:latin typeface="Cambria Math" panose="02040503050406030204" pitchFamily="18" charset="0"/>
                        </a:rPr>
                        <m:t> = </m:t>
                      </m:r>
                      <m:f>
                        <m:fPr>
                          <m:ctrlPr>
                            <a:rPr i="1">
                              <a:latin typeface="Cambria Math" panose="02040503050406030204" pitchFamily="18" charset="0"/>
                            </a:rPr>
                          </m:ctrlPr>
                        </m:fPr>
                        <m:num>
                          <m:r>
                            <m:rPr>
                              <m:sty m:val="p"/>
                            </m:rPr>
                            <a:rPr>
                              <a:latin typeface="Cambria Math" panose="02040503050406030204" pitchFamily="18" charset="0"/>
                            </a:rPr>
                            <m:t>freq</m:t>
                          </m:r>
                          <m:r>
                            <a:rPr>
                              <a:latin typeface="Cambria Math" panose="02040503050406030204" pitchFamily="18" charset="0"/>
                            </a:rPr>
                            <m:t>(</m:t>
                          </m:r>
                          <m:r>
                            <a:rPr>
                              <a:latin typeface="Cambria Math" panose="02040503050406030204" pitchFamily="18" charset="0"/>
                            </a:rPr>
                            <m:t>𝑙</m:t>
                          </m:r>
                          <m:r>
                            <a:rPr>
                              <a:latin typeface="Cambria Math" panose="02040503050406030204" pitchFamily="18" charset="0"/>
                            </a:rPr>
                            <m:t>,</m:t>
                          </m:r>
                          <m:r>
                            <a:rPr>
                              <a:latin typeface="Cambria Math" panose="02040503050406030204" pitchFamily="18" charset="0"/>
                            </a:rPr>
                            <m:t>𝑟</m:t>
                          </m:r>
                          <m:r>
                            <a:rPr>
                              <a:latin typeface="Cambria Math" panose="02040503050406030204" pitchFamily="18" charset="0"/>
                            </a:rPr>
                            <m:t>)</m:t>
                          </m:r>
                        </m:num>
                        <m:den>
                          <m:r>
                            <m:rPr>
                              <m:sty m:val="p"/>
                            </m:rPr>
                            <a:rPr>
                              <a:latin typeface="Cambria Math" panose="02040503050406030204" pitchFamily="18" charset="0"/>
                            </a:rPr>
                            <m:t>freq</m:t>
                          </m:r>
                          <m:r>
                            <a:rPr>
                              <a:latin typeface="Cambria Math" panose="02040503050406030204" pitchFamily="18" charset="0"/>
                            </a:rPr>
                            <m:t>(</m:t>
                          </m:r>
                          <m:r>
                            <a:rPr>
                              <a:latin typeface="Cambria Math" panose="02040503050406030204" pitchFamily="18" charset="0"/>
                            </a:rPr>
                            <m:t>𝑙</m:t>
                          </m:r>
                          <m:r>
                            <a:rPr>
                              <a:latin typeface="Cambria Math" panose="02040503050406030204" pitchFamily="18" charset="0"/>
                            </a:rPr>
                            <m:t>) × </m:t>
                          </m:r>
                          <m:r>
                            <m:rPr>
                              <m:sty m:val="p"/>
                            </m:rPr>
                            <a:rPr>
                              <a:latin typeface="Cambria Math" panose="02040503050406030204" pitchFamily="18" charset="0"/>
                            </a:rPr>
                            <m:t>freq</m:t>
                          </m:r>
                          <m:r>
                            <a:rPr>
                              <a:latin typeface="Cambria Math" panose="02040503050406030204" pitchFamily="18" charset="0"/>
                            </a:rPr>
                            <m:t>(</m:t>
                          </m:r>
                          <m:r>
                            <a:rPr>
                              <a:latin typeface="Cambria Math" panose="02040503050406030204" pitchFamily="18" charset="0"/>
                            </a:rPr>
                            <m:t>𝑟</m:t>
                          </m:r>
                          <m:r>
                            <a:rPr>
                              <a:latin typeface="Cambria Math" panose="02040503050406030204" pitchFamily="18" charset="0"/>
                            </a:rPr>
                            <m:t>)</m:t>
                          </m:r>
                        </m:den>
                      </m:f>
                    </m:oMath>
                  </m:oMathPara>
                </a14:m>
                <a:endParaRPr sz="1750">
                  <a:latin typeface="Arial"/>
                  <a:cs typeface="Arial"/>
                </a:endParaRPr>
              </a:p>
              <a:p>
                <a:pPr marL="528320" marR="5080" lvl="1" indent="-221615">
                  <a:lnSpc>
                    <a:spcPct val="89300"/>
                  </a:lnSpc>
                  <a:spcBef>
                    <a:spcPts val="1845"/>
                  </a:spcBef>
                  <a:buSzPct val="122857"/>
                  <a:buChar char="-"/>
                  <a:tabLst>
                    <a:tab pos="528320" algn="l"/>
                  </a:tabLst>
                </a:pPr>
                <a:r>
                  <a:rPr sz="1750" spc="-10">
                    <a:latin typeface="Arial"/>
                    <a:cs typeface="Arial"/>
                  </a:rPr>
                  <a:t>Choose the pair </a:t>
                </a:r>
                <a:r>
                  <a:rPr sz="2100" spc="175">
                    <a:latin typeface="Cambria"/>
                    <a:cs typeface="Cambria"/>
                  </a:rPr>
                  <a:t>⟨</a:t>
                </a:r>
                <a:r>
                  <a:rPr sz="2100" i="1" spc="-10" err="1">
                    <a:latin typeface="Times New Roman"/>
                    <a:cs typeface="Times New Roman"/>
                  </a:rPr>
                  <a:t>l</a:t>
                </a:r>
                <a:r>
                  <a:rPr sz="2100" spc="175">
                    <a:latin typeface="Cambria"/>
                    <a:cs typeface="Cambria"/>
                  </a:rPr>
                  <a:t>, </a:t>
                </a:r>
                <a:r>
                  <a:rPr sz="2100" i="1" spc="-10" err="1">
                    <a:latin typeface="Times New Roman"/>
                    <a:cs typeface="Times New Roman"/>
                  </a:rPr>
                  <a:t>r</a:t>
                </a:r>
                <a:r>
                  <a:rPr sz="2100" spc="175">
                    <a:latin typeface="Cambria"/>
                    <a:cs typeface="Cambria"/>
                  </a:rPr>
                  <a:t>⟩</a:t>
                </a:r>
                <a:r>
                  <a:rPr sz="1750" spc="-10">
                    <a:latin typeface="Arial"/>
                    <a:cs typeface="Arial"/>
                  </a:rPr>
                  <a:t> that maximizes this score</a:t>
                </a:r>
                <a:endParaRPr sz="1750">
                  <a:latin typeface="Arial"/>
                  <a:cs typeface="Arial"/>
                </a:endParaRPr>
              </a:p>
              <a:p>
                <a:pPr marL="528320" marR="5080" lvl="1" indent="-221615">
                  <a:lnSpc>
                    <a:spcPct val="89300"/>
                  </a:lnSpc>
                  <a:spcBef>
                    <a:spcPts val="1845"/>
                  </a:spcBef>
                  <a:buSzPct val="122857"/>
                  <a:buChar char="-"/>
                  <a:tabLst>
                    <a:tab pos="528320" algn="l"/>
                  </a:tabLst>
                </a:pPr>
                <a:r>
                  <a:rPr sz="1750" spc="-10">
                    <a:latin typeface="Arial"/>
                    <a:cs typeface="Arial"/>
                  </a:rPr>
                  <a:t>Add the pair to the vocabulary as a new token </a:t>
                </a:r>
                <a:r>
                  <a:rPr sz="2100" spc="175">
                    <a:latin typeface="Cambria"/>
                    <a:cs typeface="Cambria"/>
                  </a:rPr>
                  <a:t>𝒱 ← 𝒱 ∪ {</a:t>
                </a:r>
                <a:r>
                  <a:rPr sz="2100" i="1" spc="-10" err="1">
                    <a:latin typeface="Times New Roman"/>
                    <a:cs typeface="Times New Roman"/>
                  </a:rPr>
                  <a:t>lr</a:t>
                </a:r>
                <a:r>
                  <a:rPr sz="2100" spc="175">
                    <a:latin typeface="Cambria"/>
                    <a:cs typeface="Cambria"/>
                  </a:rPr>
                  <a:t>}</a:t>
                </a:r>
                <a:endParaRPr sz="1750">
                  <a:latin typeface="Arial"/>
                  <a:cs typeface="Arial"/>
                </a:endParaRPr>
              </a:p>
              <a:p>
                <a:pPr marL="233679" indent="-220979">
                  <a:lnSpc>
                    <a:spcPct val="100000"/>
                  </a:lnSpc>
                  <a:spcBef>
                    <a:spcPts val="1565"/>
                  </a:spcBef>
                  <a:buSzPct val="122857"/>
                  <a:buChar char="•"/>
                  <a:tabLst>
                    <a:tab pos="233679" algn="l"/>
                  </a:tabLst>
                </a:pPr>
                <a:r>
                  <a:rPr sz="1750" spc="-10">
                    <a:latin typeface="Arial"/>
                    <a:cs typeface="Arial"/>
                  </a:rPr>
                  <a:t>Return </a:t>
                </a:r>
                <a:r>
                  <a:rPr sz="2100" spc="175">
                    <a:latin typeface="Cambria"/>
                    <a:cs typeface="Cambria"/>
                  </a:rPr>
                  <a:t>𝒱</a:t>
                </a:r>
                <a:endParaRPr sz="2100">
                  <a:latin typeface="Arial"/>
                  <a:cs typeface="Arial"/>
                </a:endParaRPr>
              </a:p>
            </p:txBody>
          </p:sp>
        </mc:Choice>
        <mc:Fallback>
          <p:sp>
            <p:nvSpPr>
              <p:cNvPr id="2" name="object 2"/>
              <p:cNvSpPr txBox="1">
                <a:spLocks noRot="1" noChangeAspect="1" noMove="1" noResize="1" noEditPoints="1" noAdjustHandles="1" noChangeArrowheads="1" noChangeShapeType="1" noTextEdit="1"/>
              </p:cNvSpPr>
              <p:nvPr/>
            </p:nvSpPr>
            <p:spPr>
              <a:xfrm>
                <a:off x="566836" y="2416754"/>
                <a:ext cx="4409440" cy="4916282"/>
              </a:xfrm>
              <a:prstGeom prst="rect">
                <a:avLst/>
              </a:prstGeom>
              <a:blipFill>
                <a:blip r:embed="rId2"/>
                <a:stretch>
                  <a:fillRect l="-3320" t="-1487" r="-4011" b="-743"/>
                </a:stretch>
              </a:blipFill>
            </p:spPr>
            <p:txBody>
              <a:bodyPr/>
              <a:lstStyle/>
              <a:p>
                <a:r>
                  <a:rPr lang="en-US">
                    <a:noFill/>
                  </a:rPr>
                  <a:t> </a:t>
                </a:r>
              </a:p>
            </p:txBody>
          </p:sp>
        </mc:Fallback>
      </mc:AlternateContent>
      <p:sp>
        <p:nvSpPr>
          <p:cNvPr id="13" name="object 13"/>
          <p:cNvSpPr txBox="1"/>
          <p:nvPr/>
        </p:nvSpPr>
        <p:spPr>
          <a:xfrm>
            <a:off x="5147866" y="2602208"/>
            <a:ext cx="4700000" cy="3118226"/>
          </a:xfrm>
          <a:prstGeom prst="rect">
            <a:avLst/>
          </a:prstGeom>
        </p:spPr>
        <p:txBody>
          <a:bodyPr vert="horz" wrap="square" lIns="0" tIns="39370" rIns="0" bIns="0" rtlCol="0" anchor="t">
            <a:spAutoFit/>
          </a:bodyPr>
          <a:lstStyle/>
          <a:p>
            <a:pPr marL="12700">
              <a:lnSpc>
                <a:spcPct val="120000"/>
              </a:lnSpc>
              <a:spcBef>
                <a:spcPts val="55"/>
              </a:spcBef>
            </a:pPr>
            <a:r>
              <a:rPr sz="1650" b="1" spc="-10">
                <a:latin typeface="Arial"/>
                <a:cs typeface="Arial"/>
              </a:rPr>
              <a:t>After further merges:</a:t>
            </a:r>
          </a:p>
          <a:p>
            <a:pPr marL="12700">
              <a:lnSpc>
                <a:spcPct val="120000"/>
              </a:lnSpc>
              <a:spcBef>
                <a:spcPts val="200"/>
              </a:spcBef>
            </a:pPr>
            <a:r>
              <a:rPr sz="1500" spc="-10">
                <a:latin typeface="Arial"/>
                <a:cs typeface="Arial"/>
              </a:rPr>
              <a:t>𝒱 = {b, h, p, ##g, ##n, ##s, ##u,</a:t>
            </a:r>
          </a:p>
          <a:p>
            <a:pPr marL="12700">
              <a:lnSpc>
                <a:spcPct val="120000"/>
              </a:lnSpc>
              <a:spcBef>
                <a:spcPts val="55"/>
              </a:spcBef>
            </a:pPr>
            <a:r>
              <a:rPr lang="en-US" sz="1500" spc="-10">
                <a:latin typeface="Arial"/>
                <a:cs typeface="Arial"/>
              </a:rPr>
              <a:t>       </a:t>
            </a:r>
            <a:r>
              <a:rPr sz="1500" spc="-10">
                <a:latin typeface="Arial"/>
                <a:cs typeface="Arial"/>
              </a:rPr>
              <a:t>##gs, </a:t>
            </a:r>
            <a:r>
              <a:rPr sz="1500" spc="-10" err="1">
                <a:latin typeface="Arial"/>
                <a:cs typeface="Arial"/>
              </a:rPr>
              <a:t>pu</a:t>
            </a:r>
            <a:r>
              <a:rPr sz="1500" spc="-10">
                <a:latin typeface="Arial"/>
                <a:cs typeface="Arial"/>
              </a:rPr>
              <a:t>, hug, ##ug, pun, bun, hugs}</a:t>
            </a:r>
          </a:p>
          <a:p>
            <a:pPr marL="12700">
              <a:lnSpc>
                <a:spcPct val="120000"/>
              </a:lnSpc>
              <a:spcBef>
                <a:spcPts val="400"/>
              </a:spcBef>
            </a:pPr>
            <a:endParaRPr lang="en-US" sz="1600" b="1" spc="-10">
              <a:latin typeface="Arial"/>
              <a:cs typeface="Arial"/>
            </a:endParaRPr>
          </a:p>
          <a:p>
            <a:pPr marL="12700">
              <a:lnSpc>
                <a:spcPct val="120000"/>
              </a:lnSpc>
              <a:spcBef>
                <a:spcPts val="400"/>
              </a:spcBef>
            </a:pPr>
            <a:r>
              <a:rPr sz="1600" b="1" spc="-10">
                <a:latin typeface="Arial"/>
                <a:cs typeface="Arial"/>
              </a:rPr>
              <a:t>Final </a:t>
            </a:r>
            <a:r>
              <a:rPr sz="1600" b="1" spc="-10" err="1">
                <a:latin typeface="Arial"/>
                <a:cs typeface="Arial"/>
              </a:rPr>
              <a:t>tokenizations</a:t>
            </a:r>
            <a:r>
              <a:rPr sz="1600" b="1" spc="-10">
                <a:latin typeface="Arial"/>
                <a:cs typeface="Arial"/>
              </a:rPr>
              <a:t>:</a:t>
            </a:r>
            <a:endParaRPr/>
          </a:p>
          <a:p>
            <a:pPr marL="12700">
              <a:lnSpc>
                <a:spcPct val="120000"/>
              </a:lnSpc>
              <a:spcBef>
                <a:spcPts val="200"/>
              </a:spcBef>
            </a:pPr>
            <a:r>
              <a:rPr sz="1500" spc="-10">
                <a:latin typeface="Arial"/>
                <a:cs typeface="Arial"/>
              </a:rPr>
              <a:t>hug → [hug]</a:t>
            </a:r>
          </a:p>
          <a:p>
            <a:pPr marL="12700">
              <a:lnSpc>
                <a:spcPct val="120000"/>
              </a:lnSpc>
              <a:spcBef>
                <a:spcPts val="150"/>
              </a:spcBef>
            </a:pPr>
            <a:r>
              <a:rPr sz="1500" spc="-10">
                <a:latin typeface="Arial"/>
                <a:cs typeface="Arial"/>
              </a:rPr>
              <a:t>hugs → [</a:t>
            </a:r>
            <a:r>
              <a:rPr lang="en-US" sz="1500" spc="-10">
                <a:latin typeface="Arial"/>
                <a:cs typeface="Arial"/>
              </a:rPr>
              <a:t>hugs</a:t>
            </a:r>
            <a:r>
              <a:rPr sz="1500" spc="-10">
                <a:latin typeface="Arial"/>
                <a:cs typeface="Arial"/>
              </a:rPr>
              <a:t>]</a:t>
            </a:r>
          </a:p>
          <a:p>
            <a:pPr marL="12700">
              <a:lnSpc>
                <a:spcPct val="120000"/>
              </a:lnSpc>
              <a:spcBef>
                <a:spcPts val="150"/>
              </a:spcBef>
            </a:pPr>
            <a:r>
              <a:rPr sz="1500" spc="-10">
                <a:latin typeface="Arial"/>
                <a:cs typeface="Arial"/>
              </a:rPr>
              <a:t>pug → [</a:t>
            </a:r>
            <a:r>
              <a:rPr sz="1500" spc="-10" err="1">
                <a:latin typeface="Arial"/>
                <a:cs typeface="Arial"/>
              </a:rPr>
              <a:t>pu</a:t>
            </a:r>
            <a:r>
              <a:rPr sz="1500" spc="-10">
                <a:latin typeface="Arial"/>
                <a:cs typeface="Arial"/>
              </a:rPr>
              <a:t>, ##g]</a:t>
            </a:r>
          </a:p>
          <a:p>
            <a:pPr marL="12700">
              <a:lnSpc>
                <a:spcPct val="120000"/>
              </a:lnSpc>
              <a:spcBef>
                <a:spcPts val="150"/>
              </a:spcBef>
            </a:pPr>
            <a:r>
              <a:rPr sz="1500" spc="-10">
                <a:latin typeface="Arial"/>
                <a:cs typeface="Arial"/>
              </a:rPr>
              <a:t>pun → [pun]</a:t>
            </a:r>
          </a:p>
          <a:p>
            <a:pPr marL="12700">
              <a:lnSpc>
                <a:spcPct val="120000"/>
              </a:lnSpc>
              <a:spcBef>
                <a:spcPts val="150"/>
              </a:spcBef>
            </a:pPr>
            <a:r>
              <a:rPr sz="1500" spc="-10">
                <a:latin typeface="Arial"/>
                <a:cs typeface="Arial"/>
              </a:rPr>
              <a:t>bun → [bun]</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728195FD-7880-6D96-C045-F442A6284BFD}"/>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C9B3C8CC-A7BD-2FEB-FB04-8539858C33D0}"/>
              </a:ext>
            </a:extLst>
          </p:cNvPr>
          <p:cNvSpPr txBox="1">
            <a:spLocks noGrp="1"/>
          </p:cNvSpPr>
          <p:nvPr>
            <p:ph type="sldNum" sz="quarter" idx="7"/>
          </p:nvPr>
        </p:nvSpPr>
        <p:spPr>
          <a:prstGeom prst="rect">
            <a:avLst/>
          </a:prstGeom>
        </p:spPr>
        <p:txBody>
          <a:bodyPr vert="horz" wrap="square" lIns="0" tIns="6985" rIns="0" bIns="0" rtlCol="0">
            <a:spAutoFit/>
          </a:bodyPr>
          <a:lstStyle/>
          <a:p>
            <a:pPr marL="38100">
              <a:lnSpc>
                <a:spcPct val="100000"/>
              </a:lnSpc>
              <a:spcBef>
                <a:spcPts val="55"/>
              </a:spcBef>
            </a:pPr>
            <a:fld id="{81D60167-4931-47E6-BA6A-407CBD079E47}" type="slidenum">
              <a:rPr spc="-25" dirty="0"/>
              <a:t>32</a:t>
            </a:fld>
            <a:endParaRPr spc="-25"/>
          </a:p>
        </p:txBody>
      </p:sp>
      <p:sp>
        <p:nvSpPr>
          <p:cNvPr id="3" name="object 3" descr="$PPTXTitle">
            <a:extLst>
              <a:ext uri="{FF2B5EF4-FFF2-40B4-BE49-F238E27FC236}">
                <a16:creationId xmlns:a16="http://schemas.microsoft.com/office/drawing/2014/main" id="{8B7CE28F-90E7-10B3-FF1E-8AD2A0D9F9C5}"/>
              </a:ext>
            </a:extLst>
          </p:cNvPr>
          <p:cNvSpPr txBox="1">
            <a:spLocks noGrp="1"/>
          </p:cNvSpPr>
          <p:nvPr>
            <p:ph type="title"/>
          </p:nvPr>
        </p:nvSpPr>
        <p:spPr>
          <a:xfrm>
            <a:off x="566836" y="395062"/>
            <a:ext cx="8842375" cy="1505102"/>
          </a:xfrm>
          <a:prstGeom prst="rect">
            <a:avLst/>
          </a:prstGeom>
        </p:spPr>
        <p:txBody>
          <a:bodyPr vert="horz" wrap="square" lIns="0" tIns="88466" rIns="0" bIns="0" rtlCol="0" anchor="t">
            <a:spAutoFit/>
          </a:bodyPr>
          <a:lstStyle/>
          <a:p>
            <a:pPr marL="12700">
              <a:spcBef>
                <a:spcPts val="95"/>
              </a:spcBef>
            </a:pPr>
            <a:r>
              <a:rPr lang="en-US" spc="-125"/>
              <a:t>How </a:t>
            </a:r>
            <a:r>
              <a:rPr lang="en-US" spc="-125" err="1"/>
              <a:t>WordPiece</a:t>
            </a:r>
            <a:r>
              <a:rPr lang="en-US" spc="-125"/>
              <a:t> Handles Unseen Words</a:t>
            </a:r>
          </a:p>
        </p:txBody>
      </p:sp>
      <p:pic>
        <p:nvPicPr>
          <p:cNvPr id="6" name="Picture 5" descr="A screenshot of a computer screen&#10;&#10;AI-generated content may be incorrect.">
            <a:extLst>
              <a:ext uri="{FF2B5EF4-FFF2-40B4-BE49-F238E27FC236}">
                <a16:creationId xmlns:a16="http://schemas.microsoft.com/office/drawing/2014/main" id="{EB640578-8CCB-89CA-6FD7-C70F5D1A4C91}"/>
              </a:ext>
            </a:extLst>
          </p:cNvPr>
          <p:cNvPicPr>
            <a:picLocks noChangeAspect="1"/>
          </p:cNvPicPr>
          <p:nvPr/>
        </p:nvPicPr>
        <p:blipFill>
          <a:blip r:embed="rId2"/>
          <a:stretch>
            <a:fillRect/>
          </a:stretch>
        </p:blipFill>
        <p:spPr>
          <a:xfrm>
            <a:off x="366337" y="2070448"/>
            <a:ext cx="9231059" cy="3914134"/>
          </a:xfrm>
          <a:prstGeom prst="rect">
            <a:avLst/>
          </a:prstGeom>
        </p:spPr>
      </p:pic>
      <p:sp>
        <p:nvSpPr>
          <p:cNvPr id="8" name="object 2">
            <a:extLst>
              <a:ext uri="{FF2B5EF4-FFF2-40B4-BE49-F238E27FC236}">
                <a16:creationId xmlns:a16="http://schemas.microsoft.com/office/drawing/2014/main" id="{14325D4D-6D7F-8FCD-5862-5F9224EABF80}"/>
              </a:ext>
            </a:extLst>
          </p:cNvPr>
          <p:cNvSpPr txBox="1"/>
          <p:nvPr/>
        </p:nvSpPr>
        <p:spPr>
          <a:xfrm>
            <a:off x="371105" y="6211916"/>
            <a:ext cx="8836720" cy="693779"/>
          </a:xfrm>
          <a:prstGeom prst="rect">
            <a:avLst/>
          </a:prstGeom>
        </p:spPr>
        <p:txBody>
          <a:bodyPr vert="horz" wrap="square" lIns="0" tIns="52069" rIns="0" bIns="0" rtlCol="0" anchor="t">
            <a:spAutoFit/>
          </a:bodyPr>
          <a:lstStyle/>
          <a:p>
            <a:pPr marL="307340" marR="479425" indent="-295275">
              <a:lnSpc>
                <a:spcPts val="2510"/>
              </a:lnSpc>
              <a:spcBef>
                <a:spcPts val="409"/>
              </a:spcBef>
              <a:buSzPct val="123913"/>
              <a:buChar char="•"/>
              <a:tabLst>
                <a:tab pos="307340" algn="l"/>
              </a:tabLst>
            </a:pPr>
            <a:r>
              <a:rPr lang="en-US" sz="2300" spc="-114" err="1">
                <a:latin typeface="Arial"/>
                <a:cs typeface="Arial"/>
              </a:rPr>
              <a:t>WordPiece</a:t>
            </a:r>
            <a:r>
              <a:rPr lang="en-US" sz="2300" spc="-114">
                <a:latin typeface="Arial"/>
                <a:cs typeface="Arial"/>
              </a:rPr>
              <a:t> (as in BERT) favors linguistically meaningful splits by scoring on co-occurrence likelihood, not raw frequency.</a:t>
            </a:r>
            <a:endParaRPr lang="en-US" sz="2300" spc="-114">
              <a:solidFill>
                <a:srgbClr val="000000"/>
              </a:solidFill>
              <a:latin typeface="Arial"/>
              <a:cs typeface="Arial"/>
            </a:endParaRPr>
          </a:p>
        </p:txBody>
      </p:sp>
    </p:spTree>
    <p:extLst>
      <p:ext uri="{BB962C8B-B14F-4D97-AF65-F5344CB8AC3E}">
        <p14:creationId xmlns:p14="http://schemas.microsoft.com/office/powerpoint/2010/main" val="63631294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txBox="1">
            <a:spLocks noGrp="1"/>
          </p:cNvSpPr>
          <p:nvPr>
            <p:ph type="sldNum" sz="quarter" idx="7"/>
          </p:nvPr>
        </p:nvSpPr>
        <p:spPr>
          <a:prstGeom prst="rect">
            <a:avLst/>
          </a:prstGeom>
        </p:spPr>
        <p:txBody>
          <a:bodyPr vert="horz" wrap="square" lIns="0" tIns="6985" rIns="0" bIns="0" rtlCol="0">
            <a:spAutoFit/>
          </a:bodyPr>
          <a:lstStyle/>
          <a:p>
            <a:pPr marL="38100">
              <a:lnSpc>
                <a:spcPct val="100000"/>
              </a:lnSpc>
              <a:spcBef>
                <a:spcPts val="55"/>
              </a:spcBef>
            </a:pPr>
            <a:fld id="{81D60167-4931-47E6-BA6A-407CBD079E47}" type="slidenum">
              <a:rPr spc="-25" dirty="0"/>
              <a:t>33</a:t>
            </a:fld>
            <a:endParaRPr spc="-25"/>
          </a:p>
        </p:txBody>
      </p:sp>
      <p:sp>
        <p:nvSpPr>
          <p:cNvPr id="2" name="object 2"/>
          <p:cNvSpPr txBox="1"/>
          <p:nvPr/>
        </p:nvSpPr>
        <p:spPr>
          <a:xfrm>
            <a:off x="566836" y="1731339"/>
            <a:ext cx="8840470" cy="4043414"/>
          </a:xfrm>
          <a:prstGeom prst="rect">
            <a:avLst/>
          </a:prstGeom>
        </p:spPr>
        <p:txBody>
          <a:bodyPr vert="horz" wrap="square" lIns="0" tIns="52069" rIns="0" bIns="0" rtlCol="0" anchor="t">
            <a:spAutoFit/>
          </a:bodyPr>
          <a:lstStyle/>
          <a:p>
            <a:pPr marL="307340" marR="5080" indent="-295275">
              <a:lnSpc>
                <a:spcPts val="2510"/>
              </a:lnSpc>
              <a:spcBef>
                <a:spcPts val="409"/>
              </a:spcBef>
              <a:buSzPct val="123913"/>
              <a:buFont typeface="Arial"/>
              <a:buChar char="•"/>
              <a:tabLst>
                <a:tab pos="307340" algn="l"/>
              </a:tabLst>
            </a:pPr>
            <a:r>
              <a:rPr lang="en-US" sz="2300">
                <a:latin typeface="Arial"/>
                <a:cs typeface="Arial"/>
              </a:rPr>
              <a:t>Hugging Face: </a:t>
            </a:r>
            <a:r>
              <a:rPr lang="en-US" sz="2300">
                <a:latin typeface="Arial"/>
                <a:cs typeface="Arial"/>
                <a:hlinkClick r:id="rId2"/>
              </a:rPr>
              <a:t>https://huggingface.co/</a:t>
            </a:r>
            <a:endParaRPr lang="en-US" sz="2300" spc="-10">
              <a:latin typeface="Arial"/>
              <a:cs typeface="Arial"/>
            </a:endParaRPr>
          </a:p>
          <a:p>
            <a:pPr marL="601980" lvl="1" indent="-294640">
              <a:spcBef>
                <a:spcPts val="1639"/>
              </a:spcBef>
              <a:buFont typeface="Arial"/>
              <a:buChar char="•"/>
              <a:tabLst>
                <a:tab pos="307340" algn="l"/>
              </a:tabLst>
            </a:pPr>
            <a:r>
              <a:rPr lang="en-US" sz="2300">
                <a:latin typeface="Arial"/>
                <a:ea typeface="Calibri"/>
                <a:cs typeface="Arial"/>
              </a:rPr>
              <a:t>Documentation at </a:t>
            </a:r>
            <a:r>
              <a:rPr lang="en-US" sz="2300">
                <a:latin typeface="Arial"/>
                <a:ea typeface="Calibri"/>
                <a:cs typeface="Arial"/>
                <a:hlinkClick r:id="rId3"/>
              </a:rPr>
              <a:t>https://huggingface.co/docs</a:t>
            </a:r>
            <a:endParaRPr lang="en-US" sz="2300">
              <a:latin typeface="Arial"/>
              <a:cs typeface="Arial"/>
            </a:endParaRPr>
          </a:p>
          <a:p>
            <a:pPr marL="601980" lvl="1" indent="-294640">
              <a:spcBef>
                <a:spcPts val="1639"/>
              </a:spcBef>
              <a:buFont typeface="Arial"/>
              <a:buChar char="•"/>
              <a:tabLst>
                <a:tab pos="307340" algn="l"/>
              </a:tabLst>
            </a:pPr>
            <a:r>
              <a:rPr lang="en-US" sz="2300">
                <a:latin typeface="Arial"/>
                <a:ea typeface="Calibri"/>
                <a:cs typeface="Arial"/>
              </a:rPr>
              <a:t>Courses at https://huggingface.co/learn</a:t>
            </a:r>
          </a:p>
          <a:p>
            <a:pPr marL="469265" marR="5080" indent="-457200">
              <a:lnSpc>
                <a:spcPts val="2510"/>
              </a:lnSpc>
              <a:spcBef>
                <a:spcPts val="409"/>
              </a:spcBef>
              <a:buSzPct val="123913"/>
              <a:buFont typeface="Arial"/>
              <a:buChar char="•"/>
              <a:tabLst>
                <a:tab pos="307340" algn="l"/>
              </a:tabLst>
            </a:pPr>
            <a:endParaRPr lang="en-US" sz="2300">
              <a:latin typeface="Arial"/>
              <a:cs typeface="Arial"/>
            </a:endParaRPr>
          </a:p>
          <a:p>
            <a:pPr marL="307340" marR="5080" indent="-295275">
              <a:lnSpc>
                <a:spcPts val="2510"/>
              </a:lnSpc>
              <a:spcBef>
                <a:spcPts val="409"/>
              </a:spcBef>
              <a:buSzPct val="123913"/>
              <a:buFont typeface="Arial"/>
              <a:buChar char="•"/>
              <a:tabLst>
                <a:tab pos="307340" algn="l"/>
              </a:tabLst>
            </a:pPr>
            <a:r>
              <a:rPr lang="en-US" sz="2300">
                <a:latin typeface="Arial"/>
                <a:cs typeface="Arial"/>
              </a:rPr>
              <a:t>Language Model Tokenizer: </a:t>
            </a:r>
            <a:r>
              <a:rPr lang="en-US" sz="2300">
                <a:latin typeface="Arial"/>
                <a:cs typeface="Arial"/>
                <a:hlinkClick r:id="rId4"/>
              </a:rPr>
              <a:t>https://platform.openai.com/tokenizer</a:t>
            </a:r>
            <a:endParaRPr lang="en-US" sz="2300">
              <a:latin typeface="Arial"/>
              <a:cs typeface="Arial"/>
            </a:endParaRPr>
          </a:p>
          <a:p>
            <a:pPr marL="12065" marR="5080">
              <a:lnSpc>
                <a:spcPts val="2510"/>
              </a:lnSpc>
              <a:spcBef>
                <a:spcPts val="409"/>
              </a:spcBef>
              <a:buSzPct val="123913"/>
              <a:tabLst>
                <a:tab pos="307340" algn="l"/>
              </a:tabLst>
            </a:pPr>
            <a:endParaRPr lang="en-US" sz="2300">
              <a:latin typeface="Arial"/>
              <a:cs typeface="Arial"/>
            </a:endParaRPr>
          </a:p>
          <a:p>
            <a:pPr marL="307340" marR="5080" indent="-295275">
              <a:lnSpc>
                <a:spcPts val="2510"/>
              </a:lnSpc>
              <a:spcBef>
                <a:spcPts val="409"/>
              </a:spcBef>
              <a:buSzPct val="123913"/>
              <a:buFont typeface="Arial"/>
              <a:buChar char="•"/>
              <a:tabLst>
                <a:tab pos="307340" algn="l"/>
              </a:tabLst>
            </a:pPr>
            <a:r>
              <a:rPr lang="en-US" sz="2300">
                <a:latin typeface="Arial"/>
                <a:cs typeface="Arial"/>
              </a:rPr>
              <a:t>Tokenizer Playground: https://huggingface.co/spaces/Xenova/the-tokenizer-playground</a:t>
            </a:r>
          </a:p>
          <a:p>
            <a:pPr marL="307340" marR="5080" indent="-295275">
              <a:lnSpc>
                <a:spcPts val="2510"/>
              </a:lnSpc>
              <a:spcBef>
                <a:spcPts val="409"/>
              </a:spcBef>
              <a:buSzPct val="123913"/>
              <a:buFont typeface="Arial"/>
              <a:buChar char="•"/>
              <a:tabLst>
                <a:tab pos="307340" algn="l"/>
              </a:tabLst>
            </a:pPr>
            <a:endParaRPr lang="en-US" sz="2300"/>
          </a:p>
          <a:p>
            <a:pPr marL="307340" marR="5080" indent="-295275">
              <a:lnSpc>
                <a:spcPts val="2510"/>
              </a:lnSpc>
              <a:spcBef>
                <a:spcPts val="409"/>
              </a:spcBef>
              <a:buSzPct val="123913"/>
              <a:buFont typeface="Arial"/>
              <a:buChar char="•"/>
              <a:tabLst>
                <a:tab pos="307340" algn="l"/>
              </a:tabLst>
            </a:pPr>
            <a:endParaRPr lang="en-US" sz="2300"/>
          </a:p>
        </p:txBody>
      </p:sp>
      <p:sp>
        <p:nvSpPr>
          <p:cNvPr id="3" name="object 3" descr="$PPTXTitle"/>
          <p:cNvSpPr txBox="1">
            <a:spLocks noGrp="1"/>
          </p:cNvSpPr>
          <p:nvPr>
            <p:ph type="title"/>
          </p:nvPr>
        </p:nvSpPr>
        <p:spPr>
          <a:xfrm>
            <a:off x="566836" y="395062"/>
            <a:ext cx="8842375" cy="797216"/>
          </a:xfrm>
          <a:prstGeom prst="rect">
            <a:avLst/>
          </a:prstGeom>
        </p:spPr>
        <p:txBody>
          <a:bodyPr vert="horz" wrap="square" lIns="0" tIns="88466" rIns="0" bIns="0" rtlCol="0" anchor="t">
            <a:spAutoFit/>
          </a:bodyPr>
          <a:lstStyle/>
          <a:p>
            <a:pPr marL="12700">
              <a:lnSpc>
                <a:spcPct val="100000"/>
              </a:lnSpc>
              <a:spcBef>
                <a:spcPts val="95"/>
              </a:spcBef>
            </a:pPr>
            <a:r>
              <a:rPr lang="en-US" spc="-90"/>
              <a:t>Resources</a:t>
            </a:r>
            <a:endParaRPr spc="-9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00"/>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Application>Microsoft Office PowerPoint</Application>
  <PresentationFormat>Custom</PresentationFormat>
  <Slides>33</Slides>
  <Notes>0</Notes>
  <HiddenSlides>0</HiddenSlides>
  <ScaleCrop>false</ScaleCrop>
  <HeadingPairs>
    <vt:vector size="4" baseType="variant">
      <vt:variant>
        <vt:lpstr>Theme</vt:lpstr>
      </vt:variant>
      <vt:variant>
        <vt:i4>1</vt:i4>
      </vt:variant>
      <vt:variant>
        <vt:lpstr>Slide Titles</vt:lpstr>
      </vt:variant>
      <vt:variant>
        <vt:i4>33</vt:i4>
      </vt:variant>
    </vt:vector>
  </HeadingPairs>
  <TitlesOfParts>
    <vt:vector size="34" baseType="lpstr">
      <vt:lpstr>Office Theme</vt:lpstr>
      <vt:lpstr>Tokenization</vt:lpstr>
      <vt:lpstr>Tokenization: From Words to Context</vt:lpstr>
      <vt:lpstr>What does a Tokenizer do?</vt:lpstr>
      <vt:lpstr>From Raw Text to Discrete Units</vt:lpstr>
      <vt:lpstr>Same String, Different Splits</vt:lpstr>
      <vt:lpstr>When Splitting Rules Change Meaning</vt:lpstr>
      <vt:lpstr>Tokenization: different methods</vt:lpstr>
      <vt:lpstr>Word-level Tokenization</vt:lpstr>
      <vt:lpstr>Word-level Tokenization Handling Unknown Words</vt:lpstr>
      <vt:lpstr>Word-level Tokenization Limitations of &lt;UNK&gt;</vt:lpstr>
      <vt:lpstr>Character-level Tokenization</vt:lpstr>
      <vt:lpstr>Subword Tokenization</vt:lpstr>
      <vt:lpstr>Byte Pair Encoding (BPE)</vt:lpstr>
      <vt:lpstr>Byte Pair Encoding (BPE)</vt:lpstr>
      <vt:lpstr>Byte Pair Encoding (BPE)</vt:lpstr>
      <vt:lpstr>Byte Pair Encoding (BPE)</vt:lpstr>
      <vt:lpstr>Byte Pair Encoding (BPE)</vt:lpstr>
      <vt:lpstr>Byte Pair Encoding (BPE)</vt:lpstr>
      <vt:lpstr>Byte Pair Encoding (BPE)</vt:lpstr>
      <vt:lpstr>Byte Pair Encoding (BPE)</vt:lpstr>
      <vt:lpstr>Byte Pair Encoding (BPE)</vt:lpstr>
      <vt:lpstr>Cross-Lingual Token Reuse: Language Agnostic BPE</vt:lpstr>
      <vt:lpstr>How BPE Handles Unseen Words </vt:lpstr>
      <vt:lpstr>BPE in Practice: Bytes, Vocabulary &amp; Tooling</vt:lpstr>
      <vt:lpstr>Wordpiece</vt:lpstr>
      <vt:lpstr>Wordpiece</vt:lpstr>
      <vt:lpstr>Wordpiece</vt:lpstr>
      <vt:lpstr>Wordpiece</vt:lpstr>
      <vt:lpstr>Wordpiece</vt:lpstr>
      <vt:lpstr>Wordpiece</vt:lpstr>
      <vt:lpstr>Wordpiece</vt:lpstr>
      <vt:lpstr>How WordPiece Handles Unseen Words</vt:lpstr>
      <vt:lpstr>Resources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06 - tokenization.key</dc:title>
  <dc:creator>Yoav Artzi</dc:creator>
  <cp:revision>1</cp:revision>
  <dcterms:created xsi:type="dcterms:W3CDTF">2026-03-21T19:31:15Z</dcterms:created>
  <dcterms:modified xsi:type="dcterms:W3CDTF">2026-04-24T04:25:13Z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2024-02-21T00:00:00Z</vt:filetime>
  </property>
  <property fmtid="{D5CDD505-2E9C-101B-9397-08002B2CF9AE}" pid="3" name="Creator">
    <vt:lpwstr>Keynote</vt:lpwstr>
  </property>
  <property fmtid="{D5CDD505-2E9C-101B-9397-08002B2CF9AE}" pid="4" name="LastSaved">
    <vt:filetime>2026-03-21T00:00:00Z</vt:filetime>
  </property>
  <property fmtid="{D5CDD505-2E9C-101B-9397-08002B2CF9AE}" pid="5" name="Producer">
    <vt:lpwstr>macOS Version 14.2.1 (Build 23C71) Quartz PDFContext</vt:lpwstr>
  </property>
</Properties>
</file>